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</p:sldIdLst>
  <p:sldSz cy="5143500" cx="9144000"/>
  <p:notesSz cx="6858000" cy="9144000"/>
  <p:embeddedFontLst>
    <p:embeddedFont>
      <p:font typeface="Raleway"/>
      <p:regular r:id="rId81"/>
      <p:bold r:id="rId82"/>
      <p:italic r:id="rId83"/>
      <p:boldItalic r:id="rId84"/>
    </p:embeddedFont>
    <p:embeddedFont>
      <p:font typeface="Roboto"/>
      <p:regular r:id="rId85"/>
      <p:bold r:id="rId86"/>
      <p:italic r:id="rId87"/>
      <p:boldItalic r:id="rId88"/>
    </p:embeddedFont>
    <p:embeddedFont>
      <p:font typeface="Nunito"/>
      <p:regular r:id="rId89"/>
      <p:bold r:id="rId90"/>
      <p:italic r:id="rId91"/>
      <p:boldItalic r:id="rId92"/>
    </p:embeddedFont>
    <p:embeddedFont>
      <p:font typeface="Montserrat"/>
      <p:regular r:id="rId93"/>
      <p:bold r:id="rId94"/>
      <p:italic r:id="rId95"/>
      <p:boldItalic r:id="rId96"/>
    </p:embeddedFont>
    <p:embeddedFont>
      <p:font typeface="Mitr"/>
      <p:regular r:id="rId97"/>
      <p:bold r:id="rId98"/>
    </p:embeddedFont>
    <p:embeddedFont>
      <p:font typeface="Comfortaa"/>
      <p:regular r:id="rId99"/>
      <p:bold r:id="rId10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BF32E3-6CDF-49D3-BDE4-9C85959DC97B}">
  <a:tblStyle styleId="{FABF32E3-6CDF-49D3-BDE4-9C85959DC97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51413A6-036B-41BD-AB29-FD58DBD6E2E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0" Type="http://schemas.openxmlformats.org/officeDocument/2006/relationships/font" Target="fonts/Comfortaa-bold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Montserrat-italic.fntdata"/><Relationship Id="rId94" Type="http://schemas.openxmlformats.org/officeDocument/2006/relationships/font" Target="fonts/Montserrat-bold.fntdata"/><Relationship Id="rId97" Type="http://schemas.openxmlformats.org/officeDocument/2006/relationships/font" Target="fonts/Mitr-regular.fntdata"/><Relationship Id="rId96" Type="http://schemas.openxmlformats.org/officeDocument/2006/relationships/font" Target="fonts/Montserrat-boldItalic.fntdata"/><Relationship Id="rId11" Type="http://schemas.openxmlformats.org/officeDocument/2006/relationships/slide" Target="slides/slide4.xml"/><Relationship Id="rId99" Type="http://schemas.openxmlformats.org/officeDocument/2006/relationships/font" Target="fonts/Comfortaa-regular.fntdata"/><Relationship Id="rId10" Type="http://schemas.openxmlformats.org/officeDocument/2006/relationships/slide" Target="slides/slide3.xml"/><Relationship Id="rId98" Type="http://schemas.openxmlformats.org/officeDocument/2006/relationships/font" Target="fonts/Mitr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font" Target="fonts/Nunito-italic.fntdata"/><Relationship Id="rId90" Type="http://schemas.openxmlformats.org/officeDocument/2006/relationships/font" Target="fonts/Nunito-bold.fntdata"/><Relationship Id="rId93" Type="http://schemas.openxmlformats.org/officeDocument/2006/relationships/font" Target="fonts/Montserrat-regular.fntdata"/><Relationship Id="rId92" Type="http://schemas.openxmlformats.org/officeDocument/2006/relationships/font" Target="fonts/Nunito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font" Target="fonts/Raleway-boldItalic.fntdata"/><Relationship Id="rId83" Type="http://schemas.openxmlformats.org/officeDocument/2006/relationships/font" Target="fonts/Raleway-italic.fntdata"/><Relationship Id="rId86" Type="http://schemas.openxmlformats.org/officeDocument/2006/relationships/font" Target="fonts/Roboto-bold.fntdata"/><Relationship Id="rId85" Type="http://schemas.openxmlformats.org/officeDocument/2006/relationships/font" Target="fonts/Roboto-regular.fntdata"/><Relationship Id="rId88" Type="http://schemas.openxmlformats.org/officeDocument/2006/relationships/font" Target="fonts/Roboto-boldItalic.fntdata"/><Relationship Id="rId87" Type="http://schemas.openxmlformats.org/officeDocument/2006/relationships/font" Target="fonts/Roboto-italic.fntdata"/><Relationship Id="rId89" Type="http://schemas.openxmlformats.org/officeDocument/2006/relationships/font" Target="fonts/Nunito-regular.fntdata"/><Relationship Id="rId80" Type="http://schemas.openxmlformats.org/officeDocument/2006/relationships/slide" Target="slides/slide73.xml"/><Relationship Id="rId82" Type="http://schemas.openxmlformats.org/officeDocument/2006/relationships/font" Target="fonts/Raleway-bold.fntdata"/><Relationship Id="rId81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0899b462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07" name="Google Shape;107;g10899b4620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29ef6a34f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229ef6a34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229ef6a34f4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0899b4620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37" name="Google Shape;137;g10899b4620c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0899b4620c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/>
          </a:p>
        </p:txBody>
      </p:sp>
      <p:sp>
        <p:nvSpPr>
          <p:cNvPr id="162" name="Google Shape;162;g10899b4620c_0_385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0899b462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10899b4624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0899b46245_6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/>
          </a:p>
        </p:txBody>
      </p:sp>
      <p:sp>
        <p:nvSpPr>
          <p:cNvPr id="185" name="Google Shape;185;g10899b46245_6_82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a10db58fe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96" name="Google Shape;196;g30a10db58fe_0_4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a10db58fe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0a10db58fe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0a10db58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26" name="Google Shape;226;g30a10db58fe_0_0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0a10db58fe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33" name="Google Shape;233;g30a10db58fe_0_217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0a10db58fe_0_3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0a10db58fe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0a10db58fe_0_3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0899b46245_6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/>
          </a:p>
        </p:txBody>
      </p:sp>
      <p:sp>
        <p:nvSpPr>
          <p:cNvPr id="251" name="Google Shape;251;g10899b46245_6_101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94b4b1804_0_1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1094b4b1804_0_1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305dc7c2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305dc7c2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094b4b1804_0_2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1094b4b1804_0_2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094b4b1804_0_13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1094b4b1804_0_13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094b4b1804_0_4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1094b4b1804_0_4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6c4fca97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6c4fca97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6c4fca97d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6c4fca97d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6c4fca97d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6c4fca97d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6c4fca97d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6c4fca97d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6c4fca97d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6c4fca97d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6c4fca97d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6c4fca97d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6c4fca97d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6c4fca97d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feda04d1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feda04d1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0a10db58fe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/>
          </a:p>
        </p:txBody>
      </p:sp>
      <p:sp>
        <p:nvSpPr>
          <p:cNvPr id="379" name="Google Shape;379;g30a10db58fe_0_369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0a10db58fe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0a10db58fe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0899b46245_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/>
          </a:p>
        </p:txBody>
      </p:sp>
      <p:sp>
        <p:nvSpPr>
          <p:cNvPr id="397" name="Google Shape;397;g10899b46245_5_2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1f4f26cfc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08" name="Google Shape;408;g11f4f26cfc5_0_2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0899b46245_5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16" name="Google Shape;416;g10899b46245_5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899b46245_5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29" name="Google Shape;429;g10899b46245_5_18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0899b46245_6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41" name="Google Shape;441;g10899b46245_6_27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0899b46245_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52" name="Google Shape;452;g10899b46245_6_12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0899b46245_6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66" name="Google Shape;466;g10899b46245_6_46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0899b46245_6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00" name="Google Shape;500;g10899b46245_6_61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0899b46245_6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/>
          </a:p>
        </p:txBody>
      </p:sp>
      <p:sp>
        <p:nvSpPr>
          <p:cNvPr id="521" name="Google Shape;521;g10899b46245_6_112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08007ea66e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32" name="Google Shape;532;g108007ea66e_1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08007ea66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42" name="Google Shape;542;g108007ea66e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a42ed266a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52" name="Google Shape;552;g2a42ed266aa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08007ea66e_1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62" name="Google Shape;562;g108007ea66e_1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08007ea66e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74" name="Google Shape;574;g108007ea66e_1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081444841d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85" name="Google Shape;585;g1081444841d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081444841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97" name="Google Shape;597;g1081444841d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081444841d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15" name="Google Shape;615;g1081444841d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081444841d_1_3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1081444841d_1_3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10899b4620c_0_43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10899b4620c_0_43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0899b4620c_0_26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10899b4620c_0_26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1098d03ebd4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49" name="Google Shape;649;g1098d03ebd4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1098d03ebd4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/>
          </a:p>
        </p:txBody>
      </p:sp>
      <p:sp>
        <p:nvSpPr>
          <p:cNvPr id="659" name="Google Shape;659;g1098d03ebd4_1_39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1098d03ebd4_1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g1098d03ebd4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1098d03ebd4_1_1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1098d03ebd4_1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87" name="Google Shape;687;g1098d03ebd4_1_373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1098d03ebd4_1_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g1098d03ebd4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1098d03ebd4_1_1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1098d03ebd4_1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1098d03ebd4_1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1098d03ebd4_1_2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098d03ebd4_1_2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g1098d03ebd4_1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1098d03ebd4_1_2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1098d03ebd4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31" name="Google Shape;731;g1098d03ebd4_1_141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098d03ebd4_1_2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g1098d03ebd4_1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1098d03ebd4_1_2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4873259e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g14873259e6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14873259e6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g14873259e6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14873259e66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g14873259e6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g14873259e66_0_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14873259e6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g14873259e6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14873259e6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g14873259e66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14873259e6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g14873259e66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0a10db58f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/>
          </a:p>
        </p:txBody>
      </p:sp>
      <p:sp>
        <p:nvSpPr>
          <p:cNvPr id="796" name="Google Shape;796;g30a10db58fe_0_17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0a10db58f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07" name="Google Shape;807;g30a10db58fe_0_67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0a10db58f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19" name="Google Shape;819;g30a10db58fe_0_78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0a10db58f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32" name="Google Shape;832;g30a10db58fe_0_90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0a10db58f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40" name="Google Shape;840;g30a10db58fe_0_97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0a10db58f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52" name="Google Shape;852;g30a10db58fe_0_108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0a10db58f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0a10db58f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0a10db58f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67" name="Google Shape;867;g30a10db58fe_0_121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0a10db58f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79" name="Google Shape;879;g30a10db58fe_0_132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0a10db58fe_0_13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g30a10db58fe_0_13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0a10db58fe_0_14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g30a10db58fe_0_14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65650" y="1465675"/>
            <a:ext cx="3789300" cy="27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108960" y="4783455"/>
            <a:ext cx="2926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7998" y="605621"/>
            <a:ext cx="8127900" cy="1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4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ontserrat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2" name="Google Shape;102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6457950" y="4767263"/>
            <a:ext cx="205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4800" u="none" cap="none" strike="noStrike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7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14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jpg"/><Relationship Id="rId4" Type="http://schemas.openxmlformats.org/officeDocument/2006/relationships/hyperlink" Target="https://www.linkedin.com/in/arif-romadhan19/" TargetMode="External"/><Relationship Id="rId9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hyperlink" Target="https://drive.google.com/file/d/1RfhNUOXjuIm3-Cjs5l5EjQtmKJM-O8SE/view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38.png"/><Relationship Id="rId5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5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6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52.png"/><Relationship Id="rId5" Type="http://schemas.openxmlformats.org/officeDocument/2006/relationships/hyperlink" Target="https://medium.datadriveninvestor.com/the-basics-of-decision-trees-e5837cc2aba7" TargetMode="External"/><Relationship Id="rId6" Type="http://schemas.openxmlformats.org/officeDocument/2006/relationships/hyperlink" Target="https://medium.com/analytics-vidhya/classification-in-decision-tree-a-step-by-step-cart-classification-and-regression-tree-8e5f5228b11e" TargetMode="External"/><Relationship Id="rId7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45.png"/><Relationship Id="rId5" Type="http://schemas.openxmlformats.org/officeDocument/2006/relationships/image" Target="../media/image4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image" Target="../media/image47.png"/><Relationship Id="rId6" Type="http://schemas.openxmlformats.org/officeDocument/2006/relationships/image" Target="../media/image50.png"/><Relationship Id="rId7" Type="http://schemas.openxmlformats.org/officeDocument/2006/relationships/image" Target="../media/image62.png"/><Relationship Id="rId8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Relationship Id="rId4" Type="http://schemas.openxmlformats.org/officeDocument/2006/relationships/image" Target="../media/image5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Relationship Id="rId4" Type="http://schemas.openxmlformats.org/officeDocument/2006/relationships/image" Target="../media/image53.png"/><Relationship Id="rId5" Type="http://schemas.openxmlformats.org/officeDocument/2006/relationships/image" Target="../media/image5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Relationship Id="rId4" Type="http://schemas.openxmlformats.org/officeDocument/2006/relationships/image" Target="../media/image51.png"/><Relationship Id="rId5" Type="http://schemas.openxmlformats.org/officeDocument/2006/relationships/image" Target="../media/image6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Relationship Id="rId4" Type="http://schemas.openxmlformats.org/officeDocument/2006/relationships/image" Target="../media/image5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8.png"/><Relationship Id="rId4" Type="http://schemas.openxmlformats.org/officeDocument/2006/relationships/image" Target="../media/image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6.png"/><Relationship Id="rId4" Type="http://schemas.openxmlformats.org/officeDocument/2006/relationships/image" Target="../media/image73.png"/><Relationship Id="rId5" Type="http://schemas.openxmlformats.org/officeDocument/2006/relationships/image" Target="../media/image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1.png"/><Relationship Id="rId4" Type="http://schemas.openxmlformats.org/officeDocument/2006/relationships/image" Target="../media/image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5.png"/><Relationship Id="rId4" Type="http://schemas.openxmlformats.org/officeDocument/2006/relationships/image" Target="../media/image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png"/><Relationship Id="rId4" Type="http://schemas.openxmlformats.org/officeDocument/2006/relationships/image" Target="../media/image58.png"/><Relationship Id="rId5" Type="http://schemas.openxmlformats.org/officeDocument/2006/relationships/hyperlink" Target="https://medium.com/analytics-vidhya/classification-in-decision-tree-a-step-by-step-cart-classification-and-regression-tree-8e5f5228b11e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6.png"/><Relationship Id="rId4" Type="http://schemas.openxmlformats.org/officeDocument/2006/relationships/image" Target="../media/image73.png"/><Relationship Id="rId5" Type="http://schemas.openxmlformats.org/officeDocument/2006/relationships/image" Target="../media/image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4.png"/><Relationship Id="rId4" Type="http://schemas.openxmlformats.org/officeDocument/2006/relationships/image" Target="../media/image6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5.png"/><Relationship Id="rId4" Type="http://schemas.openxmlformats.org/officeDocument/2006/relationships/image" Target="../media/image7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png"/><Relationship Id="rId4" Type="http://schemas.openxmlformats.org/officeDocument/2006/relationships/image" Target="../media/image6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png"/><Relationship Id="rId4" Type="http://schemas.openxmlformats.org/officeDocument/2006/relationships/image" Target="../media/image76.png"/><Relationship Id="rId5" Type="http://schemas.openxmlformats.org/officeDocument/2006/relationships/image" Target="../media/image7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png"/><Relationship Id="rId4" Type="http://schemas.openxmlformats.org/officeDocument/2006/relationships/image" Target="../media/image7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png"/><Relationship Id="rId4" Type="http://schemas.openxmlformats.org/officeDocument/2006/relationships/image" Target="../media/image69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png"/><Relationship Id="rId4" Type="http://schemas.openxmlformats.org/officeDocument/2006/relationships/image" Target="../media/image7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86.png"/><Relationship Id="rId4" Type="http://schemas.openxmlformats.org/officeDocument/2006/relationships/image" Target="../media/image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png"/><Relationship Id="rId4" Type="http://schemas.openxmlformats.org/officeDocument/2006/relationships/image" Target="../media/image69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.png"/><Relationship Id="rId4" Type="http://schemas.openxmlformats.org/officeDocument/2006/relationships/image" Target="../media/image80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.png"/><Relationship Id="rId4" Type="http://schemas.openxmlformats.org/officeDocument/2006/relationships/image" Target="../media/image81.png"/><Relationship Id="rId5" Type="http://schemas.openxmlformats.org/officeDocument/2006/relationships/image" Target="../media/image8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23"/>
          <p:cNvGrpSpPr/>
          <p:nvPr/>
        </p:nvGrpSpPr>
        <p:grpSpPr>
          <a:xfrm>
            <a:off x="0" y="0"/>
            <a:ext cx="3867150" cy="5143500"/>
            <a:chOff x="0" y="0"/>
            <a:chExt cx="7734300" cy="10287000"/>
          </a:xfrm>
        </p:grpSpPr>
        <p:sp>
          <p:nvSpPr>
            <p:cNvPr id="110" name="Google Shape;110;p23"/>
            <p:cNvSpPr/>
            <p:nvPr/>
          </p:nvSpPr>
          <p:spPr>
            <a:xfrm>
              <a:off x="0" y="0"/>
              <a:ext cx="7734300" cy="10287000"/>
            </a:xfrm>
            <a:custGeom>
              <a:rect b="b" l="l" r="r" t="t"/>
              <a:pathLst>
                <a:path extrusionOk="0" h="10287000" w="773430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3"/>
            <p:cNvSpPr/>
            <p:nvPr/>
          </p:nvSpPr>
          <p:spPr>
            <a:xfrm>
              <a:off x="0" y="360200"/>
              <a:ext cx="7734300" cy="9918700"/>
            </a:xfrm>
            <a:custGeom>
              <a:rect b="b" l="l" r="r" t="t"/>
              <a:pathLst>
                <a:path extrusionOk="0" h="9918700" w="773430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3"/>
            <p:cNvSpPr/>
            <p:nvPr/>
          </p:nvSpPr>
          <p:spPr>
            <a:xfrm>
              <a:off x="1181100" y="3733799"/>
              <a:ext cx="6553200" cy="6553200"/>
            </a:xfrm>
            <a:custGeom>
              <a:rect b="b" l="l" r="r" t="t"/>
              <a:pathLst>
                <a:path extrusionOk="0" h="6553200" w="655320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3"/>
          <p:cNvSpPr txBox="1"/>
          <p:nvPr>
            <p:ph type="title"/>
          </p:nvPr>
        </p:nvSpPr>
        <p:spPr>
          <a:xfrm>
            <a:off x="4565650" y="798925"/>
            <a:ext cx="36435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4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4" name="Google Shape;114;p23"/>
          <p:cNvSpPr/>
          <p:nvPr/>
        </p:nvSpPr>
        <p:spPr>
          <a:xfrm>
            <a:off x="8209056" y="54566"/>
            <a:ext cx="843000" cy="81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-827775" y="608450"/>
            <a:ext cx="407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" name="Google Shape;116;p23"/>
          <p:cNvSpPr txBox="1"/>
          <p:nvPr/>
        </p:nvSpPr>
        <p:spPr>
          <a:xfrm>
            <a:off x="4222725" y="658950"/>
            <a:ext cx="4829400" cy="3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50">
            <a:spAutoFit/>
          </a:bodyPr>
          <a:lstStyle/>
          <a:p>
            <a:pPr indent="0" lvl="0" marL="1270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Bootcamp</a:t>
            </a:r>
            <a:endParaRPr b="1" sz="4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Dibimbing.id</a:t>
            </a:r>
            <a:endParaRPr b="1" sz="4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55880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5880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Exploring ML Models </a:t>
            </a:r>
            <a:r>
              <a:rPr lang="en" sz="28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Advanced </a:t>
            </a:r>
            <a:r>
              <a:rPr lang="en" sz="28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 Techniques</a:t>
            </a:r>
            <a:endParaRPr b="1" sz="28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/>
          <p:cNvPicPr preferRelativeResize="0"/>
          <p:nvPr/>
        </p:nvPicPr>
        <p:blipFill rotWithShape="1">
          <a:blip r:embed="rId3">
            <a:alphaModFix/>
          </a:blip>
          <a:srcRect b="0" l="14887" r="14887" t="0"/>
          <a:stretch/>
        </p:blipFill>
        <p:spPr>
          <a:xfrm>
            <a:off x="951413" y="1375896"/>
            <a:ext cx="1443000" cy="1541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3" name="Google Shape;123;p24"/>
          <p:cNvSpPr/>
          <p:nvPr/>
        </p:nvSpPr>
        <p:spPr>
          <a:xfrm>
            <a:off x="875227" y="3200400"/>
            <a:ext cx="183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Arif Romadhan</a:t>
            </a:r>
            <a:endParaRPr b="1" i="0" sz="14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4"/>
          <p:cNvSpPr/>
          <p:nvPr/>
        </p:nvSpPr>
        <p:spPr>
          <a:xfrm>
            <a:off x="120950" y="4155275"/>
            <a:ext cx="40362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Linkedin	: </a:t>
            </a: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https://www.linkedin.com/in/arif-romadhan19/</a:t>
            </a:r>
            <a:endParaRPr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4"/>
          <p:cNvSpPr/>
          <p:nvPr/>
        </p:nvSpPr>
        <p:spPr>
          <a:xfrm>
            <a:off x="5353125" y="154650"/>
            <a:ext cx="3700500" cy="4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400">
                <a:latin typeface="Montserrat"/>
                <a:ea typeface="Montserrat"/>
                <a:cs typeface="Montserrat"/>
                <a:sym typeface="Montserrat"/>
              </a:rPr>
              <a:t>PT Cakra Syntesis Indonesia 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Android Developer 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(201</a:t>
            </a: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Nawatech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Jr. ML Engineer (2017)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Bukalapak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(2018 - 2020)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Instructor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(Sept 2020 - Nov2020)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Instructor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(2021 - 2021)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Evermos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Sr. </a:t>
            </a:r>
            <a:r>
              <a:rPr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- Data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Lead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(2021 - present)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Instructor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(2021- present)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 rotWithShape="1">
          <a:blip r:embed="rId5">
            <a:alphaModFix/>
          </a:blip>
          <a:srcRect b="12244" l="0" r="0" t="14079"/>
          <a:stretch/>
        </p:blipFill>
        <p:spPr>
          <a:xfrm>
            <a:off x="4671213" y="1619713"/>
            <a:ext cx="689694" cy="5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37525" y="1095725"/>
            <a:ext cx="1443000" cy="384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1213" y="308525"/>
            <a:ext cx="689700" cy="68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92738" y="3613800"/>
            <a:ext cx="559802" cy="55980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01262" y="2228888"/>
            <a:ext cx="829615" cy="50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76663" y="4366599"/>
            <a:ext cx="991964" cy="3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/>
          <p:nvPr/>
        </p:nvSpPr>
        <p:spPr>
          <a:xfrm>
            <a:off x="323850" y="381000"/>
            <a:ext cx="35742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EF8A33"/>
                </a:solidFill>
                <a:latin typeface="Montserrat"/>
                <a:ea typeface="Montserrat"/>
                <a:cs typeface="Montserrat"/>
                <a:sym typeface="Montserrat"/>
              </a:rPr>
              <a:t>Trainer Bio</a:t>
            </a:r>
            <a:endParaRPr b="1" sz="3600">
              <a:solidFill>
                <a:srgbClr val="EF8A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91825" y="2838075"/>
            <a:ext cx="1288704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/>
          <p:nvPr/>
        </p:nvSpPr>
        <p:spPr>
          <a:xfrm>
            <a:off x="5352975" y="0"/>
            <a:ext cx="3805633" cy="5143500"/>
          </a:xfrm>
          <a:custGeom>
            <a:rect b="b" l="l" r="r" t="t"/>
            <a:pathLst>
              <a:path extrusionOk="0" h="10287000" w="8902065">
                <a:moveTo>
                  <a:pt x="8901532" y="10287000"/>
                </a:moveTo>
                <a:lnTo>
                  <a:pt x="2473700" y="10287000"/>
                </a:lnTo>
                <a:lnTo>
                  <a:pt x="2449070" y="10267288"/>
                </a:lnTo>
                <a:lnTo>
                  <a:pt x="2407286" y="10233286"/>
                </a:lnTo>
                <a:lnTo>
                  <a:pt x="2365780" y="10198934"/>
                </a:lnTo>
                <a:lnTo>
                  <a:pt x="2324562" y="10164248"/>
                </a:lnTo>
                <a:lnTo>
                  <a:pt x="2283633" y="10129231"/>
                </a:lnTo>
                <a:lnTo>
                  <a:pt x="2242992" y="10093881"/>
                </a:lnTo>
                <a:lnTo>
                  <a:pt x="2202639" y="10058202"/>
                </a:lnTo>
                <a:lnTo>
                  <a:pt x="2162574" y="10022192"/>
                </a:lnTo>
                <a:lnTo>
                  <a:pt x="2122804" y="9985846"/>
                </a:lnTo>
                <a:lnTo>
                  <a:pt x="2083338" y="9949184"/>
                </a:lnTo>
                <a:lnTo>
                  <a:pt x="2044176" y="9912203"/>
                </a:lnTo>
                <a:lnTo>
                  <a:pt x="2005318" y="9874905"/>
                </a:lnTo>
                <a:lnTo>
                  <a:pt x="1966764" y="9837288"/>
                </a:lnTo>
                <a:lnTo>
                  <a:pt x="1928513" y="9799351"/>
                </a:lnTo>
                <a:lnTo>
                  <a:pt x="1890574" y="9761100"/>
                </a:lnTo>
                <a:lnTo>
                  <a:pt x="1852955" y="9722544"/>
                </a:lnTo>
                <a:lnTo>
                  <a:pt x="1815654" y="9683683"/>
                </a:lnTo>
                <a:lnTo>
                  <a:pt x="1778673" y="9644520"/>
                </a:lnTo>
                <a:lnTo>
                  <a:pt x="1742012" y="9605055"/>
                </a:lnTo>
                <a:lnTo>
                  <a:pt x="1705670" y="9565290"/>
                </a:lnTo>
                <a:lnTo>
                  <a:pt x="1669654" y="9525220"/>
                </a:lnTo>
                <a:lnTo>
                  <a:pt x="1633972" y="9484863"/>
                </a:lnTo>
                <a:lnTo>
                  <a:pt x="1598624" y="9444220"/>
                </a:lnTo>
                <a:lnTo>
                  <a:pt x="1563609" y="9403290"/>
                </a:lnTo>
                <a:lnTo>
                  <a:pt x="1528928" y="9362071"/>
                </a:lnTo>
                <a:lnTo>
                  <a:pt x="1494580" y="9320563"/>
                </a:lnTo>
                <a:lnTo>
                  <a:pt x="1460573" y="9278785"/>
                </a:lnTo>
                <a:lnTo>
                  <a:pt x="1426914" y="9236733"/>
                </a:lnTo>
                <a:lnTo>
                  <a:pt x="1393602" y="9194406"/>
                </a:lnTo>
                <a:lnTo>
                  <a:pt x="1360638" y="9151808"/>
                </a:lnTo>
                <a:lnTo>
                  <a:pt x="1328021" y="9108939"/>
                </a:lnTo>
                <a:lnTo>
                  <a:pt x="1295751" y="9065801"/>
                </a:lnTo>
                <a:lnTo>
                  <a:pt x="1263835" y="9022399"/>
                </a:lnTo>
                <a:lnTo>
                  <a:pt x="1232280" y="8978741"/>
                </a:lnTo>
                <a:lnTo>
                  <a:pt x="1201086" y="8934828"/>
                </a:lnTo>
                <a:lnTo>
                  <a:pt x="1170252" y="8890663"/>
                </a:lnTo>
                <a:lnTo>
                  <a:pt x="1139778" y="8846247"/>
                </a:lnTo>
                <a:lnTo>
                  <a:pt x="1109664" y="8801584"/>
                </a:lnTo>
                <a:lnTo>
                  <a:pt x="1079917" y="8756665"/>
                </a:lnTo>
                <a:lnTo>
                  <a:pt x="1050542" y="8711510"/>
                </a:lnTo>
                <a:lnTo>
                  <a:pt x="1021539" y="8666120"/>
                </a:lnTo>
                <a:lnTo>
                  <a:pt x="992909" y="8620495"/>
                </a:lnTo>
                <a:lnTo>
                  <a:pt x="964650" y="8574636"/>
                </a:lnTo>
                <a:lnTo>
                  <a:pt x="936764" y="8528543"/>
                </a:lnTo>
                <a:lnTo>
                  <a:pt x="909257" y="8482214"/>
                </a:lnTo>
                <a:lnTo>
                  <a:pt x="882133" y="8435669"/>
                </a:lnTo>
                <a:lnTo>
                  <a:pt x="855393" y="8388909"/>
                </a:lnTo>
                <a:lnTo>
                  <a:pt x="829036" y="8341934"/>
                </a:lnTo>
                <a:lnTo>
                  <a:pt x="803063" y="8294744"/>
                </a:lnTo>
                <a:lnTo>
                  <a:pt x="777473" y="8247339"/>
                </a:lnTo>
                <a:lnTo>
                  <a:pt x="752271" y="8199725"/>
                </a:lnTo>
                <a:lnTo>
                  <a:pt x="727463" y="8151911"/>
                </a:lnTo>
                <a:lnTo>
                  <a:pt x="703049" y="8103898"/>
                </a:lnTo>
                <a:lnTo>
                  <a:pt x="679029" y="8055688"/>
                </a:lnTo>
                <a:lnTo>
                  <a:pt x="655402" y="8007281"/>
                </a:lnTo>
                <a:lnTo>
                  <a:pt x="632169" y="7958680"/>
                </a:lnTo>
                <a:lnTo>
                  <a:pt x="609334" y="7909881"/>
                </a:lnTo>
                <a:lnTo>
                  <a:pt x="586902" y="7860906"/>
                </a:lnTo>
                <a:lnTo>
                  <a:pt x="564873" y="7811754"/>
                </a:lnTo>
                <a:lnTo>
                  <a:pt x="543247" y="7762424"/>
                </a:lnTo>
                <a:lnTo>
                  <a:pt x="522023" y="7712915"/>
                </a:lnTo>
                <a:lnTo>
                  <a:pt x="501203" y="7663227"/>
                </a:lnTo>
                <a:lnTo>
                  <a:pt x="480791" y="7613370"/>
                </a:lnTo>
                <a:lnTo>
                  <a:pt x="460789" y="7563354"/>
                </a:lnTo>
                <a:lnTo>
                  <a:pt x="441198" y="7513179"/>
                </a:lnTo>
                <a:lnTo>
                  <a:pt x="422019" y="7462844"/>
                </a:lnTo>
                <a:lnTo>
                  <a:pt x="403251" y="7412348"/>
                </a:lnTo>
                <a:lnTo>
                  <a:pt x="384895" y="7361690"/>
                </a:lnTo>
                <a:lnTo>
                  <a:pt x="366952" y="7310894"/>
                </a:lnTo>
                <a:lnTo>
                  <a:pt x="349429" y="7259958"/>
                </a:lnTo>
                <a:lnTo>
                  <a:pt x="332324" y="7208883"/>
                </a:lnTo>
                <a:lnTo>
                  <a:pt x="315637" y="7157670"/>
                </a:lnTo>
                <a:lnTo>
                  <a:pt x="299369" y="7106320"/>
                </a:lnTo>
                <a:lnTo>
                  <a:pt x="283519" y="7054832"/>
                </a:lnTo>
                <a:lnTo>
                  <a:pt x="268092" y="7003217"/>
                </a:lnTo>
                <a:lnTo>
                  <a:pt x="253089" y="6951484"/>
                </a:lnTo>
                <a:lnTo>
                  <a:pt x="238510" y="6899632"/>
                </a:lnTo>
                <a:lnTo>
                  <a:pt x="224357" y="6847662"/>
                </a:lnTo>
                <a:lnTo>
                  <a:pt x="210628" y="6795573"/>
                </a:lnTo>
                <a:lnTo>
                  <a:pt x="197325" y="6743366"/>
                </a:lnTo>
                <a:lnTo>
                  <a:pt x="184448" y="6691051"/>
                </a:lnTo>
                <a:lnTo>
                  <a:pt x="172002" y="6638640"/>
                </a:lnTo>
                <a:lnTo>
                  <a:pt x="159985" y="6586135"/>
                </a:lnTo>
                <a:lnTo>
                  <a:pt x="148399" y="6533534"/>
                </a:lnTo>
                <a:lnTo>
                  <a:pt x="137242" y="6480841"/>
                </a:lnTo>
                <a:lnTo>
                  <a:pt x="126516" y="6428054"/>
                </a:lnTo>
                <a:lnTo>
                  <a:pt x="116222" y="6375171"/>
                </a:lnTo>
                <a:lnTo>
                  <a:pt x="106362" y="6322213"/>
                </a:lnTo>
                <a:lnTo>
                  <a:pt x="96936" y="6269180"/>
                </a:lnTo>
                <a:lnTo>
                  <a:pt x="87945" y="6216073"/>
                </a:lnTo>
                <a:lnTo>
                  <a:pt x="79388" y="6162891"/>
                </a:lnTo>
                <a:lnTo>
                  <a:pt x="71265" y="6109634"/>
                </a:lnTo>
                <a:lnTo>
                  <a:pt x="63578" y="6056303"/>
                </a:lnTo>
                <a:lnTo>
                  <a:pt x="56329" y="6002922"/>
                </a:lnTo>
                <a:lnTo>
                  <a:pt x="49517" y="5949490"/>
                </a:lnTo>
                <a:lnTo>
                  <a:pt x="43142" y="5896005"/>
                </a:lnTo>
                <a:lnTo>
                  <a:pt x="37205" y="5842466"/>
                </a:lnTo>
                <a:lnTo>
                  <a:pt x="31705" y="5788871"/>
                </a:lnTo>
                <a:lnTo>
                  <a:pt x="26644" y="5735242"/>
                </a:lnTo>
                <a:lnTo>
                  <a:pt x="22022" y="5681575"/>
                </a:lnTo>
                <a:lnTo>
                  <a:pt x="17840" y="5627873"/>
                </a:lnTo>
                <a:lnTo>
                  <a:pt x="14097" y="5574139"/>
                </a:lnTo>
                <a:lnTo>
                  <a:pt x="10794" y="5520374"/>
                </a:lnTo>
                <a:lnTo>
                  <a:pt x="7931" y="5466580"/>
                </a:lnTo>
                <a:lnTo>
                  <a:pt x="5507" y="5412755"/>
                </a:lnTo>
                <a:lnTo>
                  <a:pt x="3524" y="5358921"/>
                </a:lnTo>
                <a:lnTo>
                  <a:pt x="1982" y="5305079"/>
                </a:lnTo>
                <a:lnTo>
                  <a:pt x="881" y="5251227"/>
                </a:lnTo>
                <a:lnTo>
                  <a:pt x="220" y="5197367"/>
                </a:lnTo>
                <a:lnTo>
                  <a:pt x="0" y="5143498"/>
                </a:lnTo>
                <a:lnTo>
                  <a:pt x="220" y="5089630"/>
                </a:lnTo>
                <a:lnTo>
                  <a:pt x="881" y="5035770"/>
                </a:lnTo>
                <a:lnTo>
                  <a:pt x="1982" y="4981918"/>
                </a:lnTo>
                <a:lnTo>
                  <a:pt x="3524" y="4928076"/>
                </a:lnTo>
                <a:lnTo>
                  <a:pt x="5507" y="4874242"/>
                </a:lnTo>
                <a:lnTo>
                  <a:pt x="7931" y="4820417"/>
                </a:lnTo>
                <a:lnTo>
                  <a:pt x="10794" y="4766623"/>
                </a:lnTo>
                <a:lnTo>
                  <a:pt x="14097" y="4712858"/>
                </a:lnTo>
                <a:lnTo>
                  <a:pt x="17840" y="4659123"/>
                </a:lnTo>
                <a:lnTo>
                  <a:pt x="22022" y="4605422"/>
                </a:lnTo>
                <a:lnTo>
                  <a:pt x="26644" y="4551755"/>
                </a:lnTo>
                <a:lnTo>
                  <a:pt x="31705" y="4498126"/>
                </a:lnTo>
                <a:lnTo>
                  <a:pt x="37205" y="4444531"/>
                </a:lnTo>
                <a:lnTo>
                  <a:pt x="43142" y="4390992"/>
                </a:lnTo>
                <a:lnTo>
                  <a:pt x="49517" y="4337507"/>
                </a:lnTo>
                <a:lnTo>
                  <a:pt x="56329" y="4284075"/>
                </a:lnTo>
                <a:lnTo>
                  <a:pt x="63578" y="4230694"/>
                </a:lnTo>
                <a:lnTo>
                  <a:pt x="71265" y="4177362"/>
                </a:lnTo>
                <a:lnTo>
                  <a:pt x="79388" y="4124106"/>
                </a:lnTo>
                <a:lnTo>
                  <a:pt x="87945" y="4070924"/>
                </a:lnTo>
                <a:lnTo>
                  <a:pt x="96936" y="4017817"/>
                </a:lnTo>
                <a:lnTo>
                  <a:pt x="106362" y="3964784"/>
                </a:lnTo>
                <a:lnTo>
                  <a:pt x="116222" y="3911826"/>
                </a:lnTo>
                <a:lnTo>
                  <a:pt x="126516" y="3858943"/>
                </a:lnTo>
                <a:lnTo>
                  <a:pt x="137242" y="3806156"/>
                </a:lnTo>
                <a:lnTo>
                  <a:pt x="148399" y="3753462"/>
                </a:lnTo>
                <a:lnTo>
                  <a:pt x="159985" y="3700862"/>
                </a:lnTo>
                <a:lnTo>
                  <a:pt x="172002" y="3648356"/>
                </a:lnTo>
                <a:lnTo>
                  <a:pt x="184448" y="3595946"/>
                </a:lnTo>
                <a:lnTo>
                  <a:pt x="197325" y="3543631"/>
                </a:lnTo>
                <a:lnTo>
                  <a:pt x="210628" y="3491424"/>
                </a:lnTo>
                <a:lnTo>
                  <a:pt x="224357" y="3439335"/>
                </a:lnTo>
                <a:lnTo>
                  <a:pt x="238510" y="3387364"/>
                </a:lnTo>
                <a:lnTo>
                  <a:pt x="253089" y="3335513"/>
                </a:lnTo>
                <a:lnTo>
                  <a:pt x="268092" y="3283779"/>
                </a:lnTo>
                <a:lnTo>
                  <a:pt x="283519" y="3232165"/>
                </a:lnTo>
                <a:lnTo>
                  <a:pt x="299369" y="3180677"/>
                </a:lnTo>
                <a:lnTo>
                  <a:pt x="315637" y="3129327"/>
                </a:lnTo>
                <a:lnTo>
                  <a:pt x="332324" y="3078114"/>
                </a:lnTo>
                <a:lnTo>
                  <a:pt x="349429" y="3027039"/>
                </a:lnTo>
                <a:lnTo>
                  <a:pt x="366952" y="2976103"/>
                </a:lnTo>
                <a:lnTo>
                  <a:pt x="384895" y="2925307"/>
                </a:lnTo>
                <a:lnTo>
                  <a:pt x="403251" y="2874649"/>
                </a:lnTo>
                <a:lnTo>
                  <a:pt x="422019" y="2824153"/>
                </a:lnTo>
                <a:lnTo>
                  <a:pt x="441198" y="2773817"/>
                </a:lnTo>
                <a:lnTo>
                  <a:pt x="460789" y="2723642"/>
                </a:lnTo>
                <a:lnTo>
                  <a:pt x="480791" y="2673627"/>
                </a:lnTo>
                <a:lnTo>
                  <a:pt x="501203" y="2623770"/>
                </a:lnTo>
                <a:lnTo>
                  <a:pt x="522023" y="2574082"/>
                </a:lnTo>
                <a:lnTo>
                  <a:pt x="543247" y="2524573"/>
                </a:lnTo>
                <a:lnTo>
                  <a:pt x="564873" y="2475243"/>
                </a:lnTo>
                <a:lnTo>
                  <a:pt x="586902" y="2426091"/>
                </a:lnTo>
                <a:lnTo>
                  <a:pt x="609334" y="2377115"/>
                </a:lnTo>
                <a:lnTo>
                  <a:pt x="632169" y="2328316"/>
                </a:lnTo>
                <a:lnTo>
                  <a:pt x="655402" y="2279715"/>
                </a:lnTo>
                <a:lnTo>
                  <a:pt x="679029" y="2231309"/>
                </a:lnTo>
                <a:lnTo>
                  <a:pt x="703049" y="2183098"/>
                </a:lnTo>
                <a:lnTo>
                  <a:pt x="727463" y="2135086"/>
                </a:lnTo>
                <a:lnTo>
                  <a:pt x="752271" y="2087272"/>
                </a:lnTo>
                <a:lnTo>
                  <a:pt x="777473" y="2039658"/>
                </a:lnTo>
                <a:lnTo>
                  <a:pt x="803063" y="1992244"/>
                </a:lnTo>
                <a:lnTo>
                  <a:pt x="829036" y="1945051"/>
                </a:lnTo>
                <a:lnTo>
                  <a:pt x="855393" y="1898078"/>
                </a:lnTo>
                <a:lnTo>
                  <a:pt x="882133" y="1851322"/>
                </a:lnTo>
                <a:lnTo>
                  <a:pt x="909257" y="1804781"/>
                </a:lnTo>
                <a:lnTo>
                  <a:pt x="936764" y="1758453"/>
                </a:lnTo>
                <a:lnTo>
                  <a:pt x="964650" y="1712361"/>
                </a:lnTo>
                <a:lnTo>
                  <a:pt x="992909" y="1666502"/>
                </a:lnTo>
                <a:lnTo>
                  <a:pt x="1021539" y="1620877"/>
                </a:lnTo>
                <a:lnTo>
                  <a:pt x="1050542" y="1575486"/>
                </a:lnTo>
                <a:lnTo>
                  <a:pt x="1079917" y="1530332"/>
                </a:lnTo>
                <a:lnTo>
                  <a:pt x="1109664" y="1485413"/>
                </a:lnTo>
                <a:lnTo>
                  <a:pt x="1139778" y="1440750"/>
                </a:lnTo>
                <a:lnTo>
                  <a:pt x="1170252" y="1396334"/>
                </a:lnTo>
                <a:lnTo>
                  <a:pt x="1201086" y="1352169"/>
                </a:lnTo>
                <a:lnTo>
                  <a:pt x="1232280" y="1308256"/>
                </a:lnTo>
                <a:lnTo>
                  <a:pt x="1263835" y="1264598"/>
                </a:lnTo>
                <a:lnTo>
                  <a:pt x="1295751" y="1221196"/>
                </a:lnTo>
                <a:lnTo>
                  <a:pt x="1328021" y="1178058"/>
                </a:lnTo>
                <a:lnTo>
                  <a:pt x="1360638" y="1135190"/>
                </a:lnTo>
                <a:lnTo>
                  <a:pt x="1393602" y="1092592"/>
                </a:lnTo>
                <a:lnTo>
                  <a:pt x="1426914" y="1050266"/>
                </a:lnTo>
                <a:lnTo>
                  <a:pt x="1460573" y="1008211"/>
                </a:lnTo>
                <a:lnTo>
                  <a:pt x="1494580" y="966426"/>
                </a:lnTo>
                <a:lnTo>
                  <a:pt x="1528928" y="924920"/>
                </a:lnTo>
                <a:lnTo>
                  <a:pt x="1563609" y="883703"/>
                </a:lnTo>
                <a:lnTo>
                  <a:pt x="1598624" y="842774"/>
                </a:lnTo>
                <a:lnTo>
                  <a:pt x="1633972" y="802133"/>
                </a:lnTo>
                <a:lnTo>
                  <a:pt x="1669654" y="761780"/>
                </a:lnTo>
                <a:lnTo>
                  <a:pt x="1705670" y="721715"/>
                </a:lnTo>
                <a:lnTo>
                  <a:pt x="1742012" y="681944"/>
                </a:lnTo>
                <a:lnTo>
                  <a:pt x="1778673" y="642478"/>
                </a:lnTo>
                <a:lnTo>
                  <a:pt x="1815654" y="603316"/>
                </a:lnTo>
                <a:lnTo>
                  <a:pt x="1852955" y="564458"/>
                </a:lnTo>
                <a:lnTo>
                  <a:pt x="1890574" y="525904"/>
                </a:lnTo>
                <a:lnTo>
                  <a:pt x="1928513" y="487654"/>
                </a:lnTo>
                <a:lnTo>
                  <a:pt x="1966764" y="449715"/>
                </a:lnTo>
                <a:lnTo>
                  <a:pt x="2005318" y="412095"/>
                </a:lnTo>
                <a:lnTo>
                  <a:pt x="2044176" y="374795"/>
                </a:lnTo>
                <a:lnTo>
                  <a:pt x="2083338" y="337814"/>
                </a:lnTo>
                <a:lnTo>
                  <a:pt x="2122804" y="301152"/>
                </a:lnTo>
                <a:lnTo>
                  <a:pt x="2162574" y="264810"/>
                </a:lnTo>
                <a:lnTo>
                  <a:pt x="2202639" y="228795"/>
                </a:lnTo>
                <a:lnTo>
                  <a:pt x="2242992" y="193113"/>
                </a:lnTo>
                <a:lnTo>
                  <a:pt x="2283633" y="157764"/>
                </a:lnTo>
                <a:lnTo>
                  <a:pt x="2324562" y="122750"/>
                </a:lnTo>
                <a:lnTo>
                  <a:pt x="2365780" y="88068"/>
                </a:lnTo>
                <a:lnTo>
                  <a:pt x="2407286" y="53721"/>
                </a:lnTo>
                <a:lnTo>
                  <a:pt x="2449070" y="19714"/>
                </a:lnTo>
                <a:lnTo>
                  <a:pt x="2473702" y="0"/>
                </a:lnTo>
                <a:lnTo>
                  <a:pt x="8901532" y="0"/>
                </a:lnTo>
                <a:lnTo>
                  <a:pt x="8901532" y="10287000"/>
                </a:lnTo>
                <a:close/>
              </a:path>
            </a:pathLst>
          </a:custGeom>
          <a:solidFill>
            <a:srgbClr val="48A8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5855101" y="2224500"/>
            <a:ext cx="2857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139700" lvl="0" marL="12700" marR="0" rtl="0" algn="ctr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 Kelas</a:t>
            </a:r>
            <a:endParaRPr b="0" i="0" sz="3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514350" y="873083"/>
            <a:ext cx="408622" cy="408622"/>
          </a:xfrm>
          <a:custGeom>
            <a:rect b="b" l="l" r="r" t="t"/>
            <a:pathLst>
              <a:path extrusionOk="0" h="817244" w="817244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FBD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665548" y="907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0" y="45628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1002175" y="839550"/>
            <a:ext cx="47427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Short Reintroduction to Supervised ML Models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514350" y="2473283"/>
            <a:ext cx="408622" cy="408622"/>
          </a:xfrm>
          <a:custGeom>
            <a:rect b="b" l="l" r="r" t="t"/>
            <a:pathLst>
              <a:path extrusionOk="0" h="817244" w="817244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FBD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665548" y="25078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1002175" y="2439750"/>
            <a:ext cx="33057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Random Forest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514350" y="1406483"/>
            <a:ext cx="408622" cy="408622"/>
          </a:xfrm>
          <a:custGeom>
            <a:rect b="b" l="l" r="r" t="t"/>
            <a:pathLst>
              <a:path extrusionOk="0" h="817244" w="817244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FBD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665548" y="14410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1002175" y="1372950"/>
            <a:ext cx="41217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Storyline Preprocessing Data</a:t>
            </a: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514350" y="1939883"/>
            <a:ext cx="408622" cy="408622"/>
          </a:xfrm>
          <a:custGeom>
            <a:rect b="b" l="l" r="r" t="t"/>
            <a:pathLst>
              <a:path extrusionOk="0" h="817244" w="817244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FBD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665548" y="19744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1002175" y="1906350"/>
            <a:ext cx="32319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Imbalanced Data handling</a:t>
            </a:r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514350" y="3006683"/>
            <a:ext cx="408622" cy="408622"/>
          </a:xfrm>
          <a:custGeom>
            <a:rect b="b" l="l" r="r" t="t"/>
            <a:pathLst>
              <a:path extrusionOk="0" h="817244" w="817244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FBD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665548" y="30412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1002175" y="2973150"/>
            <a:ext cx="32319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Cross Validation</a:t>
            </a:r>
            <a:endParaRPr/>
          </a:p>
        </p:txBody>
      </p:sp>
      <p:sp>
        <p:nvSpPr>
          <p:cNvPr id="157" name="Google Shape;157;p25"/>
          <p:cNvSpPr/>
          <p:nvPr/>
        </p:nvSpPr>
        <p:spPr>
          <a:xfrm>
            <a:off x="514350" y="3540083"/>
            <a:ext cx="408622" cy="408622"/>
          </a:xfrm>
          <a:custGeom>
            <a:rect b="b" l="l" r="r" t="t"/>
            <a:pathLst>
              <a:path extrusionOk="0" h="817244" w="817244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FBD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665548" y="3574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1002175" y="3506550"/>
            <a:ext cx="32319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Metric Evaluation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(AUC, Precision, Recall Score)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son using MacBook Pro" id="164" name="Google Shape;164;p26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3944318" y="0"/>
            <a:ext cx="51996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26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166" name="Google Shape;166;p26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6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6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26"/>
          <p:cNvSpPr txBox="1"/>
          <p:nvPr>
            <p:ph type="title"/>
          </p:nvPr>
        </p:nvSpPr>
        <p:spPr>
          <a:xfrm>
            <a:off x="4733574" y="1391613"/>
            <a:ext cx="38157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spAutoFit/>
          </a:bodyPr>
          <a:lstStyle/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3200">
                <a:solidFill>
                  <a:srgbClr val="262626"/>
                </a:solidFill>
              </a:rPr>
              <a:t>Say Hello Again to</a:t>
            </a:r>
            <a:br>
              <a:rPr lang="en" sz="3200">
                <a:solidFill>
                  <a:srgbClr val="262626"/>
                </a:solidFill>
              </a:rPr>
            </a:br>
            <a:r>
              <a:rPr lang="en" sz="3200">
                <a:solidFill>
                  <a:srgbClr val="262626"/>
                </a:solidFill>
              </a:rPr>
              <a:t>Supervised ML</a:t>
            </a:r>
            <a:endParaRPr sz="3200"/>
          </a:p>
        </p:txBody>
      </p:sp>
      <p:sp>
        <p:nvSpPr>
          <p:cNvPr id="170" name="Google Shape;170;p26"/>
          <p:cNvSpPr txBox="1"/>
          <p:nvPr/>
        </p:nvSpPr>
        <p:spPr>
          <a:xfrm>
            <a:off x="4733574" y="2644492"/>
            <a:ext cx="40242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-228600" lvl="0" marL="2413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0" i="0" lang="en" sz="12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Relax, Inhale, and Exhale slowly</a:t>
            </a:r>
            <a:endParaRPr sz="700"/>
          </a:p>
          <a:p>
            <a:pPr indent="-228600" lvl="0" marL="2413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0" i="0" lang="en" sz="12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Short Reintroduction to Supervised ML Models</a:t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/>
        </p:nvSpPr>
        <p:spPr>
          <a:xfrm>
            <a:off x="830775" y="83350"/>
            <a:ext cx="76440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Workflow -</a:t>
            </a:r>
            <a:r>
              <a:rPr b="1" lang="en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intinya supervised itu “peramal” yang bisa memprediksi suatu kejadian di masa depan</a:t>
            </a:r>
            <a:endParaRPr b="1" sz="2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581" y="1023694"/>
            <a:ext cx="7161637" cy="403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" name="Google Shape;179;p27"/>
          <p:cNvSpPr/>
          <p:nvPr/>
        </p:nvSpPr>
        <p:spPr>
          <a:xfrm>
            <a:off x="6890950" y="3437325"/>
            <a:ext cx="13839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Hasil Prediksi</a:t>
            </a:r>
            <a:endParaRPr b="1" sz="15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1252150" y="2599125"/>
            <a:ext cx="13839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 Lama</a:t>
            </a:r>
            <a:endParaRPr b="1" sz="15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1328350" y="4504125"/>
            <a:ext cx="13839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 Baru</a:t>
            </a:r>
            <a:endParaRPr b="1" sz="15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5290750" y="4351725"/>
            <a:ext cx="1600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Proses </a:t>
            </a:r>
            <a:r>
              <a:rPr b="1" lang="en" sz="15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Prediksi</a:t>
            </a:r>
            <a:endParaRPr b="1" sz="15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son using MacBook Pro" id="187" name="Google Shape;187;p28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3944318" y="0"/>
            <a:ext cx="51996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28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189" name="Google Shape;189;p28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28"/>
          <p:cNvSpPr txBox="1"/>
          <p:nvPr>
            <p:ph type="title"/>
          </p:nvPr>
        </p:nvSpPr>
        <p:spPr>
          <a:xfrm>
            <a:off x="4272925" y="930875"/>
            <a:ext cx="47454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noAutofit/>
          </a:bodyPr>
          <a:lstStyle/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200">
                <a:solidFill>
                  <a:srgbClr val="262626"/>
                </a:solidFill>
              </a:rPr>
              <a:t>Storyline</a:t>
            </a:r>
            <a:r>
              <a:rPr lang="en" sz="3200">
                <a:solidFill>
                  <a:srgbClr val="262626"/>
                </a:solidFill>
              </a:rPr>
              <a:t> Preprocessing Data</a:t>
            </a:r>
            <a:endParaRPr sz="3200">
              <a:solidFill>
                <a:srgbClr val="262626"/>
              </a:solidFill>
            </a:endParaRPr>
          </a:p>
          <a:p>
            <a:pPr indent="0" lvl="0" marL="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62626"/>
              </a:solidFill>
            </a:endParaRPr>
          </a:p>
          <a:p>
            <a:pPr indent="-317500" lvl="0" marL="4572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itr"/>
              <a:buChar char="●"/>
            </a:pPr>
            <a:r>
              <a:rPr b="0" lang="en" sz="1400">
                <a:solidFill>
                  <a:srgbClr val="262626"/>
                </a:solidFill>
                <a:latin typeface="Mitr"/>
                <a:ea typeface="Mitr"/>
                <a:cs typeface="Mitr"/>
                <a:sym typeface="Mitr"/>
              </a:rPr>
              <a:t>Category </a:t>
            </a:r>
            <a:r>
              <a:rPr b="0" lang="en" sz="1400">
                <a:solidFill>
                  <a:srgbClr val="262626"/>
                </a:solidFill>
                <a:latin typeface="Mitr"/>
                <a:ea typeface="Mitr"/>
                <a:cs typeface="Mitr"/>
                <a:sym typeface="Mitr"/>
              </a:rPr>
              <a:t>encoding</a:t>
            </a:r>
            <a:endParaRPr b="0" sz="1400">
              <a:solidFill>
                <a:srgbClr val="262626"/>
              </a:solidFill>
              <a:latin typeface="Mitr"/>
              <a:ea typeface="Mitr"/>
              <a:cs typeface="Mitr"/>
              <a:sym typeface="Mitr"/>
            </a:endParaRPr>
          </a:p>
          <a:p>
            <a:pPr indent="-317500" lvl="0" marL="4572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itr"/>
              <a:buChar char="●"/>
            </a:pPr>
            <a:r>
              <a:rPr b="0" lang="en" sz="1400">
                <a:solidFill>
                  <a:srgbClr val="262626"/>
                </a:solidFill>
                <a:latin typeface="Mitr"/>
                <a:ea typeface="Mitr"/>
                <a:cs typeface="Mitr"/>
                <a:sym typeface="Mitr"/>
              </a:rPr>
              <a:t>Outlier handling</a:t>
            </a:r>
            <a:endParaRPr b="0" sz="1400">
              <a:solidFill>
                <a:srgbClr val="262626"/>
              </a:solidFill>
              <a:latin typeface="Mitr"/>
              <a:ea typeface="Mitr"/>
              <a:cs typeface="Mitr"/>
              <a:sym typeface="Mitr"/>
            </a:endParaRPr>
          </a:p>
          <a:p>
            <a:pPr indent="-317500" lvl="0" marL="4572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itr"/>
              <a:buChar char="●"/>
            </a:pPr>
            <a:r>
              <a:rPr b="0" lang="en" sz="1400">
                <a:solidFill>
                  <a:srgbClr val="262626"/>
                </a:solidFill>
                <a:latin typeface="Mitr"/>
                <a:ea typeface="Mitr"/>
                <a:cs typeface="Mitr"/>
                <a:sym typeface="Mitr"/>
              </a:rPr>
              <a:t>Scaling</a:t>
            </a:r>
            <a:endParaRPr b="0" sz="1400">
              <a:solidFill>
                <a:srgbClr val="262626"/>
              </a:solidFill>
              <a:latin typeface="Mitr"/>
              <a:ea typeface="Mitr"/>
              <a:cs typeface="Mitr"/>
              <a:sym typeface="Mitr"/>
            </a:endParaRPr>
          </a:p>
          <a:p>
            <a:pPr indent="-317500" lvl="0" marL="4572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itr"/>
              <a:buChar char="●"/>
            </a:pPr>
            <a:r>
              <a:rPr b="0" lang="en" sz="1400">
                <a:solidFill>
                  <a:srgbClr val="262626"/>
                </a:solidFill>
                <a:latin typeface="Mitr"/>
                <a:ea typeface="Mitr"/>
                <a:cs typeface="Mitr"/>
                <a:sym typeface="Mitr"/>
              </a:rPr>
              <a:t>etc</a:t>
            </a:r>
            <a:endParaRPr b="0" sz="1400">
              <a:solidFill>
                <a:srgbClr val="262626"/>
              </a:solidFill>
              <a:latin typeface="Mitr"/>
              <a:ea typeface="Mitr"/>
              <a:cs typeface="Mitr"/>
              <a:sym typeface="Mitr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/>
        </p:nvSpPr>
        <p:spPr>
          <a:xfrm>
            <a:off x="400525" y="1021639"/>
            <a:ext cx="701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601F99"/>
                </a:solidFill>
                <a:latin typeface="Montserrat"/>
                <a:ea typeface="Montserrat"/>
                <a:cs typeface="Montserrat"/>
                <a:sym typeface="Montserrat"/>
              </a:rPr>
              <a:t>Cross Industry Standard Process for Data Mining</a:t>
            </a:r>
            <a:endParaRPr i="0" sz="2000" u="none" cap="none" strike="noStrike">
              <a:solidFill>
                <a:srgbClr val="601F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9"/>
          <p:cNvSpPr/>
          <p:nvPr/>
        </p:nvSpPr>
        <p:spPr>
          <a:xfrm>
            <a:off x="1014227" y="1863184"/>
            <a:ext cx="1643400" cy="688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Business Understanding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" name="Google Shape;200;p29"/>
          <p:cNvCxnSpPr/>
          <p:nvPr/>
        </p:nvCxnSpPr>
        <p:spPr>
          <a:xfrm>
            <a:off x="2657531" y="2156969"/>
            <a:ext cx="860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" name="Google Shape;201;p29"/>
          <p:cNvSpPr/>
          <p:nvPr/>
        </p:nvSpPr>
        <p:spPr>
          <a:xfrm>
            <a:off x="3517971" y="1863184"/>
            <a:ext cx="1370700" cy="688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Understanding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" name="Google Shape;202;p29"/>
          <p:cNvCxnSpPr/>
          <p:nvPr/>
        </p:nvCxnSpPr>
        <p:spPr>
          <a:xfrm rot="10800000">
            <a:off x="2665463" y="2290814"/>
            <a:ext cx="844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29"/>
          <p:cNvSpPr/>
          <p:nvPr/>
        </p:nvSpPr>
        <p:spPr>
          <a:xfrm>
            <a:off x="4888606" y="2183675"/>
            <a:ext cx="1037491" cy="667117"/>
          </a:xfrm>
          <a:custGeom>
            <a:rect b="b" l="l" r="r" t="t"/>
            <a:pathLst>
              <a:path extrusionOk="0" h="24567" w="45927">
                <a:moveTo>
                  <a:pt x="0" y="143"/>
                </a:moveTo>
                <a:cubicBezTo>
                  <a:pt x="6642" y="143"/>
                  <a:pt x="13411" y="-428"/>
                  <a:pt x="19910" y="940"/>
                </a:cubicBezTo>
                <a:cubicBezTo>
                  <a:pt x="31373" y="3354"/>
                  <a:pt x="42218" y="13455"/>
                  <a:pt x="45927" y="24567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5284212" y="2850849"/>
            <a:ext cx="1370700" cy="688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Preparation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" name="Google Shape;205;p29"/>
          <p:cNvCxnSpPr/>
          <p:nvPr/>
        </p:nvCxnSpPr>
        <p:spPr>
          <a:xfrm>
            <a:off x="5900654" y="3539379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" name="Google Shape;206;p29"/>
          <p:cNvCxnSpPr/>
          <p:nvPr/>
        </p:nvCxnSpPr>
        <p:spPr>
          <a:xfrm>
            <a:off x="6038364" y="3539379"/>
            <a:ext cx="0" cy="3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07" name="Google Shape;207;p29"/>
          <p:cNvSpPr/>
          <p:nvPr/>
        </p:nvSpPr>
        <p:spPr>
          <a:xfrm>
            <a:off x="5284212" y="3939529"/>
            <a:ext cx="1370700" cy="688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Modeling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2921160" y="3939529"/>
            <a:ext cx="1370700" cy="688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Evaluation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29"/>
          <p:cNvCxnSpPr>
            <a:endCxn id="208" idx="3"/>
          </p:cNvCxnSpPr>
          <p:nvPr/>
        </p:nvCxnSpPr>
        <p:spPr>
          <a:xfrm rot="10800000">
            <a:off x="4291860" y="4283779"/>
            <a:ext cx="992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" name="Google Shape;210;p29"/>
          <p:cNvSpPr/>
          <p:nvPr/>
        </p:nvSpPr>
        <p:spPr>
          <a:xfrm rot="10800000">
            <a:off x="2121111" y="3881633"/>
            <a:ext cx="800048" cy="402162"/>
          </a:xfrm>
          <a:custGeom>
            <a:rect b="b" l="l" r="r" t="t"/>
            <a:pathLst>
              <a:path extrusionOk="0" h="24567" w="45927">
                <a:moveTo>
                  <a:pt x="0" y="143"/>
                </a:moveTo>
                <a:cubicBezTo>
                  <a:pt x="6642" y="143"/>
                  <a:pt x="13411" y="-428"/>
                  <a:pt x="19910" y="940"/>
                </a:cubicBezTo>
                <a:cubicBezTo>
                  <a:pt x="31373" y="3354"/>
                  <a:pt x="42218" y="13455"/>
                  <a:pt x="45927" y="24567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9"/>
          <p:cNvSpPr/>
          <p:nvPr/>
        </p:nvSpPr>
        <p:spPr>
          <a:xfrm>
            <a:off x="1115838" y="3193132"/>
            <a:ext cx="1370700" cy="688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1970969" y="2551714"/>
            <a:ext cx="1709174" cy="1380314"/>
          </a:xfrm>
          <a:custGeom>
            <a:rect b="b" l="l" r="r" t="t"/>
            <a:pathLst>
              <a:path extrusionOk="0" h="46723" w="70084">
                <a:moveTo>
                  <a:pt x="70084" y="46723"/>
                </a:moveTo>
                <a:cubicBezTo>
                  <a:pt x="68209" y="29884"/>
                  <a:pt x="46420" y="20235"/>
                  <a:pt x="30263" y="15132"/>
                </a:cubicBezTo>
                <a:cubicBezTo>
                  <a:pt x="19508" y="11735"/>
                  <a:pt x="3563" y="10701"/>
                  <a:pt x="0" y="0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8558" y="2901360"/>
            <a:ext cx="582225" cy="68847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144750" y="231350"/>
            <a:ext cx="3693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Georgia"/>
                <a:ea typeface="Georgia"/>
                <a:cs typeface="Georgia"/>
                <a:sym typeface="Georgia"/>
              </a:rPr>
              <a:t>CRISP-DM</a:t>
            </a:r>
            <a:endParaRPr b="1"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0" y="780350"/>
            <a:ext cx="2325000" cy="33000"/>
          </a:xfrm>
          <a:prstGeom prst="rect">
            <a:avLst/>
          </a:prstGeom>
          <a:gradFill>
            <a:gsLst>
              <a:gs pos="0">
                <a:srgbClr val="0090D6">
                  <a:alpha val="78823"/>
                </a:srgbClr>
              </a:gs>
              <a:gs pos="100000">
                <a:srgbClr val="64CBC4">
                  <a:alpha val="7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475" y="756725"/>
            <a:ext cx="6028301" cy="433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/>
          <p:nvPr/>
        </p:nvSpPr>
        <p:spPr>
          <a:xfrm>
            <a:off x="391350" y="129300"/>
            <a:ext cx="3525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Referensi baseline model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914275" y="388875"/>
            <a:ext cx="43089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https://drive.google.com/file/d/1RfhNUOXjuIm3-Cjs5l5EjQtmKJM-O8SE/view?usp=sharing</a:t>
            </a:r>
            <a:r>
              <a:rPr lang="en" sz="7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1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Georgia"/>
                <a:ea typeface="Georgia"/>
                <a:cs typeface="Georgia"/>
                <a:sym typeface="Georgia"/>
              </a:rPr>
              <a:t>Category encoding</a:t>
            </a:r>
            <a:endParaRPr b="1"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0" name="Google Shape;230;p31"/>
          <p:cNvSpPr/>
          <p:nvPr/>
        </p:nvSpPr>
        <p:spPr>
          <a:xfrm>
            <a:off x="273125" y="849525"/>
            <a:ext cx="6477600" cy="3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b="1" lang="en" sz="2000">
                <a:latin typeface="Georgia"/>
                <a:ea typeface="Georgia"/>
                <a:cs typeface="Georgia"/>
                <a:sym typeface="Georgia"/>
              </a:rPr>
              <a:t>Label Encoding (Naif)</a:t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b="1" lang="en" sz="2000">
                <a:latin typeface="Georgia"/>
                <a:ea typeface="Georgia"/>
                <a:cs typeface="Georgia"/>
                <a:sym typeface="Georgia"/>
              </a:rPr>
              <a:t>Ordinal Encoding</a:t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b="1" lang="en" sz="2000">
                <a:latin typeface="Georgia"/>
                <a:ea typeface="Georgia"/>
                <a:cs typeface="Georgia"/>
                <a:sym typeface="Georgia"/>
              </a:rPr>
              <a:t>One Hot Encoding</a:t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b="1" lang="en" sz="2000">
                <a:latin typeface="Georgia"/>
                <a:ea typeface="Georgia"/>
                <a:cs typeface="Georgia"/>
                <a:sym typeface="Georgia"/>
              </a:rPr>
              <a:t>Frequency Encoding</a:t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2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Georgia"/>
                <a:ea typeface="Georgia"/>
                <a:cs typeface="Georgia"/>
                <a:sym typeface="Georgia"/>
              </a:rPr>
              <a:t>Outlier Handling</a:t>
            </a:r>
            <a:endParaRPr b="1"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7" name="Google Shape;237;p32"/>
          <p:cNvSpPr/>
          <p:nvPr/>
        </p:nvSpPr>
        <p:spPr>
          <a:xfrm>
            <a:off x="273125" y="620925"/>
            <a:ext cx="6477600" cy="3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b="1" lang="en" sz="2000">
                <a:latin typeface="Georgia"/>
                <a:ea typeface="Georgia"/>
                <a:cs typeface="Georgia"/>
                <a:sym typeface="Georgia"/>
              </a:rPr>
              <a:t>Z - score</a:t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b="1" lang="en" sz="2000">
                <a:latin typeface="Georgia"/>
                <a:ea typeface="Georgia"/>
                <a:cs typeface="Georgia"/>
                <a:sym typeface="Georgia"/>
              </a:rPr>
              <a:t>IQR</a:t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38" name="Google Shape;238;p32"/>
          <p:cNvPicPr preferRelativeResize="0"/>
          <p:nvPr/>
        </p:nvPicPr>
        <p:blipFill rotWithShape="1">
          <a:blip r:embed="rId4">
            <a:alphaModFix/>
          </a:blip>
          <a:srcRect b="39261" l="0" r="0" t="0"/>
          <a:stretch/>
        </p:blipFill>
        <p:spPr>
          <a:xfrm>
            <a:off x="834081" y="1657538"/>
            <a:ext cx="2357438" cy="105001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9" name="Google Shape;23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4350" y="1160575"/>
            <a:ext cx="3672776" cy="187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7100" y="3115325"/>
            <a:ext cx="3794379" cy="187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3"/>
          <p:cNvSpPr txBox="1"/>
          <p:nvPr/>
        </p:nvSpPr>
        <p:spPr>
          <a:xfrm>
            <a:off x="813325" y="1267650"/>
            <a:ext cx="7084500" cy="20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400" u="none" cap="none" strike="noStrike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Normalization/Standardization itu apa?</a:t>
            </a:r>
            <a:endParaRPr b="1" i="0" sz="2400" u="none" cap="none" strike="noStrike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Normalization </a:t>
            </a:r>
            <a:r>
              <a:rPr b="0" i="0" lang="en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adalah proses merubah nilai pada feature menjadi skala/interval tertentu, </a:t>
            </a:r>
            <a:r>
              <a:rPr b="1" i="0" lang="en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dimana skala nya range 0 - 1</a:t>
            </a:r>
            <a:endParaRPr b="1" i="0" sz="14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Standardization </a:t>
            </a:r>
            <a:r>
              <a:rPr b="0" i="0" lang="en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adalah proses merubah nilai-nilai feature sehingga </a:t>
            </a:r>
            <a:r>
              <a:rPr b="1" i="0" lang="en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mean = 0 dan standard deviation = 1</a:t>
            </a:r>
            <a:endParaRPr b="1" i="0" sz="14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Georgia"/>
                <a:ea typeface="Georgia"/>
                <a:cs typeface="Georgia"/>
                <a:sym typeface="Georgia"/>
              </a:rPr>
              <a:t>Scaling</a:t>
            </a:r>
            <a:endParaRPr b="1" sz="3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son using MacBook Pro" id="253" name="Google Shape;253;p34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3944318" y="0"/>
            <a:ext cx="51996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34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255" name="Google Shape;255;p34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4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4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34"/>
          <p:cNvSpPr txBox="1"/>
          <p:nvPr>
            <p:ph type="title"/>
          </p:nvPr>
        </p:nvSpPr>
        <p:spPr>
          <a:xfrm>
            <a:off x="4272925" y="1772625"/>
            <a:ext cx="4745400" cy="20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noAutofit/>
          </a:bodyPr>
          <a:lstStyle/>
          <a:p>
            <a:pPr indent="0" lvl="0" marL="12700" marR="0" rtl="0" algn="ctr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200">
                <a:solidFill>
                  <a:srgbClr val="262626"/>
                </a:solidFill>
              </a:rPr>
              <a:t>Imbalanced Data handling</a:t>
            </a:r>
            <a:endParaRPr sz="3200">
              <a:solidFill>
                <a:srgbClr val="262626"/>
              </a:solidFill>
            </a:endParaRPr>
          </a:p>
          <a:p>
            <a:pPr indent="0" lvl="0" marL="12700" marR="0" rtl="0" algn="ctr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rgbClr val="262626"/>
              </a:solidFill>
            </a:endParaRPr>
          </a:p>
          <a:p>
            <a:pPr indent="0" lvl="0" marL="0" marR="444500" rtl="0" algn="just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262626"/>
                </a:solidFill>
                <a:latin typeface="Mitr"/>
                <a:ea typeface="Mitr"/>
                <a:cs typeface="Mitr"/>
                <a:sym typeface="Mitr"/>
              </a:rPr>
              <a:t>sebuah kondisi dalam masalah klasifikasi dimana distribusi nilai unik pada target sangat timpang.</a:t>
            </a:r>
            <a:endParaRPr sz="3200">
              <a:solidFill>
                <a:srgbClr val="262626"/>
              </a:solidFill>
            </a:endParaRPr>
          </a:p>
        </p:txBody>
      </p:sp>
      <p:sp>
        <p:nvSpPr>
          <p:cNvPr id="259" name="Google Shape;259;p34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5" name="Google Shape;265;p35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Georgia"/>
                <a:ea typeface="Georgia"/>
                <a:cs typeface="Georgia"/>
                <a:sym typeface="Georgia"/>
              </a:rPr>
              <a:t>Oversampling + Undersampling</a:t>
            </a:r>
            <a:endParaRPr b="1" sz="3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66" name="Google Shape;26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437" y="1927450"/>
            <a:ext cx="3943364" cy="2721775"/>
          </a:xfrm>
          <a:prstGeom prst="rect">
            <a:avLst/>
          </a:prstGeom>
          <a:noFill/>
          <a:ln cap="flat" cmpd="sng" w="190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7" name="Google Shape;26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8675" y="1927450"/>
            <a:ext cx="4307536" cy="2721775"/>
          </a:xfrm>
          <a:prstGeom prst="rect">
            <a:avLst/>
          </a:prstGeom>
          <a:noFill/>
          <a:ln cap="flat" cmpd="sng" w="190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8" name="Google Shape;268;p35"/>
          <p:cNvSpPr/>
          <p:nvPr/>
        </p:nvSpPr>
        <p:spPr>
          <a:xfrm>
            <a:off x="1187525" y="10019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Oversampling: menduplikat data minoritas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Undersampling: menghapus data mayoritas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/>
          <p:nvPr/>
        </p:nvSpPr>
        <p:spPr>
          <a:xfrm>
            <a:off x="724200" y="383250"/>
            <a:ext cx="8458500" cy="387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 anak TK sekolah nya 7 hari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hari : pembagian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hari : perkalian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</a:rPr>
              <a:t>Undersampling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 hari : pembagian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 hari : perkalian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Oversampling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 hari : pembagian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 hari : perkalian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Prediksi churn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</a:rPr>
              <a:t>Churn 		: 10 orang</a:t>
            </a:r>
            <a:endParaRPr>
              <a:solidFill>
                <a:schemeClr val="dk1"/>
              </a:solidFill>
              <a:highlight>
                <a:srgbClr val="FF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00FF00"/>
                </a:highlight>
              </a:rPr>
              <a:t>Tidak churn 	: 90 orang</a:t>
            </a:r>
            <a:endParaRPr>
              <a:solidFill>
                <a:schemeClr val="dk1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79" name="Google Shape;27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722" y="1274275"/>
            <a:ext cx="5617675" cy="28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/>
          <p:nvPr/>
        </p:nvSpPr>
        <p:spPr>
          <a:xfrm>
            <a:off x="415725" y="3470925"/>
            <a:ext cx="1407900" cy="642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7"/>
          <p:cNvSpPr/>
          <p:nvPr/>
        </p:nvSpPr>
        <p:spPr>
          <a:xfrm>
            <a:off x="1416125" y="4685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Distribusi pada variable target (survived) tidak balance  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2" name="Google Shape;282;p37"/>
          <p:cNvSpPr/>
          <p:nvPr/>
        </p:nvSpPr>
        <p:spPr>
          <a:xfrm>
            <a:off x="6068675" y="2144925"/>
            <a:ext cx="27330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Oversampling ?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atau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Undersampling ?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88" name="Google Shape;28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975" y="1382462"/>
            <a:ext cx="4812476" cy="185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8"/>
          <p:cNvSpPr/>
          <p:nvPr/>
        </p:nvSpPr>
        <p:spPr>
          <a:xfrm>
            <a:off x="1416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Oversampling + Undersampling dengan imblearn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0" name="Google Shape;290;p38"/>
          <p:cNvSpPr/>
          <p:nvPr/>
        </p:nvSpPr>
        <p:spPr>
          <a:xfrm>
            <a:off x="851025" y="3726750"/>
            <a:ext cx="75060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Oversampling dan undersampling dapat dilakukan dengan menggunakan </a:t>
            </a:r>
            <a:r>
              <a:rPr b="1" lang="en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RandomOverSample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RandomUnderSampler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SMOTE </a:t>
            </a:r>
            <a:r>
              <a:rPr lang="en">
                <a:solidFill>
                  <a:srgbClr val="ED7D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pada library</a:t>
            </a:r>
            <a:r>
              <a:rPr lang="en">
                <a:solidFill>
                  <a:srgbClr val="ED7D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imblearn</a:t>
            </a:r>
            <a:endParaRPr b="1" sz="18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1" name="Google Shape;29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7625" y="1280975"/>
            <a:ext cx="2875875" cy="20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8"/>
          <p:cNvSpPr/>
          <p:nvPr/>
        </p:nvSpPr>
        <p:spPr>
          <a:xfrm>
            <a:off x="5158175" y="2205200"/>
            <a:ext cx="594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8" name="Google Shape;298;p39"/>
          <p:cNvSpPr/>
          <p:nvPr/>
        </p:nvSpPr>
        <p:spPr>
          <a:xfrm>
            <a:off x="1416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SMOTE: Synthetic Minority Oversampling TEchnique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9" name="Google Shape;29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1450" y="937952"/>
            <a:ext cx="5978250" cy="25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9"/>
          <p:cNvSpPr/>
          <p:nvPr/>
        </p:nvSpPr>
        <p:spPr>
          <a:xfrm>
            <a:off x="963275" y="3745125"/>
            <a:ext cx="7432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SMOTE merupakan salah satu algoritma oversampling yang umum digunakan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type="title"/>
          </p:nvPr>
        </p:nvSpPr>
        <p:spPr>
          <a:xfrm>
            <a:off x="507998" y="605621"/>
            <a:ext cx="8127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450" y="1132058"/>
            <a:ext cx="4380948" cy="355567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0"/>
          <p:cNvSpPr/>
          <p:nvPr/>
        </p:nvSpPr>
        <p:spPr>
          <a:xfrm>
            <a:off x="13399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SMOTE: Synthetic Minority Oversampling TEchnique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8" name="Google Shape;308;p40"/>
          <p:cNvSpPr/>
          <p:nvPr/>
        </p:nvSpPr>
        <p:spPr>
          <a:xfrm>
            <a:off x="5166450" y="1241650"/>
            <a:ext cx="3635700" cy="30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SMOTE merupakan salah satu algoritma oversampling yang umum digunakan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SMOTE, menggunakan konsep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KNN dan Interpolasi Linear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dalam mencari point baru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9" name="Google Shape;309;p40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>
            <a:off x="507998" y="605621"/>
            <a:ext cx="8127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1"/>
          <p:cNvSpPr/>
          <p:nvPr/>
        </p:nvSpPr>
        <p:spPr>
          <a:xfrm>
            <a:off x="13399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SMOTE: Synthetic Minority Oversampling TEchnique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6" name="Google Shape;316;p41"/>
          <p:cNvSpPr/>
          <p:nvPr/>
        </p:nvSpPr>
        <p:spPr>
          <a:xfrm>
            <a:off x="5518550" y="1241650"/>
            <a:ext cx="3283500" cy="30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K = 5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7" name="Google Shape;31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875" y="1045071"/>
            <a:ext cx="4783538" cy="355567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1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507998" y="605621"/>
            <a:ext cx="8127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2"/>
          <p:cNvSpPr/>
          <p:nvPr/>
        </p:nvSpPr>
        <p:spPr>
          <a:xfrm>
            <a:off x="13399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SMOTE: Synthetic Minority Oversampling TEchnique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4707225" y="1241650"/>
            <a:ext cx="4232700" cy="30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rebuchet MS"/>
                <a:ea typeface="Trebuchet MS"/>
                <a:cs typeface="Trebuchet MS"/>
                <a:sym typeface="Trebuchet MS"/>
              </a:rPr>
              <a:t>Interpolasi Linear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Untuk setiap tetangga terdekat yang dipilih, kalikan vektor jarak tersebut dengan bilangan acak antara 0 dan 1.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Tambahkan hasilnya ke koordinat sampel minoritas. Ini akan menghasilkan titik baru di sepanjang garis yang menghubungkan sampel minoritas dengan tetangga terdekatnya.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6" name="Google Shape;32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325" y="1029746"/>
            <a:ext cx="4271754" cy="355568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2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type="title"/>
          </p:nvPr>
        </p:nvSpPr>
        <p:spPr>
          <a:xfrm>
            <a:off x="507998" y="605621"/>
            <a:ext cx="8127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3"/>
          <p:cNvSpPr/>
          <p:nvPr/>
        </p:nvSpPr>
        <p:spPr>
          <a:xfrm>
            <a:off x="13399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SMOTE: Synthetic Minority Oversampling TEchnique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4" name="Google Shape;334;p43"/>
          <p:cNvSpPr/>
          <p:nvPr/>
        </p:nvSpPr>
        <p:spPr>
          <a:xfrm>
            <a:off x="4376175" y="1241650"/>
            <a:ext cx="4563900" cy="30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Ulangi proses dengan N/100,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misal dari minoritas ke mayoritas membutuhkan 300%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5" name="Google Shape;33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75" y="1159871"/>
            <a:ext cx="4216618" cy="355568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3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 txBox="1"/>
          <p:nvPr>
            <p:ph type="title"/>
          </p:nvPr>
        </p:nvSpPr>
        <p:spPr>
          <a:xfrm>
            <a:off x="507998" y="605621"/>
            <a:ext cx="8127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4"/>
          <p:cNvSpPr/>
          <p:nvPr/>
        </p:nvSpPr>
        <p:spPr>
          <a:xfrm>
            <a:off x="13399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SMOTE: Synthetic Minority Oversampling TEchnique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3" name="Google Shape;343;p44"/>
          <p:cNvSpPr/>
          <p:nvPr/>
        </p:nvSpPr>
        <p:spPr>
          <a:xfrm>
            <a:off x="4707225" y="1241650"/>
            <a:ext cx="4232700" cy="30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Maka 300/100 = 3 neighbors dari nearest neighbors (K=5 as default) yang dipilih untuk menjadi data point baru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4" name="Google Shape;3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00" y="1343596"/>
            <a:ext cx="4183153" cy="355568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4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6" name="Google Shape;346;p44"/>
          <p:cNvSpPr/>
          <p:nvPr/>
        </p:nvSpPr>
        <p:spPr>
          <a:xfrm>
            <a:off x="4993375" y="1179625"/>
            <a:ext cx="32358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Kondisi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 : 400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: 100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Maka butuh 300 point baru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 txBox="1"/>
          <p:nvPr>
            <p:ph type="title"/>
          </p:nvPr>
        </p:nvSpPr>
        <p:spPr>
          <a:xfrm>
            <a:off x="507998" y="605621"/>
            <a:ext cx="8127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5"/>
          <p:cNvSpPr/>
          <p:nvPr/>
        </p:nvSpPr>
        <p:spPr>
          <a:xfrm>
            <a:off x="13399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SMOTE: Synthetic Minority Oversampling TEchnique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3" name="Google Shape;353;p45"/>
          <p:cNvSpPr/>
          <p:nvPr/>
        </p:nvSpPr>
        <p:spPr>
          <a:xfrm>
            <a:off x="1263600" y="3679200"/>
            <a:ext cx="7524000" cy="11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Ulangi sampai data minoritas setara jumlahnya dengan data mayoritas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4" name="Google Shape;35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50" y="1283024"/>
            <a:ext cx="3020126" cy="243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8250" y="1381850"/>
            <a:ext cx="2852614" cy="219392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5"/>
          <p:cNvSpPr/>
          <p:nvPr/>
        </p:nvSpPr>
        <p:spPr>
          <a:xfrm>
            <a:off x="3605050" y="2303850"/>
            <a:ext cx="966900" cy="37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5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6"/>
          <p:cNvSpPr txBox="1"/>
          <p:nvPr>
            <p:ph type="title"/>
          </p:nvPr>
        </p:nvSpPr>
        <p:spPr>
          <a:xfrm>
            <a:off x="507998" y="605621"/>
            <a:ext cx="8127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6"/>
          <p:cNvSpPr/>
          <p:nvPr/>
        </p:nvSpPr>
        <p:spPr>
          <a:xfrm>
            <a:off x="13399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SMOTE: Synthetic Minority Oversampling TEchnique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64" name="Google Shape;36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775" y="916296"/>
            <a:ext cx="7188449" cy="355568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6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7"/>
          <p:cNvSpPr txBox="1"/>
          <p:nvPr>
            <p:ph type="title"/>
          </p:nvPr>
        </p:nvSpPr>
        <p:spPr>
          <a:xfrm>
            <a:off x="1498598" y="1443821"/>
            <a:ext cx="8127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7"/>
          <p:cNvSpPr/>
          <p:nvPr/>
        </p:nvSpPr>
        <p:spPr>
          <a:xfrm>
            <a:off x="1572175" y="1385650"/>
            <a:ext cx="2330400" cy="67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 - </a:t>
            </a:r>
            <a:r>
              <a:rPr lang="en"/>
              <a:t>Im</a:t>
            </a:r>
            <a:r>
              <a:rPr lang="en"/>
              <a:t>balance handling</a:t>
            </a:r>
            <a:endParaRPr/>
          </a:p>
        </p:txBody>
      </p:sp>
      <p:sp>
        <p:nvSpPr>
          <p:cNvPr id="372" name="Google Shape;372;p47"/>
          <p:cNvSpPr/>
          <p:nvPr/>
        </p:nvSpPr>
        <p:spPr>
          <a:xfrm>
            <a:off x="4848775" y="1385650"/>
            <a:ext cx="2330400" cy="67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</a:t>
            </a:r>
            <a:r>
              <a:rPr lang="en"/>
              <a:t>metric</a:t>
            </a:r>
            <a:r>
              <a:rPr lang="en"/>
              <a:t> evaluation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Acc, auc, recall, dst</a:t>
            </a:r>
            <a:endParaRPr/>
          </a:p>
        </p:txBody>
      </p:sp>
      <p:sp>
        <p:nvSpPr>
          <p:cNvPr id="373" name="Google Shape;373;p47"/>
          <p:cNvSpPr/>
          <p:nvPr/>
        </p:nvSpPr>
        <p:spPr>
          <a:xfrm>
            <a:off x="1572175" y="3062050"/>
            <a:ext cx="2330400" cy="67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- </a:t>
            </a:r>
            <a:r>
              <a:rPr lang="en"/>
              <a:t>Imbalance handling</a:t>
            </a:r>
            <a:endParaRPr/>
          </a:p>
        </p:txBody>
      </p:sp>
      <p:sp>
        <p:nvSpPr>
          <p:cNvPr id="374" name="Google Shape;374;p47"/>
          <p:cNvSpPr/>
          <p:nvPr/>
        </p:nvSpPr>
        <p:spPr>
          <a:xfrm>
            <a:off x="4848775" y="3062050"/>
            <a:ext cx="2330400" cy="67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metric evaluation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xcept</a:t>
            </a:r>
            <a:r>
              <a:rPr lang="en"/>
              <a:t>, accuray</a:t>
            </a:r>
            <a:endParaRPr/>
          </a:p>
        </p:txBody>
      </p:sp>
      <p:sp>
        <p:nvSpPr>
          <p:cNvPr id="375" name="Google Shape;375;p47"/>
          <p:cNvSpPr/>
          <p:nvPr/>
        </p:nvSpPr>
        <p:spPr>
          <a:xfrm>
            <a:off x="1339925" y="3161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Imbalance handling bersifat optional, sehingga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6" name="Google Shape;376;p47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son using MacBook Pro" id="381" name="Google Shape;381;p48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3944318" y="0"/>
            <a:ext cx="51996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2" name="Google Shape;382;p48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383" name="Google Shape;383;p48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8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8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48"/>
          <p:cNvSpPr txBox="1"/>
          <p:nvPr>
            <p:ph type="title"/>
          </p:nvPr>
        </p:nvSpPr>
        <p:spPr>
          <a:xfrm>
            <a:off x="4272925" y="930875"/>
            <a:ext cx="47454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noAutofit/>
          </a:bodyPr>
          <a:lstStyle/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200">
                <a:solidFill>
                  <a:srgbClr val="262626"/>
                </a:solidFill>
              </a:rPr>
              <a:t>Cross Validation</a:t>
            </a:r>
            <a:endParaRPr sz="3200">
              <a:solidFill>
                <a:srgbClr val="262626"/>
              </a:solidFill>
            </a:endParaRPr>
          </a:p>
          <a:p>
            <a:pPr indent="0" lvl="0" marL="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62626"/>
              </a:solidFill>
            </a:endParaRPr>
          </a:p>
          <a:p>
            <a:pPr indent="0" lvl="0" marL="4572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262626"/>
              </a:solidFill>
              <a:latin typeface="Mitr"/>
              <a:ea typeface="Mitr"/>
              <a:cs typeface="Mitr"/>
              <a:sym typeface="Mitr"/>
            </a:endParaRPr>
          </a:p>
        </p:txBody>
      </p:sp>
      <p:sp>
        <p:nvSpPr>
          <p:cNvPr id="387" name="Google Shape;387;p4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9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3" name="Google Shape;393;p49"/>
          <p:cNvSpPr/>
          <p:nvPr/>
        </p:nvSpPr>
        <p:spPr>
          <a:xfrm>
            <a:off x="440025" y="1851250"/>
            <a:ext cx="3096000" cy="12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Train : Model learn the task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Val : which model is the best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Test : How good is this model truly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4" name="Google Shape;39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2225" y="215625"/>
            <a:ext cx="4835926" cy="46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son using MacBook Pro" id="399" name="Google Shape;399;p50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3944318" y="0"/>
            <a:ext cx="51996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0" name="Google Shape;400;p50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401" name="Google Shape;401;p50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50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50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" name="Google Shape;404;p50"/>
          <p:cNvSpPr txBox="1"/>
          <p:nvPr>
            <p:ph type="title"/>
          </p:nvPr>
        </p:nvSpPr>
        <p:spPr>
          <a:xfrm>
            <a:off x="4272925" y="1086825"/>
            <a:ext cx="47454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noAutofit/>
          </a:bodyPr>
          <a:lstStyle/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262626"/>
                </a:solidFill>
              </a:rPr>
              <a:t>Random Forest</a:t>
            </a:r>
            <a:endParaRPr sz="3200">
              <a:solidFill>
                <a:srgbClr val="262626"/>
              </a:solidFill>
            </a:endParaRPr>
          </a:p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rgbClr val="262626"/>
              </a:solidFill>
            </a:endParaRPr>
          </a:p>
          <a:p>
            <a:pPr indent="-228600" lvl="0" marL="2413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tr"/>
              <a:buChar char="-"/>
            </a:pPr>
            <a:r>
              <a:rPr b="0" lang="en" sz="1400">
                <a:solidFill>
                  <a:srgbClr val="262626"/>
                </a:solidFill>
                <a:latin typeface="Mitr"/>
                <a:ea typeface="Mitr"/>
                <a:cs typeface="Mitr"/>
                <a:sym typeface="Mitr"/>
              </a:rPr>
              <a:t>kumpulan dari decision trees,</a:t>
            </a:r>
            <a:endParaRPr b="0" sz="1400">
              <a:solidFill>
                <a:schemeClr val="dk1"/>
              </a:solidFill>
              <a:latin typeface="Mitr"/>
              <a:ea typeface="Mitr"/>
              <a:cs typeface="Mitr"/>
              <a:sym typeface="Mitr"/>
            </a:endParaRPr>
          </a:p>
          <a:p>
            <a:pPr indent="-228600" lvl="0" marL="2413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tr"/>
              <a:buChar char="-"/>
            </a:pPr>
            <a:r>
              <a:rPr b="0" lang="en" sz="1400">
                <a:solidFill>
                  <a:srgbClr val="262626"/>
                </a:solidFill>
                <a:latin typeface="Mitr"/>
                <a:ea typeface="Mitr"/>
                <a:cs typeface="Mitr"/>
                <a:sym typeface="Mitr"/>
              </a:rPr>
              <a:t>pembentukan decision trees nya menggunakan metode bootstrap</a:t>
            </a:r>
            <a:endParaRPr sz="1400">
              <a:solidFill>
                <a:srgbClr val="262626"/>
              </a:solidFill>
            </a:endParaRPr>
          </a:p>
          <a:p>
            <a:pPr indent="0" lvl="0" marL="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rgbClr val="262626"/>
              </a:solidFill>
            </a:endParaRPr>
          </a:p>
          <a:p>
            <a:pPr indent="0" lvl="0" marL="12700" marR="0" rtl="0" algn="ctr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rgbClr val="262626"/>
              </a:solidFill>
            </a:endParaRPr>
          </a:p>
          <a:p>
            <a:pPr indent="0" lvl="0" marL="12700" marR="0" rtl="0" algn="ctr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3200">
              <a:solidFill>
                <a:srgbClr val="262626"/>
              </a:solidFill>
            </a:endParaRPr>
          </a:p>
        </p:txBody>
      </p:sp>
      <p:sp>
        <p:nvSpPr>
          <p:cNvPr id="405" name="Google Shape;405;p5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1"/>
          <p:cNvSpPr txBox="1"/>
          <p:nvPr/>
        </p:nvSpPr>
        <p:spPr>
          <a:xfrm>
            <a:off x="665548" y="907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1" name="Google Shape;411;p51"/>
          <p:cNvSpPr txBox="1"/>
          <p:nvPr/>
        </p:nvSpPr>
        <p:spPr>
          <a:xfrm>
            <a:off x="647527" y="3095714"/>
            <a:ext cx="142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2" name="Google Shape;412;p51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8577" y="262600"/>
            <a:ext cx="7988980" cy="4257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2"/>
          <p:cNvSpPr txBox="1"/>
          <p:nvPr/>
        </p:nvSpPr>
        <p:spPr>
          <a:xfrm>
            <a:off x="665548" y="907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9" name="Google Shape;419;p52"/>
          <p:cNvSpPr txBox="1"/>
          <p:nvPr/>
        </p:nvSpPr>
        <p:spPr>
          <a:xfrm>
            <a:off x="647527" y="3095714"/>
            <a:ext cx="142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0" name="Google Shape;420;p52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2"/>
          <p:cNvSpPr txBox="1"/>
          <p:nvPr/>
        </p:nvSpPr>
        <p:spPr>
          <a:xfrm>
            <a:off x="6096750" y="1613550"/>
            <a:ext cx="39408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50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Decision Tree </a:t>
            </a:r>
            <a:endParaRPr b="1" i="0" sz="5000" u="none" cap="none" strike="noStrik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22" name="Google Shape;422;p52"/>
          <p:cNvSpPr txBox="1"/>
          <p:nvPr/>
        </p:nvSpPr>
        <p:spPr>
          <a:xfrm>
            <a:off x="544775" y="1072725"/>
            <a:ext cx="440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-1905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Trebuchet MS"/>
              <a:buChar char="●"/>
            </a:pPr>
            <a:r>
              <a:rPr i="0" lang="en" sz="1200" u="none" cap="none" strike="noStrike">
                <a:solidFill>
                  <a:srgbClr val="292929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Machine Learning Algorithm that constructs “rules” that divide the data into several “decisions” after one another, so it looks like a “tree”. </a:t>
            </a:r>
            <a:endParaRPr b="1" i="0" sz="1200" u="none" cap="none" strike="noStrike">
              <a:solidFill>
                <a:srgbClr val="292929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3" name="Google Shape;423;p52"/>
          <p:cNvSpPr txBox="1"/>
          <p:nvPr/>
        </p:nvSpPr>
        <p:spPr>
          <a:xfrm>
            <a:off x="595350" y="337975"/>
            <a:ext cx="4238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latin typeface="Trebuchet MS"/>
                <a:ea typeface="Trebuchet MS"/>
                <a:cs typeface="Trebuchet MS"/>
                <a:sym typeface="Trebuchet MS"/>
              </a:rPr>
              <a:t>Flashback….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Decision Tree?</a:t>
            </a:r>
            <a:endParaRPr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4" name="Google Shape;424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400" y="1979175"/>
            <a:ext cx="3681800" cy="2211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2"/>
          <p:cNvSpPr/>
          <p:nvPr/>
        </p:nvSpPr>
        <p:spPr>
          <a:xfrm>
            <a:off x="935775" y="4444375"/>
            <a:ext cx="52170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Reference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: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The Basics of Decision Trees : </a:t>
            </a: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Link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Classification in Decision Tree — A Step by Step CART (Classification And Regression Tree) : </a:t>
            </a: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Link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6" name="Google Shape;426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5675" y="1095600"/>
            <a:ext cx="3912750" cy="295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3"/>
          <p:cNvSpPr txBox="1"/>
          <p:nvPr/>
        </p:nvSpPr>
        <p:spPr>
          <a:xfrm>
            <a:off x="665548" y="907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2" name="Google Shape;432;p53"/>
          <p:cNvSpPr txBox="1"/>
          <p:nvPr/>
        </p:nvSpPr>
        <p:spPr>
          <a:xfrm>
            <a:off x="647527" y="3095714"/>
            <a:ext cx="142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3" name="Google Shape;433;p53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3"/>
          <p:cNvSpPr txBox="1"/>
          <p:nvPr/>
        </p:nvSpPr>
        <p:spPr>
          <a:xfrm>
            <a:off x="5320375" y="1584788"/>
            <a:ext cx="39408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50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Decision Tree </a:t>
            </a:r>
            <a:endParaRPr b="1" i="0" sz="5000" u="none" cap="none" strike="noStrik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35" name="Google Shape;435;p53"/>
          <p:cNvSpPr txBox="1"/>
          <p:nvPr/>
        </p:nvSpPr>
        <p:spPr>
          <a:xfrm>
            <a:off x="544775" y="907625"/>
            <a:ext cx="4117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53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rebuchet MS"/>
                <a:ea typeface="Trebuchet MS"/>
                <a:cs typeface="Trebuchet MS"/>
                <a:sym typeface="Trebuchet MS"/>
              </a:rPr>
              <a:t>How Does Random Forest Work?</a:t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7" name="Google Shape;43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0327" y="1844888"/>
            <a:ext cx="5301865" cy="1622213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3"/>
          <p:cNvSpPr/>
          <p:nvPr/>
        </p:nvSpPr>
        <p:spPr>
          <a:xfrm>
            <a:off x="1035125" y="773325"/>
            <a:ext cx="55911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This simulation uses a “dummy” data set as follow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/>
        </p:nvSpPr>
        <p:spPr>
          <a:xfrm>
            <a:off x="665548" y="907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4" name="Google Shape;444;p54"/>
          <p:cNvSpPr txBox="1"/>
          <p:nvPr/>
        </p:nvSpPr>
        <p:spPr>
          <a:xfrm>
            <a:off x="647527" y="3095714"/>
            <a:ext cx="142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5" name="Google Shape;445;p54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4"/>
          <p:cNvSpPr txBox="1"/>
          <p:nvPr/>
        </p:nvSpPr>
        <p:spPr>
          <a:xfrm>
            <a:off x="544775" y="907625"/>
            <a:ext cx="4117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4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rebuchet MS"/>
                <a:ea typeface="Trebuchet MS"/>
                <a:cs typeface="Trebuchet MS"/>
                <a:sym typeface="Trebuchet MS"/>
              </a:rPr>
              <a:t>understand first Resampling Methods — Bootstrap </a:t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48" name="Google Shape;44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725" y="794600"/>
            <a:ext cx="3053400" cy="409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4"/>
          <p:cNvSpPr/>
          <p:nvPr/>
        </p:nvSpPr>
        <p:spPr>
          <a:xfrm>
            <a:off x="4083125" y="1611525"/>
            <a:ext cx="4661100" cy="20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Membuat sample dari original populasi 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sebanyak N dan 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size 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sample </a:t>
            </a: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nya pun sebanyak 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5"/>
          <p:cNvSpPr txBox="1"/>
          <p:nvPr/>
        </p:nvSpPr>
        <p:spPr>
          <a:xfrm>
            <a:off x="665548" y="907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5" name="Google Shape;455;p55"/>
          <p:cNvSpPr txBox="1"/>
          <p:nvPr/>
        </p:nvSpPr>
        <p:spPr>
          <a:xfrm>
            <a:off x="647527" y="3095714"/>
            <a:ext cx="142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6" name="Google Shape;456;p55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5"/>
          <p:cNvSpPr txBox="1"/>
          <p:nvPr/>
        </p:nvSpPr>
        <p:spPr>
          <a:xfrm>
            <a:off x="5320375" y="1584788"/>
            <a:ext cx="39408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50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Decision Tree </a:t>
            </a:r>
            <a:endParaRPr b="1" i="0" sz="5000" u="none" cap="none" strike="noStrik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58" name="Google Shape;458;p55"/>
          <p:cNvSpPr txBox="1"/>
          <p:nvPr/>
        </p:nvSpPr>
        <p:spPr>
          <a:xfrm>
            <a:off x="544775" y="907625"/>
            <a:ext cx="4117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5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rebuchet MS"/>
                <a:ea typeface="Trebuchet MS"/>
                <a:cs typeface="Trebuchet MS"/>
                <a:sym typeface="Trebuchet MS"/>
              </a:rPr>
              <a:t>1. Draw a random bootstrap sample of size m :</a:t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0" name="Google Shape;460;p55"/>
          <p:cNvSpPr/>
          <p:nvPr/>
        </p:nvSpPr>
        <p:spPr>
          <a:xfrm>
            <a:off x="349325" y="773325"/>
            <a:ext cx="55911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this simulation, will create 3 bootstrap data set. The important detail is that we are allowed to select the same sample more than once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61" name="Google Shape;46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0202" y="1201725"/>
            <a:ext cx="3947006" cy="348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5" y="2164348"/>
            <a:ext cx="4435700" cy="1357179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5"/>
          <p:cNvSpPr/>
          <p:nvPr/>
        </p:nvSpPr>
        <p:spPr>
          <a:xfrm>
            <a:off x="4493475" y="2836550"/>
            <a:ext cx="594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6"/>
          <p:cNvSpPr txBox="1"/>
          <p:nvPr/>
        </p:nvSpPr>
        <p:spPr>
          <a:xfrm>
            <a:off x="665548" y="907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9" name="Google Shape;469;p56"/>
          <p:cNvSpPr txBox="1"/>
          <p:nvPr/>
        </p:nvSpPr>
        <p:spPr>
          <a:xfrm>
            <a:off x="647527" y="3552914"/>
            <a:ext cx="142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0" name="Google Shape;470;p56"/>
          <p:cNvSpPr txBox="1"/>
          <p:nvPr/>
        </p:nvSpPr>
        <p:spPr>
          <a:xfrm>
            <a:off x="544775" y="907625"/>
            <a:ext cx="4117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56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rebuchet MS"/>
                <a:ea typeface="Trebuchet MS"/>
                <a:cs typeface="Trebuchet MS"/>
                <a:sym typeface="Trebuchet MS"/>
              </a:rPr>
              <a:t>2. Grow a decision tree from the bootstrap sample </a:t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2" name="Google Shape;472;p56"/>
          <p:cNvSpPr txBox="1"/>
          <p:nvPr/>
        </p:nvSpPr>
        <p:spPr>
          <a:xfrm>
            <a:off x="665548" y="29650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3" name="Google Shape;473;p56"/>
          <p:cNvSpPr txBox="1"/>
          <p:nvPr/>
        </p:nvSpPr>
        <p:spPr>
          <a:xfrm>
            <a:off x="544775" y="2965025"/>
            <a:ext cx="4117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6"/>
          <p:cNvSpPr/>
          <p:nvPr/>
        </p:nvSpPr>
        <p:spPr>
          <a:xfrm>
            <a:off x="33875" y="4226700"/>
            <a:ext cx="4299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no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475" name="Google Shape;475;p56"/>
          <p:cNvSpPr/>
          <p:nvPr/>
        </p:nvSpPr>
        <p:spPr>
          <a:xfrm>
            <a:off x="643475" y="4226700"/>
            <a:ext cx="4299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yes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476" name="Google Shape;476;p56"/>
          <p:cNvSpPr/>
          <p:nvPr/>
        </p:nvSpPr>
        <p:spPr>
          <a:xfrm>
            <a:off x="948275" y="4302900"/>
            <a:ext cx="4299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yes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477" name="Google Shape;477;p56"/>
          <p:cNvSpPr/>
          <p:nvPr/>
        </p:nvSpPr>
        <p:spPr>
          <a:xfrm>
            <a:off x="1557875" y="4249800"/>
            <a:ext cx="429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no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478" name="Google Shape;478;p56"/>
          <p:cNvSpPr/>
          <p:nvPr/>
        </p:nvSpPr>
        <p:spPr>
          <a:xfrm>
            <a:off x="1938875" y="4173600"/>
            <a:ext cx="429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no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479" name="Google Shape;479;p56"/>
          <p:cNvSpPr/>
          <p:nvPr/>
        </p:nvSpPr>
        <p:spPr>
          <a:xfrm>
            <a:off x="2472275" y="4173600"/>
            <a:ext cx="429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yes</a:t>
            </a:r>
            <a:endParaRPr sz="900">
              <a:solidFill>
                <a:schemeClr val="lt1"/>
              </a:solidFill>
            </a:endParaRPr>
          </a:p>
        </p:txBody>
      </p:sp>
      <p:pic>
        <p:nvPicPr>
          <p:cNvPr id="480" name="Google Shape;48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8075" y="2848549"/>
            <a:ext cx="2971772" cy="207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437" y="2776650"/>
            <a:ext cx="2810771" cy="21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2247" y="2801925"/>
            <a:ext cx="2709352" cy="206593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6"/>
          <p:cNvSpPr/>
          <p:nvPr/>
        </p:nvSpPr>
        <p:spPr>
          <a:xfrm>
            <a:off x="733725" y="2684025"/>
            <a:ext cx="8168400" cy="55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84" name="Google Shape;484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2953" y="1231025"/>
            <a:ext cx="3207472" cy="91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49977" y="1220400"/>
            <a:ext cx="3242636" cy="93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52400" y="1231025"/>
            <a:ext cx="3194341" cy="9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56"/>
          <p:cNvSpPr/>
          <p:nvPr/>
        </p:nvSpPr>
        <p:spPr>
          <a:xfrm>
            <a:off x="-270000" y="1320850"/>
            <a:ext cx="270000" cy="8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8" name="Google Shape;488;p56"/>
          <p:cNvSpPr/>
          <p:nvPr/>
        </p:nvSpPr>
        <p:spPr>
          <a:xfrm rot="5400000">
            <a:off x="1500613" y="2494796"/>
            <a:ext cx="8145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6"/>
          <p:cNvSpPr/>
          <p:nvPr/>
        </p:nvSpPr>
        <p:spPr>
          <a:xfrm rot="5400000">
            <a:off x="4243813" y="2494796"/>
            <a:ext cx="8145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6"/>
          <p:cNvSpPr/>
          <p:nvPr/>
        </p:nvSpPr>
        <p:spPr>
          <a:xfrm rot="5400000">
            <a:off x="7368013" y="2494796"/>
            <a:ext cx="8145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6"/>
          <p:cNvSpPr/>
          <p:nvPr/>
        </p:nvSpPr>
        <p:spPr>
          <a:xfrm>
            <a:off x="387325" y="839025"/>
            <a:ext cx="20850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bootstrap sample</a:t>
            </a: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2" name="Google Shape;492;p56"/>
          <p:cNvSpPr/>
          <p:nvPr/>
        </p:nvSpPr>
        <p:spPr>
          <a:xfrm>
            <a:off x="3587725" y="839025"/>
            <a:ext cx="20850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bootstrap sample</a:t>
            </a: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3" name="Google Shape;493;p56"/>
          <p:cNvSpPr/>
          <p:nvPr/>
        </p:nvSpPr>
        <p:spPr>
          <a:xfrm>
            <a:off x="6559525" y="839025"/>
            <a:ext cx="20850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bootstrap sample</a:t>
            </a: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4" name="Google Shape;494;p56"/>
          <p:cNvSpPr/>
          <p:nvPr/>
        </p:nvSpPr>
        <p:spPr>
          <a:xfrm>
            <a:off x="6800450" y="2363025"/>
            <a:ext cx="10164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Tree 3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5" name="Google Shape;495;p56"/>
          <p:cNvSpPr/>
          <p:nvPr/>
        </p:nvSpPr>
        <p:spPr>
          <a:xfrm>
            <a:off x="3676250" y="2363025"/>
            <a:ext cx="10164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Tree 2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6" name="Google Shape;496;p56"/>
          <p:cNvSpPr/>
          <p:nvPr/>
        </p:nvSpPr>
        <p:spPr>
          <a:xfrm>
            <a:off x="933050" y="2363025"/>
            <a:ext cx="10164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Tree 1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7" name="Google Shape;497;p56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7"/>
          <p:cNvSpPr txBox="1"/>
          <p:nvPr/>
        </p:nvSpPr>
        <p:spPr>
          <a:xfrm>
            <a:off x="665548" y="907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3" name="Google Shape;503;p57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57"/>
          <p:cNvSpPr txBox="1"/>
          <p:nvPr/>
        </p:nvSpPr>
        <p:spPr>
          <a:xfrm>
            <a:off x="544775" y="907625"/>
            <a:ext cx="4117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7"/>
          <p:cNvSpPr/>
          <p:nvPr/>
        </p:nvSpPr>
        <p:spPr>
          <a:xfrm>
            <a:off x="273125" y="11325"/>
            <a:ext cx="8709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rebuchet MS"/>
                <a:ea typeface="Trebuchet MS"/>
                <a:cs typeface="Trebuchet MS"/>
                <a:sym typeface="Trebuchet MS"/>
              </a:rPr>
              <a:t>3. Aggregate the prediction by each tree to assign the class label by majority vote</a:t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6" name="Google Shape;506;p57"/>
          <p:cNvSpPr/>
          <p:nvPr/>
        </p:nvSpPr>
        <p:spPr>
          <a:xfrm>
            <a:off x="33875" y="2626500"/>
            <a:ext cx="4299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no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507" name="Google Shape;507;p57"/>
          <p:cNvSpPr/>
          <p:nvPr/>
        </p:nvSpPr>
        <p:spPr>
          <a:xfrm>
            <a:off x="643475" y="2626500"/>
            <a:ext cx="4299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yes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508" name="Google Shape;508;p57"/>
          <p:cNvSpPr/>
          <p:nvPr/>
        </p:nvSpPr>
        <p:spPr>
          <a:xfrm>
            <a:off x="948275" y="2245500"/>
            <a:ext cx="4299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yes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509" name="Google Shape;509;p57"/>
          <p:cNvSpPr/>
          <p:nvPr/>
        </p:nvSpPr>
        <p:spPr>
          <a:xfrm>
            <a:off x="1557875" y="2192400"/>
            <a:ext cx="429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no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510" name="Google Shape;510;p57"/>
          <p:cNvSpPr/>
          <p:nvPr/>
        </p:nvSpPr>
        <p:spPr>
          <a:xfrm>
            <a:off x="1938875" y="2573400"/>
            <a:ext cx="429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no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511" name="Google Shape;511;p57"/>
          <p:cNvSpPr/>
          <p:nvPr/>
        </p:nvSpPr>
        <p:spPr>
          <a:xfrm>
            <a:off x="2472275" y="2573400"/>
            <a:ext cx="429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yes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512" name="Google Shape;512;p57"/>
          <p:cNvSpPr/>
          <p:nvPr/>
        </p:nvSpPr>
        <p:spPr>
          <a:xfrm>
            <a:off x="273125" y="3167125"/>
            <a:ext cx="76386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Misal :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Tree ke-1 : prediksi “Yes” -&gt; 0.8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Tree ke-2 : prediksi “No” -&gt; 0.4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Tree ke-3 : prediksi “Yes” -&gt; 0.9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Maka hasil prediksi akhir adalah (0.8 + 0.4 + 0.9)/3 = 0.7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Karena 0.7 &gt; 0.5 maka akan masuk targe/label 1 yang artinya “Yes”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13" name="Google Shape;51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075" y="791149"/>
            <a:ext cx="2971772" cy="207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437" y="719250"/>
            <a:ext cx="2810771" cy="21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2247" y="744525"/>
            <a:ext cx="2709352" cy="2065936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57"/>
          <p:cNvSpPr/>
          <p:nvPr/>
        </p:nvSpPr>
        <p:spPr>
          <a:xfrm>
            <a:off x="1438575" y="626625"/>
            <a:ext cx="1026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rebuchet MS"/>
                <a:ea typeface="Trebuchet MS"/>
                <a:cs typeface="Trebuchet MS"/>
                <a:sym typeface="Trebuchet MS"/>
              </a:rPr>
              <a:t>Tree 1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7" name="Google Shape;517;p57"/>
          <p:cNvSpPr/>
          <p:nvPr/>
        </p:nvSpPr>
        <p:spPr>
          <a:xfrm>
            <a:off x="4105575" y="626625"/>
            <a:ext cx="1026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rebuchet MS"/>
                <a:ea typeface="Trebuchet MS"/>
                <a:cs typeface="Trebuchet MS"/>
                <a:sym typeface="Trebuchet MS"/>
              </a:rPr>
              <a:t>Tree 2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8" name="Google Shape;518;p57"/>
          <p:cNvSpPr/>
          <p:nvPr/>
        </p:nvSpPr>
        <p:spPr>
          <a:xfrm>
            <a:off x="7382175" y="626625"/>
            <a:ext cx="1026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rebuchet MS"/>
                <a:ea typeface="Trebuchet MS"/>
                <a:cs typeface="Trebuchet MS"/>
                <a:sym typeface="Trebuchet MS"/>
              </a:rPr>
              <a:t>Tree 3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son using MacBook Pro" id="523" name="Google Shape;523;p58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3944318" y="0"/>
            <a:ext cx="51996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p58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525" name="Google Shape;525;p58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58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58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8" name="Google Shape;528;p58"/>
          <p:cNvSpPr txBox="1"/>
          <p:nvPr>
            <p:ph type="title"/>
          </p:nvPr>
        </p:nvSpPr>
        <p:spPr>
          <a:xfrm>
            <a:off x="4272925" y="1772625"/>
            <a:ext cx="4745400" cy="1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noAutofit/>
          </a:bodyPr>
          <a:lstStyle/>
          <a:p>
            <a:pPr indent="0" lvl="0" marL="12700" marR="0" rtl="0" algn="ctr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200">
                <a:solidFill>
                  <a:srgbClr val="262626"/>
                </a:solidFill>
              </a:rPr>
              <a:t>Metric Evaluation</a:t>
            </a:r>
            <a:endParaRPr sz="3200">
              <a:solidFill>
                <a:srgbClr val="262626"/>
              </a:solidFill>
            </a:endParaRPr>
          </a:p>
          <a:p>
            <a:pPr indent="0" lvl="0" marL="12700" marR="0" rtl="0" algn="ctr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200">
                <a:solidFill>
                  <a:srgbClr val="262626"/>
                </a:solidFill>
              </a:rPr>
              <a:t>(AUC, Precision, Recall)</a:t>
            </a:r>
            <a:endParaRPr sz="3200">
              <a:solidFill>
                <a:srgbClr val="262626"/>
              </a:solidFill>
            </a:endParaRPr>
          </a:p>
        </p:txBody>
      </p:sp>
      <p:sp>
        <p:nvSpPr>
          <p:cNvPr id="529" name="Google Shape;529;p5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9"/>
          <p:cNvSpPr/>
          <p:nvPr/>
        </p:nvSpPr>
        <p:spPr>
          <a:xfrm>
            <a:off x="0" y="0"/>
            <a:ext cx="2495912" cy="5143500"/>
          </a:xfrm>
          <a:custGeom>
            <a:rect b="b" l="l" r="r" t="t"/>
            <a:pathLst>
              <a:path extrusionOk="0" h="10287000" w="7923530">
                <a:moveTo>
                  <a:pt x="566853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5209055" y="0"/>
                </a:lnTo>
                <a:lnTo>
                  <a:pt x="5217529" y="6124"/>
                </a:lnTo>
                <a:lnTo>
                  <a:pt x="5260930" y="38040"/>
                </a:lnTo>
                <a:lnTo>
                  <a:pt x="5304069" y="70310"/>
                </a:lnTo>
                <a:lnTo>
                  <a:pt x="5346938" y="102927"/>
                </a:lnTo>
                <a:lnTo>
                  <a:pt x="5389536" y="135891"/>
                </a:lnTo>
                <a:lnTo>
                  <a:pt x="5431862" y="169203"/>
                </a:lnTo>
                <a:lnTo>
                  <a:pt x="5473915" y="202862"/>
                </a:lnTo>
                <a:lnTo>
                  <a:pt x="5515692" y="236869"/>
                </a:lnTo>
                <a:lnTo>
                  <a:pt x="5557200" y="271217"/>
                </a:lnTo>
                <a:lnTo>
                  <a:pt x="5598419" y="305898"/>
                </a:lnTo>
                <a:lnTo>
                  <a:pt x="5639350" y="340913"/>
                </a:lnTo>
                <a:lnTo>
                  <a:pt x="5679993" y="376261"/>
                </a:lnTo>
                <a:lnTo>
                  <a:pt x="5720349" y="411943"/>
                </a:lnTo>
                <a:lnTo>
                  <a:pt x="5760420" y="447959"/>
                </a:lnTo>
                <a:lnTo>
                  <a:pt x="5800185" y="484301"/>
                </a:lnTo>
                <a:lnTo>
                  <a:pt x="5839650" y="520962"/>
                </a:lnTo>
                <a:lnTo>
                  <a:pt x="5878813" y="557943"/>
                </a:lnTo>
                <a:lnTo>
                  <a:pt x="5917674" y="595244"/>
                </a:lnTo>
                <a:lnTo>
                  <a:pt x="5956230" y="632863"/>
                </a:lnTo>
                <a:lnTo>
                  <a:pt x="5994480" y="670802"/>
                </a:lnTo>
                <a:lnTo>
                  <a:pt x="6032417" y="709052"/>
                </a:lnTo>
                <a:lnTo>
                  <a:pt x="6070035" y="747607"/>
                </a:lnTo>
                <a:lnTo>
                  <a:pt x="6107333" y="786465"/>
                </a:lnTo>
                <a:lnTo>
                  <a:pt x="6144313" y="825627"/>
                </a:lnTo>
                <a:lnTo>
                  <a:pt x="6180976" y="865093"/>
                </a:lnTo>
                <a:lnTo>
                  <a:pt x="6217321" y="904863"/>
                </a:lnTo>
                <a:lnTo>
                  <a:pt x="6253331" y="944928"/>
                </a:lnTo>
                <a:lnTo>
                  <a:pt x="6289011" y="985281"/>
                </a:lnTo>
                <a:lnTo>
                  <a:pt x="6324360" y="1025922"/>
                </a:lnTo>
                <a:lnTo>
                  <a:pt x="6359378" y="1066851"/>
                </a:lnTo>
                <a:lnTo>
                  <a:pt x="6394063" y="1108069"/>
                </a:lnTo>
                <a:lnTo>
                  <a:pt x="6428416" y="1149575"/>
                </a:lnTo>
                <a:lnTo>
                  <a:pt x="6462417" y="1191359"/>
                </a:lnTo>
                <a:lnTo>
                  <a:pt x="6496075" y="1233414"/>
                </a:lnTo>
                <a:lnTo>
                  <a:pt x="6529387" y="1275741"/>
                </a:lnTo>
                <a:lnTo>
                  <a:pt x="6562353" y="1318338"/>
                </a:lnTo>
                <a:lnTo>
                  <a:pt x="6594970" y="1361206"/>
                </a:lnTo>
                <a:lnTo>
                  <a:pt x="6627237" y="1404344"/>
                </a:lnTo>
                <a:lnTo>
                  <a:pt x="6659149" y="1447746"/>
                </a:lnTo>
                <a:lnTo>
                  <a:pt x="6690702" y="1491404"/>
                </a:lnTo>
                <a:lnTo>
                  <a:pt x="6721894" y="1535317"/>
                </a:lnTo>
                <a:lnTo>
                  <a:pt x="6752726" y="1579483"/>
                </a:lnTo>
                <a:lnTo>
                  <a:pt x="6783199" y="1623898"/>
                </a:lnTo>
                <a:lnTo>
                  <a:pt x="6813311" y="1668562"/>
                </a:lnTo>
                <a:lnTo>
                  <a:pt x="6843059" y="1713480"/>
                </a:lnTo>
                <a:lnTo>
                  <a:pt x="6872437" y="1758635"/>
                </a:lnTo>
                <a:lnTo>
                  <a:pt x="6901443" y="1804025"/>
                </a:lnTo>
                <a:lnTo>
                  <a:pt x="6930076" y="1849650"/>
                </a:lnTo>
                <a:lnTo>
                  <a:pt x="6958334" y="1895509"/>
                </a:lnTo>
                <a:lnTo>
                  <a:pt x="6986217" y="1941602"/>
                </a:lnTo>
                <a:lnTo>
                  <a:pt x="7013721" y="1987930"/>
                </a:lnTo>
                <a:lnTo>
                  <a:pt x="7040846" y="2034470"/>
                </a:lnTo>
                <a:lnTo>
                  <a:pt x="7067589" y="2081226"/>
                </a:lnTo>
                <a:lnTo>
                  <a:pt x="7093948" y="2128200"/>
                </a:lnTo>
                <a:lnTo>
                  <a:pt x="7119921" y="2175392"/>
                </a:lnTo>
                <a:lnTo>
                  <a:pt x="7145505" y="2222807"/>
                </a:lnTo>
                <a:lnTo>
                  <a:pt x="7170710" y="2270420"/>
                </a:lnTo>
                <a:lnTo>
                  <a:pt x="7195520" y="2318234"/>
                </a:lnTo>
                <a:lnTo>
                  <a:pt x="7219935" y="2366247"/>
                </a:lnTo>
                <a:lnTo>
                  <a:pt x="7243955" y="2414457"/>
                </a:lnTo>
                <a:lnTo>
                  <a:pt x="7267579" y="2462864"/>
                </a:lnTo>
                <a:lnTo>
                  <a:pt x="7290809" y="2511465"/>
                </a:lnTo>
                <a:lnTo>
                  <a:pt x="7313650" y="2560264"/>
                </a:lnTo>
                <a:lnTo>
                  <a:pt x="7336085" y="2609239"/>
                </a:lnTo>
                <a:lnTo>
                  <a:pt x="7358114" y="2658391"/>
                </a:lnTo>
                <a:lnTo>
                  <a:pt x="7379740" y="2707722"/>
                </a:lnTo>
                <a:lnTo>
                  <a:pt x="7400963" y="2757230"/>
                </a:lnTo>
                <a:lnTo>
                  <a:pt x="7421785" y="2806918"/>
                </a:lnTo>
                <a:lnTo>
                  <a:pt x="7442192" y="2856775"/>
                </a:lnTo>
                <a:lnTo>
                  <a:pt x="7462192" y="2906791"/>
                </a:lnTo>
                <a:lnTo>
                  <a:pt x="7481785" y="2956966"/>
                </a:lnTo>
                <a:lnTo>
                  <a:pt x="7500967" y="3007301"/>
                </a:lnTo>
                <a:lnTo>
                  <a:pt x="7519736" y="3057797"/>
                </a:lnTo>
                <a:lnTo>
                  <a:pt x="7538091" y="3108455"/>
                </a:lnTo>
                <a:lnTo>
                  <a:pt x="7556029" y="3159251"/>
                </a:lnTo>
                <a:lnTo>
                  <a:pt x="7573550" y="3210187"/>
                </a:lnTo>
                <a:lnTo>
                  <a:pt x="7590654" y="3261262"/>
                </a:lnTo>
                <a:lnTo>
                  <a:pt x="7607341" y="3312475"/>
                </a:lnTo>
                <a:lnTo>
                  <a:pt x="7623611" y="3363826"/>
                </a:lnTo>
                <a:lnTo>
                  <a:pt x="7639464" y="3415313"/>
                </a:lnTo>
                <a:lnTo>
                  <a:pt x="7654895" y="3466928"/>
                </a:lnTo>
                <a:lnTo>
                  <a:pt x="7669901" y="3518661"/>
                </a:lnTo>
                <a:lnTo>
                  <a:pt x="7684481" y="3570513"/>
                </a:lnTo>
                <a:lnTo>
                  <a:pt x="7698635" y="3622483"/>
                </a:lnTo>
                <a:lnTo>
                  <a:pt x="7712364" y="3674572"/>
                </a:lnTo>
                <a:lnTo>
                  <a:pt x="7725666" y="3726779"/>
                </a:lnTo>
                <a:lnTo>
                  <a:pt x="7738541" y="3779094"/>
                </a:lnTo>
                <a:lnTo>
                  <a:pt x="7750985" y="3831505"/>
                </a:lnTo>
                <a:lnTo>
                  <a:pt x="7763000" y="3884011"/>
                </a:lnTo>
                <a:lnTo>
                  <a:pt x="7774584" y="3936611"/>
                </a:lnTo>
                <a:lnTo>
                  <a:pt x="7785738" y="3989304"/>
                </a:lnTo>
                <a:lnTo>
                  <a:pt x="7796461" y="4042091"/>
                </a:lnTo>
                <a:lnTo>
                  <a:pt x="7806755" y="4094974"/>
                </a:lnTo>
                <a:lnTo>
                  <a:pt x="7816616" y="4147932"/>
                </a:lnTo>
                <a:lnTo>
                  <a:pt x="7826045" y="4200965"/>
                </a:lnTo>
                <a:lnTo>
                  <a:pt x="7835039" y="4254072"/>
                </a:lnTo>
                <a:lnTo>
                  <a:pt x="7843597" y="4307254"/>
                </a:lnTo>
                <a:lnTo>
                  <a:pt x="7851717" y="4360511"/>
                </a:lnTo>
                <a:lnTo>
                  <a:pt x="7859401" y="4413842"/>
                </a:lnTo>
                <a:lnTo>
                  <a:pt x="7866650" y="4467223"/>
                </a:lnTo>
                <a:lnTo>
                  <a:pt x="7873462" y="4520655"/>
                </a:lnTo>
                <a:lnTo>
                  <a:pt x="7879838" y="4574140"/>
                </a:lnTo>
                <a:lnTo>
                  <a:pt x="7885776" y="4627680"/>
                </a:lnTo>
                <a:lnTo>
                  <a:pt x="7891276" y="4681274"/>
                </a:lnTo>
                <a:lnTo>
                  <a:pt x="7896337" y="4734904"/>
                </a:lnTo>
                <a:lnTo>
                  <a:pt x="7900959" y="4788570"/>
                </a:lnTo>
                <a:lnTo>
                  <a:pt x="7905143" y="4842272"/>
                </a:lnTo>
                <a:lnTo>
                  <a:pt x="7908887" y="4896006"/>
                </a:lnTo>
                <a:lnTo>
                  <a:pt x="7912192" y="4949772"/>
                </a:lnTo>
                <a:lnTo>
                  <a:pt x="7915059" y="5003565"/>
                </a:lnTo>
                <a:lnTo>
                  <a:pt x="7917484" y="5057390"/>
                </a:lnTo>
                <a:lnTo>
                  <a:pt x="7919467" y="5111224"/>
                </a:lnTo>
                <a:lnTo>
                  <a:pt x="7921008" y="5165067"/>
                </a:lnTo>
                <a:lnTo>
                  <a:pt x="7922107" y="5218918"/>
                </a:lnTo>
                <a:lnTo>
                  <a:pt x="7922767" y="5272778"/>
                </a:lnTo>
                <a:lnTo>
                  <a:pt x="7922986" y="5326647"/>
                </a:lnTo>
                <a:lnTo>
                  <a:pt x="7922767" y="5380516"/>
                </a:lnTo>
                <a:lnTo>
                  <a:pt x="7922107" y="5434376"/>
                </a:lnTo>
                <a:lnTo>
                  <a:pt x="7921008" y="5488227"/>
                </a:lnTo>
                <a:lnTo>
                  <a:pt x="7919467" y="5542069"/>
                </a:lnTo>
                <a:lnTo>
                  <a:pt x="7917484" y="5595903"/>
                </a:lnTo>
                <a:lnTo>
                  <a:pt x="7915059" y="5649728"/>
                </a:lnTo>
                <a:lnTo>
                  <a:pt x="7912192" y="5703522"/>
                </a:lnTo>
                <a:lnTo>
                  <a:pt x="7908887" y="5757287"/>
                </a:lnTo>
                <a:lnTo>
                  <a:pt x="7905143" y="5811022"/>
                </a:lnTo>
                <a:lnTo>
                  <a:pt x="7900959" y="5864723"/>
                </a:lnTo>
                <a:lnTo>
                  <a:pt x="7896337" y="5918390"/>
                </a:lnTo>
                <a:lnTo>
                  <a:pt x="7891276" y="5972019"/>
                </a:lnTo>
                <a:lnTo>
                  <a:pt x="7885776" y="6025614"/>
                </a:lnTo>
                <a:lnTo>
                  <a:pt x="7879838" y="6079153"/>
                </a:lnTo>
                <a:lnTo>
                  <a:pt x="7873462" y="6132638"/>
                </a:lnTo>
                <a:lnTo>
                  <a:pt x="7866650" y="6186070"/>
                </a:lnTo>
                <a:lnTo>
                  <a:pt x="7859401" y="6239451"/>
                </a:lnTo>
                <a:lnTo>
                  <a:pt x="7851717" y="6292783"/>
                </a:lnTo>
                <a:lnTo>
                  <a:pt x="7843597" y="6346039"/>
                </a:lnTo>
                <a:lnTo>
                  <a:pt x="7835039" y="6399221"/>
                </a:lnTo>
                <a:lnTo>
                  <a:pt x="7826045" y="6452328"/>
                </a:lnTo>
                <a:lnTo>
                  <a:pt x="7816616" y="6505361"/>
                </a:lnTo>
                <a:lnTo>
                  <a:pt x="7806755" y="6558319"/>
                </a:lnTo>
                <a:lnTo>
                  <a:pt x="7796461" y="6611202"/>
                </a:lnTo>
                <a:lnTo>
                  <a:pt x="7785738" y="6663989"/>
                </a:lnTo>
                <a:lnTo>
                  <a:pt x="7774584" y="6716683"/>
                </a:lnTo>
                <a:lnTo>
                  <a:pt x="7763000" y="6769283"/>
                </a:lnTo>
                <a:lnTo>
                  <a:pt x="7750985" y="6821789"/>
                </a:lnTo>
                <a:lnTo>
                  <a:pt x="7738541" y="6874199"/>
                </a:lnTo>
                <a:lnTo>
                  <a:pt x="7725666" y="6926514"/>
                </a:lnTo>
                <a:lnTo>
                  <a:pt x="7712364" y="6978722"/>
                </a:lnTo>
                <a:lnTo>
                  <a:pt x="7698635" y="7030810"/>
                </a:lnTo>
                <a:lnTo>
                  <a:pt x="7684481" y="7082781"/>
                </a:lnTo>
                <a:lnTo>
                  <a:pt x="7669901" y="7134633"/>
                </a:lnTo>
                <a:lnTo>
                  <a:pt x="7654895" y="7186366"/>
                </a:lnTo>
                <a:lnTo>
                  <a:pt x="7639464" y="7237981"/>
                </a:lnTo>
                <a:lnTo>
                  <a:pt x="7623611" y="7289468"/>
                </a:lnTo>
                <a:lnTo>
                  <a:pt x="7607341" y="7340819"/>
                </a:lnTo>
                <a:lnTo>
                  <a:pt x="7590654" y="7392032"/>
                </a:lnTo>
                <a:lnTo>
                  <a:pt x="7573550" y="7443106"/>
                </a:lnTo>
                <a:lnTo>
                  <a:pt x="7556029" y="7494042"/>
                </a:lnTo>
                <a:lnTo>
                  <a:pt x="7538091" y="7544838"/>
                </a:lnTo>
                <a:lnTo>
                  <a:pt x="7519738" y="7595496"/>
                </a:lnTo>
                <a:lnTo>
                  <a:pt x="7500973" y="7645992"/>
                </a:lnTo>
                <a:lnTo>
                  <a:pt x="7481795" y="7696328"/>
                </a:lnTo>
                <a:lnTo>
                  <a:pt x="7462204" y="7746503"/>
                </a:lnTo>
                <a:lnTo>
                  <a:pt x="7442201" y="7796518"/>
                </a:lnTo>
                <a:lnTo>
                  <a:pt x="7421785" y="7846375"/>
                </a:lnTo>
                <a:lnTo>
                  <a:pt x="7400963" y="7896063"/>
                </a:lnTo>
                <a:lnTo>
                  <a:pt x="7379740" y="7945572"/>
                </a:lnTo>
                <a:lnTo>
                  <a:pt x="7358114" y="7994902"/>
                </a:lnTo>
                <a:lnTo>
                  <a:pt x="7336085" y="8044054"/>
                </a:lnTo>
                <a:lnTo>
                  <a:pt x="7313650" y="8093030"/>
                </a:lnTo>
                <a:lnTo>
                  <a:pt x="7290809" y="8141829"/>
                </a:lnTo>
                <a:lnTo>
                  <a:pt x="7267579" y="8190430"/>
                </a:lnTo>
                <a:lnTo>
                  <a:pt x="7243955" y="8238836"/>
                </a:lnTo>
                <a:lnTo>
                  <a:pt x="7219935" y="8287047"/>
                </a:lnTo>
                <a:lnTo>
                  <a:pt x="7195520" y="8335060"/>
                </a:lnTo>
                <a:lnTo>
                  <a:pt x="7170710" y="8382874"/>
                </a:lnTo>
                <a:lnTo>
                  <a:pt x="7145505" y="8430487"/>
                </a:lnTo>
                <a:lnTo>
                  <a:pt x="7119921" y="8477892"/>
                </a:lnTo>
                <a:lnTo>
                  <a:pt x="7093948" y="8525082"/>
                </a:lnTo>
                <a:lnTo>
                  <a:pt x="7067589" y="8572057"/>
                </a:lnTo>
                <a:lnTo>
                  <a:pt x="7040846" y="8618817"/>
                </a:lnTo>
                <a:lnTo>
                  <a:pt x="7013721" y="8665362"/>
                </a:lnTo>
                <a:lnTo>
                  <a:pt x="6986217" y="8711692"/>
                </a:lnTo>
                <a:lnTo>
                  <a:pt x="6958334" y="8757784"/>
                </a:lnTo>
                <a:lnTo>
                  <a:pt x="6930076" y="8803644"/>
                </a:lnTo>
                <a:lnTo>
                  <a:pt x="6901443" y="8849269"/>
                </a:lnTo>
                <a:lnTo>
                  <a:pt x="6872437" y="8894659"/>
                </a:lnTo>
                <a:lnTo>
                  <a:pt x="6843059" y="8939814"/>
                </a:lnTo>
                <a:lnTo>
                  <a:pt x="6813311" y="8984732"/>
                </a:lnTo>
                <a:lnTo>
                  <a:pt x="6783199" y="9029395"/>
                </a:lnTo>
                <a:lnTo>
                  <a:pt x="6752726" y="9073811"/>
                </a:lnTo>
                <a:lnTo>
                  <a:pt x="6721894" y="9117976"/>
                </a:lnTo>
                <a:lnTo>
                  <a:pt x="6690702" y="9161889"/>
                </a:lnTo>
                <a:lnTo>
                  <a:pt x="6659149" y="9205548"/>
                </a:lnTo>
                <a:lnTo>
                  <a:pt x="6627237" y="9248949"/>
                </a:lnTo>
                <a:lnTo>
                  <a:pt x="6594970" y="9292087"/>
                </a:lnTo>
                <a:lnTo>
                  <a:pt x="6562353" y="9334956"/>
                </a:lnTo>
                <a:lnTo>
                  <a:pt x="6529387" y="9377555"/>
                </a:lnTo>
                <a:lnTo>
                  <a:pt x="6496075" y="9419881"/>
                </a:lnTo>
                <a:lnTo>
                  <a:pt x="6462417" y="9461934"/>
                </a:lnTo>
                <a:lnTo>
                  <a:pt x="6428416" y="9503711"/>
                </a:lnTo>
                <a:lnTo>
                  <a:pt x="6394063" y="9545219"/>
                </a:lnTo>
                <a:lnTo>
                  <a:pt x="6359378" y="9586438"/>
                </a:lnTo>
                <a:lnTo>
                  <a:pt x="6324360" y="9627369"/>
                </a:lnTo>
                <a:lnTo>
                  <a:pt x="6289011" y="9668012"/>
                </a:lnTo>
                <a:lnTo>
                  <a:pt x="6253331" y="9708368"/>
                </a:lnTo>
                <a:lnTo>
                  <a:pt x="6217321" y="9748438"/>
                </a:lnTo>
                <a:lnTo>
                  <a:pt x="6180976" y="9788203"/>
                </a:lnTo>
                <a:lnTo>
                  <a:pt x="6144313" y="9827668"/>
                </a:lnTo>
                <a:lnTo>
                  <a:pt x="6107333" y="9866832"/>
                </a:lnTo>
                <a:lnTo>
                  <a:pt x="6070035" y="9905692"/>
                </a:lnTo>
                <a:lnTo>
                  <a:pt x="6032417" y="9944249"/>
                </a:lnTo>
                <a:lnTo>
                  <a:pt x="5994480" y="9982499"/>
                </a:lnTo>
                <a:lnTo>
                  <a:pt x="5956230" y="10020436"/>
                </a:lnTo>
                <a:lnTo>
                  <a:pt x="5917674" y="10058054"/>
                </a:lnTo>
                <a:lnTo>
                  <a:pt x="5878813" y="10095352"/>
                </a:lnTo>
                <a:lnTo>
                  <a:pt x="5839650" y="10132332"/>
                </a:lnTo>
                <a:lnTo>
                  <a:pt x="5800185" y="10168994"/>
                </a:lnTo>
                <a:lnTo>
                  <a:pt x="5760420" y="10205340"/>
                </a:lnTo>
                <a:lnTo>
                  <a:pt x="5720349" y="10241350"/>
                </a:lnTo>
                <a:lnTo>
                  <a:pt x="5679993" y="10277030"/>
                </a:lnTo>
                <a:lnTo>
                  <a:pt x="5668530" y="10287000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9"/>
          <p:cNvSpPr txBox="1"/>
          <p:nvPr/>
        </p:nvSpPr>
        <p:spPr>
          <a:xfrm>
            <a:off x="103075" y="2153475"/>
            <a:ext cx="20343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ct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Confusion Matrix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6" name="Google Shape;536;p59"/>
          <p:cNvSpPr/>
          <p:nvPr/>
        </p:nvSpPr>
        <p:spPr>
          <a:xfrm>
            <a:off x="8432833" y="4470985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59"/>
          <p:cNvSpPr txBox="1"/>
          <p:nvPr/>
        </p:nvSpPr>
        <p:spPr>
          <a:xfrm>
            <a:off x="3887625" y="3680925"/>
            <a:ext cx="3989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False Positive</a:t>
            </a:r>
            <a:r>
              <a:rPr b="0" i="0" lang="en" sz="1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: Prediksi </a:t>
            </a:r>
            <a:r>
              <a:rPr lang="en" sz="1000">
                <a:latin typeface="Georgia"/>
                <a:ea typeface="Georgia"/>
                <a:cs typeface="Georgia"/>
                <a:sym typeface="Georgia"/>
              </a:rPr>
              <a:t>Positif </a:t>
            </a:r>
            <a:r>
              <a:rPr b="0" i="0" lang="en" sz="1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, tapi salah (yang benar negative)</a:t>
            </a:r>
            <a:endParaRPr b="0" i="0" sz="1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False Negative</a:t>
            </a:r>
            <a:r>
              <a:rPr b="0" i="0" lang="en" sz="1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: Prediksi </a:t>
            </a:r>
            <a:r>
              <a:rPr lang="en" sz="1000">
                <a:latin typeface="Georgia"/>
                <a:ea typeface="Georgia"/>
                <a:cs typeface="Georgia"/>
                <a:sym typeface="Georgia"/>
              </a:rPr>
              <a:t>Negatif</a:t>
            </a:r>
            <a:r>
              <a:rPr b="0" i="0" lang="en" sz="1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, tapi salah (yang benar positif)</a:t>
            </a:r>
            <a:endParaRPr b="0" i="0" sz="1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True Positive</a:t>
            </a:r>
            <a:r>
              <a:rPr b="0" i="0" lang="en" sz="1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: Prediksi </a:t>
            </a:r>
            <a:r>
              <a:rPr lang="en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Positif </a:t>
            </a:r>
            <a:r>
              <a:rPr b="0" i="0" lang="en" sz="1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dan benar</a:t>
            </a:r>
            <a:endParaRPr b="0" i="0" sz="1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True Negative</a:t>
            </a:r>
            <a:r>
              <a:rPr b="0" i="0" lang="en" sz="1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: Prediksi </a:t>
            </a:r>
            <a:r>
              <a:rPr lang="en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Negatif </a:t>
            </a:r>
            <a:r>
              <a:rPr b="0" i="0" lang="en" sz="1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dan benar</a:t>
            </a:r>
            <a:endParaRPr b="0" i="0" sz="1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38" name="Google Shape;538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3400" y="951128"/>
            <a:ext cx="3003825" cy="2202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9" name="Google Shape;539;p59"/>
          <p:cNvGraphicFramePr/>
          <p:nvPr/>
        </p:nvGraphicFramePr>
        <p:xfrm>
          <a:off x="2616207" y="156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{FABF32E3-6CDF-49D3-BDE4-9C85959DC97B}</a:tableStyleId>
              </a:tblPr>
              <a:tblGrid>
                <a:gridCol w="833700"/>
                <a:gridCol w="833700"/>
                <a:gridCol w="833700"/>
                <a:gridCol w="833700"/>
              </a:tblGrid>
              <a:tr h="237125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/>
                        <a:t>Confusion Matrix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Prediksi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 hMerge="1"/>
              </a:tr>
              <a:tr h="2298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Yes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No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</a:tr>
              <a:tr h="2298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Actual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Yes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TP 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FN 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F4CCCC"/>
                    </a:solidFill>
                  </a:tcPr>
                </a:tc>
              </a:tr>
              <a:tr h="229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No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FP 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TN 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0"/>
          <p:cNvSpPr/>
          <p:nvPr/>
        </p:nvSpPr>
        <p:spPr>
          <a:xfrm>
            <a:off x="0" y="0"/>
            <a:ext cx="2495912" cy="5143500"/>
          </a:xfrm>
          <a:custGeom>
            <a:rect b="b" l="l" r="r" t="t"/>
            <a:pathLst>
              <a:path extrusionOk="0" h="10287000" w="7923530">
                <a:moveTo>
                  <a:pt x="566853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5209055" y="0"/>
                </a:lnTo>
                <a:lnTo>
                  <a:pt x="5217529" y="6124"/>
                </a:lnTo>
                <a:lnTo>
                  <a:pt x="5260930" y="38040"/>
                </a:lnTo>
                <a:lnTo>
                  <a:pt x="5304069" y="70310"/>
                </a:lnTo>
                <a:lnTo>
                  <a:pt x="5346938" y="102927"/>
                </a:lnTo>
                <a:lnTo>
                  <a:pt x="5389536" y="135891"/>
                </a:lnTo>
                <a:lnTo>
                  <a:pt x="5431862" y="169203"/>
                </a:lnTo>
                <a:lnTo>
                  <a:pt x="5473915" y="202862"/>
                </a:lnTo>
                <a:lnTo>
                  <a:pt x="5515692" y="236869"/>
                </a:lnTo>
                <a:lnTo>
                  <a:pt x="5557200" y="271217"/>
                </a:lnTo>
                <a:lnTo>
                  <a:pt x="5598419" y="305898"/>
                </a:lnTo>
                <a:lnTo>
                  <a:pt x="5639350" y="340913"/>
                </a:lnTo>
                <a:lnTo>
                  <a:pt x="5679993" y="376261"/>
                </a:lnTo>
                <a:lnTo>
                  <a:pt x="5720349" y="411943"/>
                </a:lnTo>
                <a:lnTo>
                  <a:pt x="5760420" y="447959"/>
                </a:lnTo>
                <a:lnTo>
                  <a:pt x="5800185" y="484301"/>
                </a:lnTo>
                <a:lnTo>
                  <a:pt x="5839650" y="520962"/>
                </a:lnTo>
                <a:lnTo>
                  <a:pt x="5878813" y="557943"/>
                </a:lnTo>
                <a:lnTo>
                  <a:pt x="5917674" y="595244"/>
                </a:lnTo>
                <a:lnTo>
                  <a:pt x="5956230" y="632863"/>
                </a:lnTo>
                <a:lnTo>
                  <a:pt x="5994480" y="670802"/>
                </a:lnTo>
                <a:lnTo>
                  <a:pt x="6032417" y="709052"/>
                </a:lnTo>
                <a:lnTo>
                  <a:pt x="6070035" y="747607"/>
                </a:lnTo>
                <a:lnTo>
                  <a:pt x="6107333" y="786465"/>
                </a:lnTo>
                <a:lnTo>
                  <a:pt x="6144313" y="825627"/>
                </a:lnTo>
                <a:lnTo>
                  <a:pt x="6180976" y="865093"/>
                </a:lnTo>
                <a:lnTo>
                  <a:pt x="6217321" y="904863"/>
                </a:lnTo>
                <a:lnTo>
                  <a:pt x="6253331" y="944928"/>
                </a:lnTo>
                <a:lnTo>
                  <a:pt x="6289011" y="985281"/>
                </a:lnTo>
                <a:lnTo>
                  <a:pt x="6324360" y="1025922"/>
                </a:lnTo>
                <a:lnTo>
                  <a:pt x="6359378" y="1066851"/>
                </a:lnTo>
                <a:lnTo>
                  <a:pt x="6394063" y="1108069"/>
                </a:lnTo>
                <a:lnTo>
                  <a:pt x="6428416" y="1149575"/>
                </a:lnTo>
                <a:lnTo>
                  <a:pt x="6462417" y="1191359"/>
                </a:lnTo>
                <a:lnTo>
                  <a:pt x="6496075" y="1233414"/>
                </a:lnTo>
                <a:lnTo>
                  <a:pt x="6529387" y="1275741"/>
                </a:lnTo>
                <a:lnTo>
                  <a:pt x="6562353" y="1318338"/>
                </a:lnTo>
                <a:lnTo>
                  <a:pt x="6594970" y="1361206"/>
                </a:lnTo>
                <a:lnTo>
                  <a:pt x="6627237" y="1404344"/>
                </a:lnTo>
                <a:lnTo>
                  <a:pt x="6659149" y="1447746"/>
                </a:lnTo>
                <a:lnTo>
                  <a:pt x="6690702" y="1491404"/>
                </a:lnTo>
                <a:lnTo>
                  <a:pt x="6721894" y="1535317"/>
                </a:lnTo>
                <a:lnTo>
                  <a:pt x="6752726" y="1579483"/>
                </a:lnTo>
                <a:lnTo>
                  <a:pt x="6783199" y="1623898"/>
                </a:lnTo>
                <a:lnTo>
                  <a:pt x="6813311" y="1668562"/>
                </a:lnTo>
                <a:lnTo>
                  <a:pt x="6843059" y="1713480"/>
                </a:lnTo>
                <a:lnTo>
                  <a:pt x="6872437" y="1758635"/>
                </a:lnTo>
                <a:lnTo>
                  <a:pt x="6901443" y="1804025"/>
                </a:lnTo>
                <a:lnTo>
                  <a:pt x="6930076" y="1849650"/>
                </a:lnTo>
                <a:lnTo>
                  <a:pt x="6958334" y="1895509"/>
                </a:lnTo>
                <a:lnTo>
                  <a:pt x="6986217" y="1941602"/>
                </a:lnTo>
                <a:lnTo>
                  <a:pt x="7013721" y="1987930"/>
                </a:lnTo>
                <a:lnTo>
                  <a:pt x="7040846" y="2034470"/>
                </a:lnTo>
                <a:lnTo>
                  <a:pt x="7067589" y="2081226"/>
                </a:lnTo>
                <a:lnTo>
                  <a:pt x="7093948" y="2128200"/>
                </a:lnTo>
                <a:lnTo>
                  <a:pt x="7119921" y="2175392"/>
                </a:lnTo>
                <a:lnTo>
                  <a:pt x="7145505" y="2222807"/>
                </a:lnTo>
                <a:lnTo>
                  <a:pt x="7170710" y="2270420"/>
                </a:lnTo>
                <a:lnTo>
                  <a:pt x="7195520" y="2318234"/>
                </a:lnTo>
                <a:lnTo>
                  <a:pt x="7219935" y="2366247"/>
                </a:lnTo>
                <a:lnTo>
                  <a:pt x="7243955" y="2414457"/>
                </a:lnTo>
                <a:lnTo>
                  <a:pt x="7267579" y="2462864"/>
                </a:lnTo>
                <a:lnTo>
                  <a:pt x="7290809" y="2511465"/>
                </a:lnTo>
                <a:lnTo>
                  <a:pt x="7313650" y="2560264"/>
                </a:lnTo>
                <a:lnTo>
                  <a:pt x="7336085" y="2609239"/>
                </a:lnTo>
                <a:lnTo>
                  <a:pt x="7358114" y="2658391"/>
                </a:lnTo>
                <a:lnTo>
                  <a:pt x="7379740" y="2707722"/>
                </a:lnTo>
                <a:lnTo>
                  <a:pt x="7400963" y="2757230"/>
                </a:lnTo>
                <a:lnTo>
                  <a:pt x="7421785" y="2806918"/>
                </a:lnTo>
                <a:lnTo>
                  <a:pt x="7442192" y="2856775"/>
                </a:lnTo>
                <a:lnTo>
                  <a:pt x="7462192" y="2906791"/>
                </a:lnTo>
                <a:lnTo>
                  <a:pt x="7481785" y="2956966"/>
                </a:lnTo>
                <a:lnTo>
                  <a:pt x="7500967" y="3007301"/>
                </a:lnTo>
                <a:lnTo>
                  <a:pt x="7519736" y="3057797"/>
                </a:lnTo>
                <a:lnTo>
                  <a:pt x="7538091" y="3108455"/>
                </a:lnTo>
                <a:lnTo>
                  <a:pt x="7556029" y="3159251"/>
                </a:lnTo>
                <a:lnTo>
                  <a:pt x="7573550" y="3210187"/>
                </a:lnTo>
                <a:lnTo>
                  <a:pt x="7590654" y="3261262"/>
                </a:lnTo>
                <a:lnTo>
                  <a:pt x="7607341" y="3312475"/>
                </a:lnTo>
                <a:lnTo>
                  <a:pt x="7623611" y="3363826"/>
                </a:lnTo>
                <a:lnTo>
                  <a:pt x="7639464" y="3415313"/>
                </a:lnTo>
                <a:lnTo>
                  <a:pt x="7654895" y="3466928"/>
                </a:lnTo>
                <a:lnTo>
                  <a:pt x="7669901" y="3518661"/>
                </a:lnTo>
                <a:lnTo>
                  <a:pt x="7684481" y="3570513"/>
                </a:lnTo>
                <a:lnTo>
                  <a:pt x="7698635" y="3622483"/>
                </a:lnTo>
                <a:lnTo>
                  <a:pt x="7712364" y="3674572"/>
                </a:lnTo>
                <a:lnTo>
                  <a:pt x="7725666" y="3726779"/>
                </a:lnTo>
                <a:lnTo>
                  <a:pt x="7738541" y="3779094"/>
                </a:lnTo>
                <a:lnTo>
                  <a:pt x="7750985" y="3831505"/>
                </a:lnTo>
                <a:lnTo>
                  <a:pt x="7763000" y="3884011"/>
                </a:lnTo>
                <a:lnTo>
                  <a:pt x="7774584" y="3936611"/>
                </a:lnTo>
                <a:lnTo>
                  <a:pt x="7785738" y="3989304"/>
                </a:lnTo>
                <a:lnTo>
                  <a:pt x="7796461" y="4042091"/>
                </a:lnTo>
                <a:lnTo>
                  <a:pt x="7806755" y="4094974"/>
                </a:lnTo>
                <a:lnTo>
                  <a:pt x="7816616" y="4147932"/>
                </a:lnTo>
                <a:lnTo>
                  <a:pt x="7826045" y="4200965"/>
                </a:lnTo>
                <a:lnTo>
                  <a:pt x="7835039" y="4254072"/>
                </a:lnTo>
                <a:lnTo>
                  <a:pt x="7843597" y="4307254"/>
                </a:lnTo>
                <a:lnTo>
                  <a:pt x="7851717" y="4360511"/>
                </a:lnTo>
                <a:lnTo>
                  <a:pt x="7859401" y="4413842"/>
                </a:lnTo>
                <a:lnTo>
                  <a:pt x="7866650" y="4467223"/>
                </a:lnTo>
                <a:lnTo>
                  <a:pt x="7873462" y="4520655"/>
                </a:lnTo>
                <a:lnTo>
                  <a:pt x="7879838" y="4574140"/>
                </a:lnTo>
                <a:lnTo>
                  <a:pt x="7885776" y="4627680"/>
                </a:lnTo>
                <a:lnTo>
                  <a:pt x="7891276" y="4681274"/>
                </a:lnTo>
                <a:lnTo>
                  <a:pt x="7896337" y="4734904"/>
                </a:lnTo>
                <a:lnTo>
                  <a:pt x="7900959" y="4788570"/>
                </a:lnTo>
                <a:lnTo>
                  <a:pt x="7905143" y="4842272"/>
                </a:lnTo>
                <a:lnTo>
                  <a:pt x="7908887" y="4896006"/>
                </a:lnTo>
                <a:lnTo>
                  <a:pt x="7912192" y="4949772"/>
                </a:lnTo>
                <a:lnTo>
                  <a:pt x="7915059" y="5003565"/>
                </a:lnTo>
                <a:lnTo>
                  <a:pt x="7917484" y="5057390"/>
                </a:lnTo>
                <a:lnTo>
                  <a:pt x="7919467" y="5111224"/>
                </a:lnTo>
                <a:lnTo>
                  <a:pt x="7921008" y="5165067"/>
                </a:lnTo>
                <a:lnTo>
                  <a:pt x="7922107" y="5218918"/>
                </a:lnTo>
                <a:lnTo>
                  <a:pt x="7922767" y="5272778"/>
                </a:lnTo>
                <a:lnTo>
                  <a:pt x="7922986" y="5326647"/>
                </a:lnTo>
                <a:lnTo>
                  <a:pt x="7922767" y="5380516"/>
                </a:lnTo>
                <a:lnTo>
                  <a:pt x="7922107" y="5434376"/>
                </a:lnTo>
                <a:lnTo>
                  <a:pt x="7921008" y="5488227"/>
                </a:lnTo>
                <a:lnTo>
                  <a:pt x="7919467" y="5542069"/>
                </a:lnTo>
                <a:lnTo>
                  <a:pt x="7917484" y="5595903"/>
                </a:lnTo>
                <a:lnTo>
                  <a:pt x="7915059" y="5649728"/>
                </a:lnTo>
                <a:lnTo>
                  <a:pt x="7912192" y="5703522"/>
                </a:lnTo>
                <a:lnTo>
                  <a:pt x="7908887" y="5757287"/>
                </a:lnTo>
                <a:lnTo>
                  <a:pt x="7905143" y="5811022"/>
                </a:lnTo>
                <a:lnTo>
                  <a:pt x="7900959" y="5864723"/>
                </a:lnTo>
                <a:lnTo>
                  <a:pt x="7896337" y="5918390"/>
                </a:lnTo>
                <a:lnTo>
                  <a:pt x="7891276" y="5972019"/>
                </a:lnTo>
                <a:lnTo>
                  <a:pt x="7885776" y="6025614"/>
                </a:lnTo>
                <a:lnTo>
                  <a:pt x="7879838" y="6079153"/>
                </a:lnTo>
                <a:lnTo>
                  <a:pt x="7873462" y="6132638"/>
                </a:lnTo>
                <a:lnTo>
                  <a:pt x="7866650" y="6186070"/>
                </a:lnTo>
                <a:lnTo>
                  <a:pt x="7859401" y="6239451"/>
                </a:lnTo>
                <a:lnTo>
                  <a:pt x="7851717" y="6292783"/>
                </a:lnTo>
                <a:lnTo>
                  <a:pt x="7843597" y="6346039"/>
                </a:lnTo>
                <a:lnTo>
                  <a:pt x="7835039" y="6399221"/>
                </a:lnTo>
                <a:lnTo>
                  <a:pt x="7826045" y="6452328"/>
                </a:lnTo>
                <a:lnTo>
                  <a:pt x="7816616" y="6505361"/>
                </a:lnTo>
                <a:lnTo>
                  <a:pt x="7806755" y="6558319"/>
                </a:lnTo>
                <a:lnTo>
                  <a:pt x="7796461" y="6611202"/>
                </a:lnTo>
                <a:lnTo>
                  <a:pt x="7785738" y="6663989"/>
                </a:lnTo>
                <a:lnTo>
                  <a:pt x="7774584" y="6716683"/>
                </a:lnTo>
                <a:lnTo>
                  <a:pt x="7763000" y="6769283"/>
                </a:lnTo>
                <a:lnTo>
                  <a:pt x="7750985" y="6821789"/>
                </a:lnTo>
                <a:lnTo>
                  <a:pt x="7738541" y="6874199"/>
                </a:lnTo>
                <a:lnTo>
                  <a:pt x="7725666" y="6926514"/>
                </a:lnTo>
                <a:lnTo>
                  <a:pt x="7712364" y="6978722"/>
                </a:lnTo>
                <a:lnTo>
                  <a:pt x="7698635" y="7030810"/>
                </a:lnTo>
                <a:lnTo>
                  <a:pt x="7684481" y="7082781"/>
                </a:lnTo>
                <a:lnTo>
                  <a:pt x="7669901" y="7134633"/>
                </a:lnTo>
                <a:lnTo>
                  <a:pt x="7654895" y="7186366"/>
                </a:lnTo>
                <a:lnTo>
                  <a:pt x="7639464" y="7237981"/>
                </a:lnTo>
                <a:lnTo>
                  <a:pt x="7623611" y="7289468"/>
                </a:lnTo>
                <a:lnTo>
                  <a:pt x="7607341" y="7340819"/>
                </a:lnTo>
                <a:lnTo>
                  <a:pt x="7590654" y="7392032"/>
                </a:lnTo>
                <a:lnTo>
                  <a:pt x="7573550" y="7443106"/>
                </a:lnTo>
                <a:lnTo>
                  <a:pt x="7556029" y="7494042"/>
                </a:lnTo>
                <a:lnTo>
                  <a:pt x="7538091" y="7544838"/>
                </a:lnTo>
                <a:lnTo>
                  <a:pt x="7519738" y="7595496"/>
                </a:lnTo>
                <a:lnTo>
                  <a:pt x="7500973" y="7645992"/>
                </a:lnTo>
                <a:lnTo>
                  <a:pt x="7481795" y="7696328"/>
                </a:lnTo>
                <a:lnTo>
                  <a:pt x="7462204" y="7746503"/>
                </a:lnTo>
                <a:lnTo>
                  <a:pt x="7442201" y="7796518"/>
                </a:lnTo>
                <a:lnTo>
                  <a:pt x="7421785" y="7846375"/>
                </a:lnTo>
                <a:lnTo>
                  <a:pt x="7400963" y="7896063"/>
                </a:lnTo>
                <a:lnTo>
                  <a:pt x="7379740" y="7945572"/>
                </a:lnTo>
                <a:lnTo>
                  <a:pt x="7358114" y="7994902"/>
                </a:lnTo>
                <a:lnTo>
                  <a:pt x="7336085" y="8044054"/>
                </a:lnTo>
                <a:lnTo>
                  <a:pt x="7313650" y="8093030"/>
                </a:lnTo>
                <a:lnTo>
                  <a:pt x="7290809" y="8141829"/>
                </a:lnTo>
                <a:lnTo>
                  <a:pt x="7267579" y="8190430"/>
                </a:lnTo>
                <a:lnTo>
                  <a:pt x="7243955" y="8238836"/>
                </a:lnTo>
                <a:lnTo>
                  <a:pt x="7219935" y="8287047"/>
                </a:lnTo>
                <a:lnTo>
                  <a:pt x="7195520" y="8335060"/>
                </a:lnTo>
                <a:lnTo>
                  <a:pt x="7170710" y="8382874"/>
                </a:lnTo>
                <a:lnTo>
                  <a:pt x="7145505" y="8430487"/>
                </a:lnTo>
                <a:lnTo>
                  <a:pt x="7119921" y="8477892"/>
                </a:lnTo>
                <a:lnTo>
                  <a:pt x="7093948" y="8525082"/>
                </a:lnTo>
                <a:lnTo>
                  <a:pt x="7067589" y="8572057"/>
                </a:lnTo>
                <a:lnTo>
                  <a:pt x="7040846" y="8618817"/>
                </a:lnTo>
                <a:lnTo>
                  <a:pt x="7013721" y="8665362"/>
                </a:lnTo>
                <a:lnTo>
                  <a:pt x="6986217" y="8711692"/>
                </a:lnTo>
                <a:lnTo>
                  <a:pt x="6958334" y="8757784"/>
                </a:lnTo>
                <a:lnTo>
                  <a:pt x="6930076" y="8803644"/>
                </a:lnTo>
                <a:lnTo>
                  <a:pt x="6901443" y="8849269"/>
                </a:lnTo>
                <a:lnTo>
                  <a:pt x="6872437" y="8894659"/>
                </a:lnTo>
                <a:lnTo>
                  <a:pt x="6843059" y="8939814"/>
                </a:lnTo>
                <a:lnTo>
                  <a:pt x="6813311" y="8984732"/>
                </a:lnTo>
                <a:lnTo>
                  <a:pt x="6783199" y="9029395"/>
                </a:lnTo>
                <a:lnTo>
                  <a:pt x="6752726" y="9073811"/>
                </a:lnTo>
                <a:lnTo>
                  <a:pt x="6721894" y="9117976"/>
                </a:lnTo>
                <a:lnTo>
                  <a:pt x="6690702" y="9161889"/>
                </a:lnTo>
                <a:lnTo>
                  <a:pt x="6659149" y="9205548"/>
                </a:lnTo>
                <a:lnTo>
                  <a:pt x="6627237" y="9248949"/>
                </a:lnTo>
                <a:lnTo>
                  <a:pt x="6594970" y="9292087"/>
                </a:lnTo>
                <a:lnTo>
                  <a:pt x="6562353" y="9334956"/>
                </a:lnTo>
                <a:lnTo>
                  <a:pt x="6529387" y="9377555"/>
                </a:lnTo>
                <a:lnTo>
                  <a:pt x="6496075" y="9419881"/>
                </a:lnTo>
                <a:lnTo>
                  <a:pt x="6462417" y="9461934"/>
                </a:lnTo>
                <a:lnTo>
                  <a:pt x="6428416" y="9503711"/>
                </a:lnTo>
                <a:lnTo>
                  <a:pt x="6394063" y="9545219"/>
                </a:lnTo>
                <a:lnTo>
                  <a:pt x="6359378" y="9586438"/>
                </a:lnTo>
                <a:lnTo>
                  <a:pt x="6324360" y="9627369"/>
                </a:lnTo>
                <a:lnTo>
                  <a:pt x="6289011" y="9668012"/>
                </a:lnTo>
                <a:lnTo>
                  <a:pt x="6253331" y="9708368"/>
                </a:lnTo>
                <a:lnTo>
                  <a:pt x="6217321" y="9748438"/>
                </a:lnTo>
                <a:lnTo>
                  <a:pt x="6180976" y="9788203"/>
                </a:lnTo>
                <a:lnTo>
                  <a:pt x="6144313" y="9827668"/>
                </a:lnTo>
                <a:lnTo>
                  <a:pt x="6107333" y="9866832"/>
                </a:lnTo>
                <a:lnTo>
                  <a:pt x="6070035" y="9905692"/>
                </a:lnTo>
                <a:lnTo>
                  <a:pt x="6032417" y="9944249"/>
                </a:lnTo>
                <a:lnTo>
                  <a:pt x="5994480" y="9982499"/>
                </a:lnTo>
                <a:lnTo>
                  <a:pt x="5956230" y="10020436"/>
                </a:lnTo>
                <a:lnTo>
                  <a:pt x="5917674" y="10058054"/>
                </a:lnTo>
                <a:lnTo>
                  <a:pt x="5878813" y="10095352"/>
                </a:lnTo>
                <a:lnTo>
                  <a:pt x="5839650" y="10132332"/>
                </a:lnTo>
                <a:lnTo>
                  <a:pt x="5800185" y="10168994"/>
                </a:lnTo>
                <a:lnTo>
                  <a:pt x="5760420" y="10205340"/>
                </a:lnTo>
                <a:lnTo>
                  <a:pt x="5720349" y="10241350"/>
                </a:lnTo>
                <a:lnTo>
                  <a:pt x="5679993" y="10277030"/>
                </a:lnTo>
                <a:lnTo>
                  <a:pt x="5668530" y="10287000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60"/>
          <p:cNvSpPr txBox="1"/>
          <p:nvPr/>
        </p:nvSpPr>
        <p:spPr>
          <a:xfrm>
            <a:off x="103075" y="2153475"/>
            <a:ext cx="20343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ct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Akurasi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Balanced data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546" name="Google Shape;546;p60"/>
          <p:cNvGraphicFramePr/>
          <p:nvPr/>
        </p:nvGraphicFramePr>
        <p:xfrm>
          <a:off x="3683007" y="331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{FABF32E3-6CDF-49D3-BDE4-9C85959DC97B}</a:tableStyleId>
              </a:tblPr>
              <a:tblGrid>
                <a:gridCol w="833700"/>
                <a:gridCol w="833700"/>
                <a:gridCol w="833700"/>
                <a:gridCol w="833700"/>
              </a:tblGrid>
              <a:tr h="237125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/>
                        <a:t>Confusion Matrix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Prediksi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 hMerge="1"/>
              </a:tr>
              <a:tr h="2298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Yes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No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</a:tr>
              <a:tr h="2298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Actual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Yes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TP : 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FN : 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F4CCCC"/>
                    </a:solidFill>
                  </a:tcPr>
                </a:tc>
              </a:tr>
              <a:tr h="229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No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FP : 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TN : 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547" name="Google Shape;547;p60"/>
          <p:cNvSpPr txBox="1"/>
          <p:nvPr/>
        </p:nvSpPr>
        <p:spPr>
          <a:xfrm>
            <a:off x="3892950" y="4454915"/>
            <a:ext cx="364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Akurasi = (TP + TN)/(TP+TN+FP+FN) = 7</a:t>
            </a: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0</a:t>
            </a: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b="0" i="0" sz="11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548" name="Google Shape;548;p60"/>
          <p:cNvGraphicFramePr/>
          <p:nvPr/>
        </p:nvGraphicFramePr>
        <p:xfrm>
          <a:off x="3296175" y="25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{651413A6-036B-41BD-AB29-FD58DBD6E2EC}</a:tableStyleId>
              </a:tblPr>
              <a:tblGrid>
                <a:gridCol w="852275"/>
                <a:gridCol w="1540550"/>
                <a:gridCol w="1641550"/>
              </a:tblGrid>
              <a:tr h="315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NIM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 Class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 Class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19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006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007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008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009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549" name="Google Shape;549;p60"/>
          <p:cNvSpPr/>
          <p:nvPr/>
        </p:nvSpPr>
        <p:spPr>
          <a:xfrm>
            <a:off x="8432833" y="4470985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1"/>
          <p:cNvSpPr/>
          <p:nvPr/>
        </p:nvSpPr>
        <p:spPr>
          <a:xfrm>
            <a:off x="0" y="0"/>
            <a:ext cx="2495912" cy="5143500"/>
          </a:xfrm>
          <a:custGeom>
            <a:rect b="b" l="l" r="r" t="t"/>
            <a:pathLst>
              <a:path extrusionOk="0" h="10287000" w="7923530">
                <a:moveTo>
                  <a:pt x="566853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5209055" y="0"/>
                </a:lnTo>
                <a:lnTo>
                  <a:pt x="5217529" y="6124"/>
                </a:lnTo>
                <a:lnTo>
                  <a:pt x="5260930" y="38040"/>
                </a:lnTo>
                <a:lnTo>
                  <a:pt x="5304069" y="70310"/>
                </a:lnTo>
                <a:lnTo>
                  <a:pt x="5346938" y="102927"/>
                </a:lnTo>
                <a:lnTo>
                  <a:pt x="5389536" y="135891"/>
                </a:lnTo>
                <a:lnTo>
                  <a:pt x="5431862" y="169203"/>
                </a:lnTo>
                <a:lnTo>
                  <a:pt x="5473915" y="202862"/>
                </a:lnTo>
                <a:lnTo>
                  <a:pt x="5515692" y="236869"/>
                </a:lnTo>
                <a:lnTo>
                  <a:pt x="5557200" y="271217"/>
                </a:lnTo>
                <a:lnTo>
                  <a:pt x="5598419" y="305898"/>
                </a:lnTo>
                <a:lnTo>
                  <a:pt x="5639350" y="340913"/>
                </a:lnTo>
                <a:lnTo>
                  <a:pt x="5679993" y="376261"/>
                </a:lnTo>
                <a:lnTo>
                  <a:pt x="5720349" y="411943"/>
                </a:lnTo>
                <a:lnTo>
                  <a:pt x="5760420" y="447959"/>
                </a:lnTo>
                <a:lnTo>
                  <a:pt x="5800185" y="484301"/>
                </a:lnTo>
                <a:lnTo>
                  <a:pt x="5839650" y="520962"/>
                </a:lnTo>
                <a:lnTo>
                  <a:pt x="5878813" y="557943"/>
                </a:lnTo>
                <a:lnTo>
                  <a:pt x="5917674" y="595244"/>
                </a:lnTo>
                <a:lnTo>
                  <a:pt x="5956230" y="632863"/>
                </a:lnTo>
                <a:lnTo>
                  <a:pt x="5994480" y="670802"/>
                </a:lnTo>
                <a:lnTo>
                  <a:pt x="6032417" y="709052"/>
                </a:lnTo>
                <a:lnTo>
                  <a:pt x="6070035" y="747607"/>
                </a:lnTo>
                <a:lnTo>
                  <a:pt x="6107333" y="786465"/>
                </a:lnTo>
                <a:lnTo>
                  <a:pt x="6144313" y="825627"/>
                </a:lnTo>
                <a:lnTo>
                  <a:pt x="6180976" y="865093"/>
                </a:lnTo>
                <a:lnTo>
                  <a:pt x="6217321" y="904863"/>
                </a:lnTo>
                <a:lnTo>
                  <a:pt x="6253331" y="944928"/>
                </a:lnTo>
                <a:lnTo>
                  <a:pt x="6289011" y="985281"/>
                </a:lnTo>
                <a:lnTo>
                  <a:pt x="6324360" y="1025922"/>
                </a:lnTo>
                <a:lnTo>
                  <a:pt x="6359378" y="1066851"/>
                </a:lnTo>
                <a:lnTo>
                  <a:pt x="6394063" y="1108069"/>
                </a:lnTo>
                <a:lnTo>
                  <a:pt x="6428416" y="1149575"/>
                </a:lnTo>
                <a:lnTo>
                  <a:pt x="6462417" y="1191359"/>
                </a:lnTo>
                <a:lnTo>
                  <a:pt x="6496075" y="1233414"/>
                </a:lnTo>
                <a:lnTo>
                  <a:pt x="6529387" y="1275741"/>
                </a:lnTo>
                <a:lnTo>
                  <a:pt x="6562353" y="1318338"/>
                </a:lnTo>
                <a:lnTo>
                  <a:pt x="6594970" y="1361206"/>
                </a:lnTo>
                <a:lnTo>
                  <a:pt x="6627237" y="1404344"/>
                </a:lnTo>
                <a:lnTo>
                  <a:pt x="6659149" y="1447746"/>
                </a:lnTo>
                <a:lnTo>
                  <a:pt x="6690702" y="1491404"/>
                </a:lnTo>
                <a:lnTo>
                  <a:pt x="6721894" y="1535317"/>
                </a:lnTo>
                <a:lnTo>
                  <a:pt x="6752726" y="1579483"/>
                </a:lnTo>
                <a:lnTo>
                  <a:pt x="6783199" y="1623898"/>
                </a:lnTo>
                <a:lnTo>
                  <a:pt x="6813311" y="1668562"/>
                </a:lnTo>
                <a:lnTo>
                  <a:pt x="6843059" y="1713480"/>
                </a:lnTo>
                <a:lnTo>
                  <a:pt x="6872437" y="1758635"/>
                </a:lnTo>
                <a:lnTo>
                  <a:pt x="6901443" y="1804025"/>
                </a:lnTo>
                <a:lnTo>
                  <a:pt x="6930076" y="1849650"/>
                </a:lnTo>
                <a:lnTo>
                  <a:pt x="6958334" y="1895509"/>
                </a:lnTo>
                <a:lnTo>
                  <a:pt x="6986217" y="1941602"/>
                </a:lnTo>
                <a:lnTo>
                  <a:pt x="7013721" y="1987930"/>
                </a:lnTo>
                <a:lnTo>
                  <a:pt x="7040846" y="2034470"/>
                </a:lnTo>
                <a:lnTo>
                  <a:pt x="7067589" y="2081226"/>
                </a:lnTo>
                <a:lnTo>
                  <a:pt x="7093948" y="2128200"/>
                </a:lnTo>
                <a:lnTo>
                  <a:pt x="7119921" y="2175392"/>
                </a:lnTo>
                <a:lnTo>
                  <a:pt x="7145505" y="2222807"/>
                </a:lnTo>
                <a:lnTo>
                  <a:pt x="7170710" y="2270420"/>
                </a:lnTo>
                <a:lnTo>
                  <a:pt x="7195520" y="2318234"/>
                </a:lnTo>
                <a:lnTo>
                  <a:pt x="7219935" y="2366247"/>
                </a:lnTo>
                <a:lnTo>
                  <a:pt x="7243955" y="2414457"/>
                </a:lnTo>
                <a:lnTo>
                  <a:pt x="7267579" y="2462864"/>
                </a:lnTo>
                <a:lnTo>
                  <a:pt x="7290809" y="2511465"/>
                </a:lnTo>
                <a:lnTo>
                  <a:pt x="7313650" y="2560264"/>
                </a:lnTo>
                <a:lnTo>
                  <a:pt x="7336085" y="2609239"/>
                </a:lnTo>
                <a:lnTo>
                  <a:pt x="7358114" y="2658391"/>
                </a:lnTo>
                <a:lnTo>
                  <a:pt x="7379740" y="2707722"/>
                </a:lnTo>
                <a:lnTo>
                  <a:pt x="7400963" y="2757230"/>
                </a:lnTo>
                <a:lnTo>
                  <a:pt x="7421785" y="2806918"/>
                </a:lnTo>
                <a:lnTo>
                  <a:pt x="7442192" y="2856775"/>
                </a:lnTo>
                <a:lnTo>
                  <a:pt x="7462192" y="2906791"/>
                </a:lnTo>
                <a:lnTo>
                  <a:pt x="7481785" y="2956966"/>
                </a:lnTo>
                <a:lnTo>
                  <a:pt x="7500967" y="3007301"/>
                </a:lnTo>
                <a:lnTo>
                  <a:pt x="7519736" y="3057797"/>
                </a:lnTo>
                <a:lnTo>
                  <a:pt x="7538091" y="3108455"/>
                </a:lnTo>
                <a:lnTo>
                  <a:pt x="7556029" y="3159251"/>
                </a:lnTo>
                <a:lnTo>
                  <a:pt x="7573550" y="3210187"/>
                </a:lnTo>
                <a:lnTo>
                  <a:pt x="7590654" y="3261262"/>
                </a:lnTo>
                <a:lnTo>
                  <a:pt x="7607341" y="3312475"/>
                </a:lnTo>
                <a:lnTo>
                  <a:pt x="7623611" y="3363826"/>
                </a:lnTo>
                <a:lnTo>
                  <a:pt x="7639464" y="3415313"/>
                </a:lnTo>
                <a:lnTo>
                  <a:pt x="7654895" y="3466928"/>
                </a:lnTo>
                <a:lnTo>
                  <a:pt x="7669901" y="3518661"/>
                </a:lnTo>
                <a:lnTo>
                  <a:pt x="7684481" y="3570513"/>
                </a:lnTo>
                <a:lnTo>
                  <a:pt x="7698635" y="3622483"/>
                </a:lnTo>
                <a:lnTo>
                  <a:pt x="7712364" y="3674572"/>
                </a:lnTo>
                <a:lnTo>
                  <a:pt x="7725666" y="3726779"/>
                </a:lnTo>
                <a:lnTo>
                  <a:pt x="7738541" y="3779094"/>
                </a:lnTo>
                <a:lnTo>
                  <a:pt x="7750985" y="3831505"/>
                </a:lnTo>
                <a:lnTo>
                  <a:pt x="7763000" y="3884011"/>
                </a:lnTo>
                <a:lnTo>
                  <a:pt x="7774584" y="3936611"/>
                </a:lnTo>
                <a:lnTo>
                  <a:pt x="7785738" y="3989304"/>
                </a:lnTo>
                <a:lnTo>
                  <a:pt x="7796461" y="4042091"/>
                </a:lnTo>
                <a:lnTo>
                  <a:pt x="7806755" y="4094974"/>
                </a:lnTo>
                <a:lnTo>
                  <a:pt x="7816616" y="4147932"/>
                </a:lnTo>
                <a:lnTo>
                  <a:pt x="7826045" y="4200965"/>
                </a:lnTo>
                <a:lnTo>
                  <a:pt x="7835039" y="4254072"/>
                </a:lnTo>
                <a:lnTo>
                  <a:pt x="7843597" y="4307254"/>
                </a:lnTo>
                <a:lnTo>
                  <a:pt x="7851717" y="4360511"/>
                </a:lnTo>
                <a:lnTo>
                  <a:pt x="7859401" y="4413842"/>
                </a:lnTo>
                <a:lnTo>
                  <a:pt x="7866650" y="4467223"/>
                </a:lnTo>
                <a:lnTo>
                  <a:pt x="7873462" y="4520655"/>
                </a:lnTo>
                <a:lnTo>
                  <a:pt x="7879838" y="4574140"/>
                </a:lnTo>
                <a:lnTo>
                  <a:pt x="7885776" y="4627680"/>
                </a:lnTo>
                <a:lnTo>
                  <a:pt x="7891276" y="4681274"/>
                </a:lnTo>
                <a:lnTo>
                  <a:pt x="7896337" y="4734904"/>
                </a:lnTo>
                <a:lnTo>
                  <a:pt x="7900959" y="4788570"/>
                </a:lnTo>
                <a:lnTo>
                  <a:pt x="7905143" y="4842272"/>
                </a:lnTo>
                <a:lnTo>
                  <a:pt x="7908887" y="4896006"/>
                </a:lnTo>
                <a:lnTo>
                  <a:pt x="7912192" y="4949772"/>
                </a:lnTo>
                <a:lnTo>
                  <a:pt x="7915059" y="5003565"/>
                </a:lnTo>
                <a:lnTo>
                  <a:pt x="7917484" y="5057390"/>
                </a:lnTo>
                <a:lnTo>
                  <a:pt x="7919467" y="5111224"/>
                </a:lnTo>
                <a:lnTo>
                  <a:pt x="7921008" y="5165067"/>
                </a:lnTo>
                <a:lnTo>
                  <a:pt x="7922107" y="5218918"/>
                </a:lnTo>
                <a:lnTo>
                  <a:pt x="7922767" y="5272778"/>
                </a:lnTo>
                <a:lnTo>
                  <a:pt x="7922986" y="5326647"/>
                </a:lnTo>
                <a:lnTo>
                  <a:pt x="7922767" y="5380516"/>
                </a:lnTo>
                <a:lnTo>
                  <a:pt x="7922107" y="5434376"/>
                </a:lnTo>
                <a:lnTo>
                  <a:pt x="7921008" y="5488227"/>
                </a:lnTo>
                <a:lnTo>
                  <a:pt x="7919467" y="5542069"/>
                </a:lnTo>
                <a:lnTo>
                  <a:pt x="7917484" y="5595903"/>
                </a:lnTo>
                <a:lnTo>
                  <a:pt x="7915059" y="5649728"/>
                </a:lnTo>
                <a:lnTo>
                  <a:pt x="7912192" y="5703522"/>
                </a:lnTo>
                <a:lnTo>
                  <a:pt x="7908887" y="5757287"/>
                </a:lnTo>
                <a:lnTo>
                  <a:pt x="7905143" y="5811022"/>
                </a:lnTo>
                <a:lnTo>
                  <a:pt x="7900959" y="5864723"/>
                </a:lnTo>
                <a:lnTo>
                  <a:pt x="7896337" y="5918390"/>
                </a:lnTo>
                <a:lnTo>
                  <a:pt x="7891276" y="5972019"/>
                </a:lnTo>
                <a:lnTo>
                  <a:pt x="7885776" y="6025614"/>
                </a:lnTo>
                <a:lnTo>
                  <a:pt x="7879838" y="6079153"/>
                </a:lnTo>
                <a:lnTo>
                  <a:pt x="7873462" y="6132638"/>
                </a:lnTo>
                <a:lnTo>
                  <a:pt x="7866650" y="6186070"/>
                </a:lnTo>
                <a:lnTo>
                  <a:pt x="7859401" y="6239451"/>
                </a:lnTo>
                <a:lnTo>
                  <a:pt x="7851717" y="6292783"/>
                </a:lnTo>
                <a:lnTo>
                  <a:pt x="7843597" y="6346039"/>
                </a:lnTo>
                <a:lnTo>
                  <a:pt x="7835039" y="6399221"/>
                </a:lnTo>
                <a:lnTo>
                  <a:pt x="7826045" y="6452328"/>
                </a:lnTo>
                <a:lnTo>
                  <a:pt x="7816616" y="6505361"/>
                </a:lnTo>
                <a:lnTo>
                  <a:pt x="7806755" y="6558319"/>
                </a:lnTo>
                <a:lnTo>
                  <a:pt x="7796461" y="6611202"/>
                </a:lnTo>
                <a:lnTo>
                  <a:pt x="7785738" y="6663989"/>
                </a:lnTo>
                <a:lnTo>
                  <a:pt x="7774584" y="6716683"/>
                </a:lnTo>
                <a:lnTo>
                  <a:pt x="7763000" y="6769283"/>
                </a:lnTo>
                <a:lnTo>
                  <a:pt x="7750985" y="6821789"/>
                </a:lnTo>
                <a:lnTo>
                  <a:pt x="7738541" y="6874199"/>
                </a:lnTo>
                <a:lnTo>
                  <a:pt x="7725666" y="6926514"/>
                </a:lnTo>
                <a:lnTo>
                  <a:pt x="7712364" y="6978722"/>
                </a:lnTo>
                <a:lnTo>
                  <a:pt x="7698635" y="7030810"/>
                </a:lnTo>
                <a:lnTo>
                  <a:pt x="7684481" y="7082781"/>
                </a:lnTo>
                <a:lnTo>
                  <a:pt x="7669901" y="7134633"/>
                </a:lnTo>
                <a:lnTo>
                  <a:pt x="7654895" y="7186366"/>
                </a:lnTo>
                <a:lnTo>
                  <a:pt x="7639464" y="7237981"/>
                </a:lnTo>
                <a:lnTo>
                  <a:pt x="7623611" y="7289468"/>
                </a:lnTo>
                <a:lnTo>
                  <a:pt x="7607341" y="7340819"/>
                </a:lnTo>
                <a:lnTo>
                  <a:pt x="7590654" y="7392032"/>
                </a:lnTo>
                <a:lnTo>
                  <a:pt x="7573550" y="7443106"/>
                </a:lnTo>
                <a:lnTo>
                  <a:pt x="7556029" y="7494042"/>
                </a:lnTo>
                <a:lnTo>
                  <a:pt x="7538091" y="7544838"/>
                </a:lnTo>
                <a:lnTo>
                  <a:pt x="7519738" y="7595496"/>
                </a:lnTo>
                <a:lnTo>
                  <a:pt x="7500973" y="7645992"/>
                </a:lnTo>
                <a:lnTo>
                  <a:pt x="7481795" y="7696328"/>
                </a:lnTo>
                <a:lnTo>
                  <a:pt x="7462204" y="7746503"/>
                </a:lnTo>
                <a:lnTo>
                  <a:pt x="7442201" y="7796518"/>
                </a:lnTo>
                <a:lnTo>
                  <a:pt x="7421785" y="7846375"/>
                </a:lnTo>
                <a:lnTo>
                  <a:pt x="7400963" y="7896063"/>
                </a:lnTo>
                <a:lnTo>
                  <a:pt x="7379740" y="7945572"/>
                </a:lnTo>
                <a:lnTo>
                  <a:pt x="7358114" y="7994902"/>
                </a:lnTo>
                <a:lnTo>
                  <a:pt x="7336085" y="8044054"/>
                </a:lnTo>
                <a:lnTo>
                  <a:pt x="7313650" y="8093030"/>
                </a:lnTo>
                <a:lnTo>
                  <a:pt x="7290809" y="8141829"/>
                </a:lnTo>
                <a:lnTo>
                  <a:pt x="7267579" y="8190430"/>
                </a:lnTo>
                <a:lnTo>
                  <a:pt x="7243955" y="8238836"/>
                </a:lnTo>
                <a:lnTo>
                  <a:pt x="7219935" y="8287047"/>
                </a:lnTo>
                <a:lnTo>
                  <a:pt x="7195520" y="8335060"/>
                </a:lnTo>
                <a:lnTo>
                  <a:pt x="7170710" y="8382874"/>
                </a:lnTo>
                <a:lnTo>
                  <a:pt x="7145505" y="8430487"/>
                </a:lnTo>
                <a:lnTo>
                  <a:pt x="7119921" y="8477892"/>
                </a:lnTo>
                <a:lnTo>
                  <a:pt x="7093948" y="8525082"/>
                </a:lnTo>
                <a:lnTo>
                  <a:pt x="7067589" y="8572057"/>
                </a:lnTo>
                <a:lnTo>
                  <a:pt x="7040846" y="8618817"/>
                </a:lnTo>
                <a:lnTo>
                  <a:pt x="7013721" y="8665362"/>
                </a:lnTo>
                <a:lnTo>
                  <a:pt x="6986217" y="8711692"/>
                </a:lnTo>
                <a:lnTo>
                  <a:pt x="6958334" y="8757784"/>
                </a:lnTo>
                <a:lnTo>
                  <a:pt x="6930076" y="8803644"/>
                </a:lnTo>
                <a:lnTo>
                  <a:pt x="6901443" y="8849269"/>
                </a:lnTo>
                <a:lnTo>
                  <a:pt x="6872437" y="8894659"/>
                </a:lnTo>
                <a:lnTo>
                  <a:pt x="6843059" y="8939814"/>
                </a:lnTo>
                <a:lnTo>
                  <a:pt x="6813311" y="8984732"/>
                </a:lnTo>
                <a:lnTo>
                  <a:pt x="6783199" y="9029395"/>
                </a:lnTo>
                <a:lnTo>
                  <a:pt x="6752726" y="9073811"/>
                </a:lnTo>
                <a:lnTo>
                  <a:pt x="6721894" y="9117976"/>
                </a:lnTo>
                <a:lnTo>
                  <a:pt x="6690702" y="9161889"/>
                </a:lnTo>
                <a:lnTo>
                  <a:pt x="6659149" y="9205548"/>
                </a:lnTo>
                <a:lnTo>
                  <a:pt x="6627237" y="9248949"/>
                </a:lnTo>
                <a:lnTo>
                  <a:pt x="6594970" y="9292087"/>
                </a:lnTo>
                <a:lnTo>
                  <a:pt x="6562353" y="9334956"/>
                </a:lnTo>
                <a:lnTo>
                  <a:pt x="6529387" y="9377555"/>
                </a:lnTo>
                <a:lnTo>
                  <a:pt x="6496075" y="9419881"/>
                </a:lnTo>
                <a:lnTo>
                  <a:pt x="6462417" y="9461934"/>
                </a:lnTo>
                <a:lnTo>
                  <a:pt x="6428416" y="9503711"/>
                </a:lnTo>
                <a:lnTo>
                  <a:pt x="6394063" y="9545219"/>
                </a:lnTo>
                <a:lnTo>
                  <a:pt x="6359378" y="9586438"/>
                </a:lnTo>
                <a:lnTo>
                  <a:pt x="6324360" y="9627369"/>
                </a:lnTo>
                <a:lnTo>
                  <a:pt x="6289011" y="9668012"/>
                </a:lnTo>
                <a:lnTo>
                  <a:pt x="6253331" y="9708368"/>
                </a:lnTo>
                <a:lnTo>
                  <a:pt x="6217321" y="9748438"/>
                </a:lnTo>
                <a:lnTo>
                  <a:pt x="6180976" y="9788203"/>
                </a:lnTo>
                <a:lnTo>
                  <a:pt x="6144313" y="9827668"/>
                </a:lnTo>
                <a:lnTo>
                  <a:pt x="6107333" y="9866832"/>
                </a:lnTo>
                <a:lnTo>
                  <a:pt x="6070035" y="9905692"/>
                </a:lnTo>
                <a:lnTo>
                  <a:pt x="6032417" y="9944249"/>
                </a:lnTo>
                <a:lnTo>
                  <a:pt x="5994480" y="9982499"/>
                </a:lnTo>
                <a:lnTo>
                  <a:pt x="5956230" y="10020436"/>
                </a:lnTo>
                <a:lnTo>
                  <a:pt x="5917674" y="10058054"/>
                </a:lnTo>
                <a:lnTo>
                  <a:pt x="5878813" y="10095352"/>
                </a:lnTo>
                <a:lnTo>
                  <a:pt x="5839650" y="10132332"/>
                </a:lnTo>
                <a:lnTo>
                  <a:pt x="5800185" y="10168994"/>
                </a:lnTo>
                <a:lnTo>
                  <a:pt x="5760420" y="10205340"/>
                </a:lnTo>
                <a:lnTo>
                  <a:pt x="5720349" y="10241350"/>
                </a:lnTo>
                <a:lnTo>
                  <a:pt x="5679993" y="10277030"/>
                </a:lnTo>
                <a:lnTo>
                  <a:pt x="5668530" y="10287000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61"/>
          <p:cNvSpPr txBox="1"/>
          <p:nvPr/>
        </p:nvSpPr>
        <p:spPr>
          <a:xfrm>
            <a:off x="103075" y="2153475"/>
            <a:ext cx="20343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ct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Akurasi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Balanced data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556" name="Google Shape;556;p61"/>
          <p:cNvGraphicFramePr/>
          <p:nvPr/>
        </p:nvGraphicFramePr>
        <p:xfrm>
          <a:off x="3683007" y="331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{FABF32E3-6CDF-49D3-BDE4-9C85959DC97B}</a:tableStyleId>
              </a:tblPr>
              <a:tblGrid>
                <a:gridCol w="833700"/>
                <a:gridCol w="833700"/>
                <a:gridCol w="833700"/>
                <a:gridCol w="833700"/>
              </a:tblGrid>
              <a:tr h="237125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/>
                        <a:t>Confusion Matrix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Prediksi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 hMerge="1"/>
              </a:tr>
              <a:tr h="2298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Yes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No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</a:tr>
              <a:tr h="2298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Actual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Yes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TP : 4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FN : 1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F4CCCC"/>
                    </a:solidFill>
                  </a:tcPr>
                </a:tc>
              </a:tr>
              <a:tr h="229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No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FP : 2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TN : 3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557" name="Google Shape;557;p61"/>
          <p:cNvSpPr txBox="1"/>
          <p:nvPr/>
        </p:nvSpPr>
        <p:spPr>
          <a:xfrm>
            <a:off x="3892950" y="4454915"/>
            <a:ext cx="364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Akurasi = (TP + TN)/(TP+TN+FP+FN) = 7</a:t>
            </a: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0</a:t>
            </a: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b="0" i="0" sz="11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Akurasi = (4 + 3)/(4+3+1+2) = 70%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558" name="Google Shape;558;p61"/>
          <p:cNvGraphicFramePr/>
          <p:nvPr/>
        </p:nvGraphicFramePr>
        <p:xfrm>
          <a:off x="3296175" y="25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{651413A6-036B-41BD-AB29-FD58DBD6E2EC}</a:tableStyleId>
              </a:tblPr>
              <a:tblGrid>
                <a:gridCol w="852275"/>
                <a:gridCol w="1540550"/>
                <a:gridCol w="1641550"/>
              </a:tblGrid>
              <a:tr h="315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NIM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 Class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 Class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19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006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007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008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009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/>
                </a:tc>
              </a:tr>
              <a:tr h="2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559" name="Google Shape;559;p61"/>
          <p:cNvSpPr/>
          <p:nvPr/>
        </p:nvSpPr>
        <p:spPr>
          <a:xfrm>
            <a:off x="8432833" y="4470985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2"/>
          <p:cNvSpPr/>
          <p:nvPr/>
        </p:nvSpPr>
        <p:spPr>
          <a:xfrm>
            <a:off x="0" y="0"/>
            <a:ext cx="2495912" cy="5143500"/>
          </a:xfrm>
          <a:custGeom>
            <a:rect b="b" l="l" r="r" t="t"/>
            <a:pathLst>
              <a:path extrusionOk="0" h="10287000" w="7923530">
                <a:moveTo>
                  <a:pt x="566853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5209055" y="0"/>
                </a:lnTo>
                <a:lnTo>
                  <a:pt x="5217529" y="6124"/>
                </a:lnTo>
                <a:lnTo>
                  <a:pt x="5260930" y="38040"/>
                </a:lnTo>
                <a:lnTo>
                  <a:pt x="5304069" y="70310"/>
                </a:lnTo>
                <a:lnTo>
                  <a:pt x="5346938" y="102927"/>
                </a:lnTo>
                <a:lnTo>
                  <a:pt x="5389536" y="135891"/>
                </a:lnTo>
                <a:lnTo>
                  <a:pt x="5431862" y="169203"/>
                </a:lnTo>
                <a:lnTo>
                  <a:pt x="5473915" y="202862"/>
                </a:lnTo>
                <a:lnTo>
                  <a:pt x="5515692" y="236869"/>
                </a:lnTo>
                <a:lnTo>
                  <a:pt x="5557200" y="271217"/>
                </a:lnTo>
                <a:lnTo>
                  <a:pt x="5598419" y="305898"/>
                </a:lnTo>
                <a:lnTo>
                  <a:pt x="5639350" y="340913"/>
                </a:lnTo>
                <a:lnTo>
                  <a:pt x="5679993" y="376261"/>
                </a:lnTo>
                <a:lnTo>
                  <a:pt x="5720349" y="411943"/>
                </a:lnTo>
                <a:lnTo>
                  <a:pt x="5760420" y="447959"/>
                </a:lnTo>
                <a:lnTo>
                  <a:pt x="5800185" y="484301"/>
                </a:lnTo>
                <a:lnTo>
                  <a:pt x="5839650" y="520962"/>
                </a:lnTo>
                <a:lnTo>
                  <a:pt x="5878813" y="557943"/>
                </a:lnTo>
                <a:lnTo>
                  <a:pt x="5917674" y="595244"/>
                </a:lnTo>
                <a:lnTo>
                  <a:pt x="5956230" y="632863"/>
                </a:lnTo>
                <a:lnTo>
                  <a:pt x="5994480" y="670802"/>
                </a:lnTo>
                <a:lnTo>
                  <a:pt x="6032417" y="709052"/>
                </a:lnTo>
                <a:lnTo>
                  <a:pt x="6070035" y="747607"/>
                </a:lnTo>
                <a:lnTo>
                  <a:pt x="6107333" y="786465"/>
                </a:lnTo>
                <a:lnTo>
                  <a:pt x="6144313" y="825627"/>
                </a:lnTo>
                <a:lnTo>
                  <a:pt x="6180976" y="865093"/>
                </a:lnTo>
                <a:lnTo>
                  <a:pt x="6217321" y="904863"/>
                </a:lnTo>
                <a:lnTo>
                  <a:pt x="6253331" y="944928"/>
                </a:lnTo>
                <a:lnTo>
                  <a:pt x="6289011" y="985281"/>
                </a:lnTo>
                <a:lnTo>
                  <a:pt x="6324360" y="1025922"/>
                </a:lnTo>
                <a:lnTo>
                  <a:pt x="6359378" y="1066851"/>
                </a:lnTo>
                <a:lnTo>
                  <a:pt x="6394063" y="1108069"/>
                </a:lnTo>
                <a:lnTo>
                  <a:pt x="6428416" y="1149575"/>
                </a:lnTo>
                <a:lnTo>
                  <a:pt x="6462417" y="1191359"/>
                </a:lnTo>
                <a:lnTo>
                  <a:pt x="6496075" y="1233414"/>
                </a:lnTo>
                <a:lnTo>
                  <a:pt x="6529387" y="1275741"/>
                </a:lnTo>
                <a:lnTo>
                  <a:pt x="6562353" y="1318338"/>
                </a:lnTo>
                <a:lnTo>
                  <a:pt x="6594970" y="1361206"/>
                </a:lnTo>
                <a:lnTo>
                  <a:pt x="6627237" y="1404344"/>
                </a:lnTo>
                <a:lnTo>
                  <a:pt x="6659149" y="1447746"/>
                </a:lnTo>
                <a:lnTo>
                  <a:pt x="6690702" y="1491404"/>
                </a:lnTo>
                <a:lnTo>
                  <a:pt x="6721894" y="1535317"/>
                </a:lnTo>
                <a:lnTo>
                  <a:pt x="6752726" y="1579483"/>
                </a:lnTo>
                <a:lnTo>
                  <a:pt x="6783199" y="1623898"/>
                </a:lnTo>
                <a:lnTo>
                  <a:pt x="6813311" y="1668562"/>
                </a:lnTo>
                <a:lnTo>
                  <a:pt x="6843059" y="1713480"/>
                </a:lnTo>
                <a:lnTo>
                  <a:pt x="6872437" y="1758635"/>
                </a:lnTo>
                <a:lnTo>
                  <a:pt x="6901443" y="1804025"/>
                </a:lnTo>
                <a:lnTo>
                  <a:pt x="6930076" y="1849650"/>
                </a:lnTo>
                <a:lnTo>
                  <a:pt x="6958334" y="1895509"/>
                </a:lnTo>
                <a:lnTo>
                  <a:pt x="6986217" y="1941602"/>
                </a:lnTo>
                <a:lnTo>
                  <a:pt x="7013721" y="1987930"/>
                </a:lnTo>
                <a:lnTo>
                  <a:pt x="7040846" y="2034470"/>
                </a:lnTo>
                <a:lnTo>
                  <a:pt x="7067589" y="2081226"/>
                </a:lnTo>
                <a:lnTo>
                  <a:pt x="7093948" y="2128200"/>
                </a:lnTo>
                <a:lnTo>
                  <a:pt x="7119921" y="2175392"/>
                </a:lnTo>
                <a:lnTo>
                  <a:pt x="7145505" y="2222807"/>
                </a:lnTo>
                <a:lnTo>
                  <a:pt x="7170710" y="2270420"/>
                </a:lnTo>
                <a:lnTo>
                  <a:pt x="7195520" y="2318234"/>
                </a:lnTo>
                <a:lnTo>
                  <a:pt x="7219935" y="2366247"/>
                </a:lnTo>
                <a:lnTo>
                  <a:pt x="7243955" y="2414457"/>
                </a:lnTo>
                <a:lnTo>
                  <a:pt x="7267579" y="2462864"/>
                </a:lnTo>
                <a:lnTo>
                  <a:pt x="7290809" y="2511465"/>
                </a:lnTo>
                <a:lnTo>
                  <a:pt x="7313650" y="2560264"/>
                </a:lnTo>
                <a:lnTo>
                  <a:pt x="7336085" y="2609239"/>
                </a:lnTo>
                <a:lnTo>
                  <a:pt x="7358114" y="2658391"/>
                </a:lnTo>
                <a:lnTo>
                  <a:pt x="7379740" y="2707722"/>
                </a:lnTo>
                <a:lnTo>
                  <a:pt x="7400963" y="2757230"/>
                </a:lnTo>
                <a:lnTo>
                  <a:pt x="7421785" y="2806918"/>
                </a:lnTo>
                <a:lnTo>
                  <a:pt x="7442192" y="2856775"/>
                </a:lnTo>
                <a:lnTo>
                  <a:pt x="7462192" y="2906791"/>
                </a:lnTo>
                <a:lnTo>
                  <a:pt x="7481785" y="2956966"/>
                </a:lnTo>
                <a:lnTo>
                  <a:pt x="7500967" y="3007301"/>
                </a:lnTo>
                <a:lnTo>
                  <a:pt x="7519736" y="3057797"/>
                </a:lnTo>
                <a:lnTo>
                  <a:pt x="7538091" y="3108455"/>
                </a:lnTo>
                <a:lnTo>
                  <a:pt x="7556029" y="3159251"/>
                </a:lnTo>
                <a:lnTo>
                  <a:pt x="7573550" y="3210187"/>
                </a:lnTo>
                <a:lnTo>
                  <a:pt x="7590654" y="3261262"/>
                </a:lnTo>
                <a:lnTo>
                  <a:pt x="7607341" y="3312475"/>
                </a:lnTo>
                <a:lnTo>
                  <a:pt x="7623611" y="3363826"/>
                </a:lnTo>
                <a:lnTo>
                  <a:pt x="7639464" y="3415313"/>
                </a:lnTo>
                <a:lnTo>
                  <a:pt x="7654895" y="3466928"/>
                </a:lnTo>
                <a:lnTo>
                  <a:pt x="7669901" y="3518661"/>
                </a:lnTo>
                <a:lnTo>
                  <a:pt x="7684481" y="3570513"/>
                </a:lnTo>
                <a:lnTo>
                  <a:pt x="7698635" y="3622483"/>
                </a:lnTo>
                <a:lnTo>
                  <a:pt x="7712364" y="3674572"/>
                </a:lnTo>
                <a:lnTo>
                  <a:pt x="7725666" y="3726779"/>
                </a:lnTo>
                <a:lnTo>
                  <a:pt x="7738541" y="3779094"/>
                </a:lnTo>
                <a:lnTo>
                  <a:pt x="7750985" y="3831505"/>
                </a:lnTo>
                <a:lnTo>
                  <a:pt x="7763000" y="3884011"/>
                </a:lnTo>
                <a:lnTo>
                  <a:pt x="7774584" y="3936611"/>
                </a:lnTo>
                <a:lnTo>
                  <a:pt x="7785738" y="3989304"/>
                </a:lnTo>
                <a:lnTo>
                  <a:pt x="7796461" y="4042091"/>
                </a:lnTo>
                <a:lnTo>
                  <a:pt x="7806755" y="4094974"/>
                </a:lnTo>
                <a:lnTo>
                  <a:pt x="7816616" y="4147932"/>
                </a:lnTo>
                <a:lnTo>
                  <a:pt x="7826045" y="4200965"/>
                </a:lnTo>
                <a:lnTo>
                  <a:pt x="7835039" y="4254072"/>
                </a:lnTo>
                <a:lnTo>
                  <a:pt x="7843597" y="4307254"/>
                </a:lnTo>
                <a:lnTo>
                  <a:pt x="7851717" y="4360511"/>
                </a:lnTo>
                <a:lnTo>
                  <a:pt x="7859401" y="4413842"/>
                </a:lnTo>
                <a:lnTo>
                  <a:pt x="7866650" y="4467223"/>
                </a:lnTo>
                <a:lnTo>
                  <a:pt x="7873462" y="4520655"/>
                </a:lnTo>
                <a:lnTo>
                  <a:pt x="7879838" y="4574140"/>
                </a:lnTo>
                <a:lnTo>
                  <a:pt x="7885776" y="4627680"/>
                </a:lnTo>
                <a:lnTo>
                  <a:pt x="7891276" y="4681274"/>
                </a:lnTo>
                <a:lnTo>
                  <a:pt x="7896337" y="4734904"/>
                </a:lnTo>
                <a:lnTo>
                  <a:pt x="7900959" y="4788570"/>
                </a:lnTo>
                <a:lnTo>
                  <a:pt x="7905143" y="4842272"/>
                </a:lnTo>
                <a:lnTo>
                  <a:pt x="7908887" y="4896006"/>
                </a:lnTo>
                <a:lnTo>
                  <a:pt x="7912192" y="4949772"/>
                </a:lnTo>
                <a:lnTo>
                  <a:pt x="7915059" y="5003565"/>
                </a:lnTo>
                <a:lnTo>
                  <a:pt x="7917484" y="5057390"/>
                </a:lnTo>
                <a:lnTo>
                  <a:pt x="7919467" y="5111224"/>
                </a:lnTo>
                <a:lnTo>
                  <a:pt x="7921008" y="5165067"/>
                </a:lnTo>
                <a:lnTo>
                  <a:pt x="7922107" y="5218918"/>
                </a:lnTo>
                <a:lnTo>
                  <a:pt x="7922767" y="5272778"/>
                </a:lnTo>
                <a:lnTo>
                  <a:pt x="7922986" y="5326647"/>
                </a:lnTo>
                <a:lnTo>
                  <a:pt x="7922767" y="5380516"/>
                </a:lnTo>
                <a:lnTo>
                  <a:pt x="7922107" y="5434376"/>
                </a:lnTo>
                <a:lnTo>
                  <a:pt x="7921008" y="5488227"/>
                </a:lnTo>
                <a:lnTo>
                  <a:pt x="7919467" y="5542069"/>
                </a:lnTo>
                <a:lnTo>
                  <a:pt x="7917484" y="5595903"/>
                </a:lnTo>
                <a:lnTo>
                  <a:pt x="7915059" y="5649728"/>
                </a:lnTo>
                <a:lnTo>
                  <a:pt x="7912192" y="5703522"/>
                </a:lnTo>
                <a:lnTo>
                  <a:pt x="7908887" y="5757287"/>
                </a:lnTo>
                <a:lnTo>
                  <a:pt x="7905143" y="5811022"/>
                </a:lnTo>
                <a:lnTo>
                  <a:pt x="7900959" y="5864723"/>
                </a:lnTo>
                <a:lnTo>
                  <a:pt x="7896337" y="5918390"/>
                </a:lnTo>
                <a:lnTo>
                  <a:pt x="7891276" y="5972019"/>
                </a:lnTo>
                <a:lnTo>
                  <a:pt x="7885776" y="6025614"/>
                </a:lnTo>
                <a:lnTo>
                  <a:pt x="7879838" y="6079153"/>
                </a:lnTo>
                <a:lnTo>
                  <a:pt x="7873462" y="6132638"/>
                </a:lnTo>
                <a:lnTo>
                  <a:pt x="7866650" y="6186070"/>
                </a:lnTo>
                <a:lnTo>
                  <a:pt x="7859401" y="6239451"/>
                </a:lnTo>
                <a:lnTo>
                  <a:pt x="7851717" y="6292783"/>
                </a:lnTo>
                <a:lnTo>
                  <a:pt x="7843597" y="6346039"/>
                </a:lnTo>
                <a:lnTo>
                  <a:pt x="7835039" y="6399221"/>
                </a:lnTo>
                <a:lnTo>
                  <a:pt x="7826045" y="6452328"/>
                </a:lnTo>
                <a:lnTo>
                  <a:pt x="7816616" y="6505361"/>
                </a:lnTo>
                <a:lnTo>
                  <a:pt x="7806755" y="6558319"/>
                </a:lnTo>
                <a:lnTo>
                  <a:pt x="7796461" y="6611202"/>
                </a:lnTo>
                <a:lnTo>
                  <a:pt x="7785738" y="6663989"/>
                </a:lnTo>
                <a:lnTo>
                  <a:pt x="7774584" y="6716683"/>
                </a:lnTo>
                <a:lnTo>
                  <a:pt x="7763000" y="6769283"/>
                </a:lnTo>
                <a:lnTo>
                  <a:pt x="7750985" y="6821789"/>
                </a:lnTo>
                <a:lnTo>
                  <a:pt x="7738541" y="6874199"/>
                </a:lnTo>
                <a:lnTo>
                  <a:pt x="7725666" y="6926514"/>
                </a:lnTo>
                <a:lnTo>
                  <a:pt x="7712364" y="6978722"/>
                </a:lnTo>
                <a:lnTo>
                  <a:pt x="7698635" y="7030810"/>
                </a:lnTo>
                <a:lnTo>
                  <a:pt x="7684481" y="7082781"/>
                </a:lnTo>
                <a:lnTo>
                  <a:pt x="7669901" y="7134633"/>
                </a:lnTo>
                <a:lnTo>
                  <a:pt x="7654895" y="7186366"/>
                </a:lnTo>
                <a:lnTo>
                  <a:pt x="7639464" y="7237981"/>
                </a:lnTo>
                <a:lnTo>
                  <a:pt x="7623611" y="7289468"/>
                </a:lnTo>
                <a:lnTo>
                  <a:pt x="7607341" y="7340819"/>
                </a:lnTo>
                <a:lnTo>
                  <a:pt x="7590654" y="7392032"/>
                </a:lnTo>
                <a:lnTo>
                  <a:pt x="7573550" y="7443106"/>
                </a:lnTo>
                <a:lnTo>
                  <a:pt x="7556029" y="7494042"/>
                </a:lnTo>
                <a:lnTo>
                  <a:pt x="7538091" y="7544838"/>
                </a:lnTo>
                <a:lnTo>
                  <a:pt x="7519738" y="7595496"/>
                </a:lnTo>
                <a:lnTo>
                  <a:pt x="7500973" y="7645992"/>
                </a:lnTo>
                <a:lnTo>
                  <a:pt x="7481795" y="7696328"/>
                </a:lnTo>
                <a:lnTo>
                  <a:pt x="7462204" y="7746503"/>
                </a:lnTo>
                <a:lnTo>
                  <a:pt x="7442201" y="7796518"/>
                </a:lnTo>
                <a:lnTo>
                  <a:pt x="7421785" y="7846375"/>
                </a:lnTo>
                <a:lnTo>
                  <a:pt x="7400963" y="7896063"/>
                </a:lnTo>
                <a:lnTo>
                  <a:pt x="7379740" y="7945572"/>
                </a:lnTo>
                <a:lnTo>
                  <a:pt x="7358114" y="7994902"/>
                </a:lnTo>
                <a:lnTo>
                  <a:pt x="7336085" y="8044054"/>
                </a:lnTo>
                <a:lnTo>
                  <a:pt x="7313650" y="8093030"/>
                </a:lnTo>
                <a:lnTo>
                  <a:pt x="7290809" y="8141829"/>
                </a:lnTo>
                <a:lnTo>
                  <a:pt x="7267579" y="8190430"/>
                </a:lnTo>
                <a:lnTo>
                  <a:pt x="7243955" y="8238836"/>
                </a:lnTo>
                <a:lnTo>
                  <a:pt x="7219935" y="8287047"/>
                </a:lnTo>
                <a:lnTo>
                  <a:pt x="7195520" y="8335060"/>
                </a:lnTo>
                <a:lnTo>
                  <a:pt x="7170710" y="8382874"/>
                </a:lnTo>
                <a:lnTo>
                  <a:pt x="7145505" y="8430487"/>
                </a:lnTo>
                <a:lnTo>
                  <a:pt x="7119921" y="8477892"/>
                </a:lnTo>
                <a:lnTo>
                  <a:pt x="7093948" y="8525082"/>
                </a:lnTo>
                <a:lnTo>
                  <a:pt x="7067589" y="8572057"/>
                </a:lnTo>
                <a:lnTo>
                  <a:pt x="7040846" y="8618817"/>
                </a:lnTo>
                <a:lnTo>
                  <a:pt x="7013721" y="8665362"/>
                </a:lnTo>
                <a:lnTo>
                  <a:pt x="6986217" y="8711692"/>
                </a:lnTo>
                <a:lnTo>
                  <a:pt x="6958334" y="8757784"/>
                </a:lnTo>
                <a:lnTo>
                  <a:pt x="6930076" y="8803644"/>
                </a:lnTo>
                <a:lnTo>
                  <a:pt x="6901443" y="8849269"/>
                </a:lnTo>
                <a:lnTo>
                  <a:pt x="6872437" y="8894659"/>
                </a:lnTo>
                <a:lnTo>
                  <a:pt x="6843059" y="8939814"/>
                </a:lnTo>
                <a:lnTo>
                  <a:pt x="6813311" y="8984732"/>
                </a:lnTo>
                <a:lnTo>
                  <a:pt x="6783199" y="9029395"/>
                </a:lnTo>
                <a:lnTo>
                  <a:pt x="6752726" y="9073811"/>
                </a:lnTo>
                <a:lnTo>
                  <a:pt x="6721894" y="9117976"/>
                </a:lnTo>
                <a:lnTo>
                  <a:pt x="6690702" y="9161889"/>
                </a:lnTo>
                <a:lnTo>
                  <a:pt x="6659149" y="9205548"/>
                </a:lnTo>
                <a:lnTo>
                  <a:pt x="6627237" y="9248949"/>
                </a:lnTo>
                <a:lnTo>
                  <a:pt x="6594970" y="9292087"/>
                </a:lnTo>
                <a:lnTo>
                  <a:pt x="6562353" y="9334956"/>
                </a:lnTo>
                <a:lnTo>
                  <a:pt x="6529387" y="9377555"/>
                </a:lnTo>
                <a:lnTo>
                  <a:pt x="6496075" y="9419881"/>
                </a:lnTo>
                <a:lnTo>
                  <a:pt x="6462417" y="9461934"/>
                </a:lnTo>
                <a:lnTo>
                  <a:pt x="6428416" y="9503711"/>
                </a:lnTo>
                <a:lnTo>
                  <a:pt x="6394063" y="9545219"/>
                </a:lnTo>
                <a:lnTo>
                  <a:pt x="6359378" y="9586438"/>
                </a:lnTo>
                <a:lnTo>
                  <a:pt x="6324360" y="9627369"/>
                </a:lnTo>
                <a:lnTo>
                  <a:pt x="6289011" y="9668012"/>
                </a:lnTo>
                <a:lnTo>
                  <a:pt x="6253331" y="9708368"/>
                </a:lnTo>
                <a:lnTo>
                  <a:pt x="6217321" y="9748438"/>
                </a:lnTo>
                <a:lnTo>
                  <a:pt x="6180976" y="9788203"/>
                </a:lnTo>
                <a:lnTo>
                  <a:pt x="6144313" y="9827668"/>
                </a:lnTo>
                <a:lnTo>
                  <a:pt x="6107333" y="9866832"/>
                </a:lnTo>
                <a:lnTo>
                  <a:pt x="6070035" y="9905692"/>
                </a:lnTo>
                <a:lnTo>
                  <a:pt x="6032417" y="9944249"/>
                </a:lnTo>
                <a:lnTo>
                  <a:pt x="5994480" y="9982499"/>
                </a:lnTo>
                <a:lnTo>
                  <a:pt x="5956230" y="10020436"/>
                </a:lnTo>
                <a:lnTo>
                  <a:pt x="5917674" y="10058054"/>
                </a:lnTo>
                <a:lnTo>
                  <a:pt x="5878813" y="10095352"/>
                </a:lnTo>
                <a:lnTo>
                  <a:pt x="5839650" y="10132332"/>
                </a:lnTo>
                <a:lnTo>
                  <a:pt x="5800185" y="10168994"/>
                </a:lnTo>
                <a:lnTo>
                  <a:pt x="5760420" y="10205340"/>
                </a:lnTo>
                <a:lnTo>
                  <a:pt x="5720349" y="10241350"/>
                </a:lnTo>
                <a:lnTo>
                  <a:pt x="5679993" y="10277030"/>
                </a:lnTo>
                <a:lnTo>
                  <a:pt x="5668530" y="10287000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62"/>
          <p:cNvSpPr txBox="1"/>
          <p:nvPr/>
        </p:nvSpPr>
        <p:spPr>
          <a:xfrm>
            <a:off x="103075" y="2153475"/>
            <a:ext cx="2034300" cy="11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ct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Akurasi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Imbalanced data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6" name="Google Shape;566;p62"/>
          <p:cNvSpPr txBox="1"/>
          <p:nvPr/>
        </p:nvSpPr>
        <p:spPr>
          <a:xfrm>
            <a:off x="3427450" y="2698600"/>
            <a:ext cx="44685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Akurasi : </a:t>
            </a:r>
            <a:r>
              <a:rPr b="1"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(0+97) / 100= 97% (BIAS)</a:t>
            </a:r>
            <a:endParaRPr b="1"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97% nilai akurasi sangat tinggi walaupun model </a:t>
            </a:r>
            <a:endParaRPr b="1"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tidak dapat memprediksi kejadian positif covid-19</a:t>
            </a:r>
            <a:endParaRPr b="1"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7" name="Google Shape;567;p62"/>
          <p:cNvSpPr txBox="1"/>
          <p:nvPr/>
        </p:nvSpPr>
        <p:spPr>
          <a:xfrm>
            <a:off x="2565025" y="900275"/>
            <a:ext cx="1756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actual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100 people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 : positive covid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97 : negative covid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8" name="Google Shape;568;p62"/>
          <p:cNvSpPr/>
          <p:nvPr/>
        </p:nvSpPr>
        <p:spPr>
          <a:xfrm rot="-5400000">
            <a:off x="4199150" y="1255350"/>
            <a:ext cx="172500" cy="276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2"/>
          <p:cNvSpPr txBox="1"/>
          <p:nvPr/>
        </p:nvSpPr>
        <p:spPr>
          <a:xfrm>
            <a:off x="4622425" y="866400"/>
            <a:ext cx="5146500" cy="1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100 people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 : FN - Prediksi Negatif, tapi salah (yang benar positif)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 : FP - Prediksi Positif, tapi salah (yang benar negatif)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97 : TN - Prediksi Negatif dan benar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 : TP - Prediksi Positif dan benar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0" name="Google Shape;570;p62"/>
          <p:cNvSpPr txBox="1"/>
          <p:nvPr/>
        </p:nvSpPr>
        <p:spPr>
          <a:xfrm>
            <a:off x="2424350" y="3993900"/>
            <a:ext cx="65928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Accuracy TIDAK BISA untuk kasus imbalanced data </a:t>
            </a:r>
            <a:endParaRPr b="1" i="0" sz="2500" u="none" cap="none" strike="noStrik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1" name="Google Shape;571;p62"/>
          <p:cNvSpPr/>
          <p:nvPr/>
        </p:nvSpPr>
        <p:spPr>
          <a:xfrm>
            <a:off x="8432833" y="4470985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3"/>
          <p:cNvSpPr/>
          <p:nvPr/>
        </p:nvSpPr>
        <p:spPr>
          <a:xfrm>
            <a:off x="0" y="0"/>
            <a:ext cx="2495912" cy="5143500"/>
          </a:xfrm>
          <a:custGeom>
            <a:rect b="b" l="l" r="r" t="t"/>
            <a:pathLst>
              <a:path extrusionOk="0" h="10287000" w="7923530">
                <a:moveTo>
                  <a:pt x="566853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5209055" y="0"/>
                </a:lnTo>
                <a:lnTo>
                  <a:pt x="5217529" y="6124"/>
                </a:lnTo>
                <a:lnTo>
                  <a:pt x="5260930" y="38040"/>
                </a:lnTo>
                <a:lnTo>
                  <a:pt x="5304069" y="70310"/>
                </a:lnTo>
                <a:lnTo>
                  <a:pt x="5346938" y="102927"/>
                </a:lnTo>
                <a:lnTo>
                  <a:pt x="5389536" y="135891"/>
                </a:lnTo>
                <a:lnTo>
                  <a:pt x="5431862" y="169203"/>
                </a:lnTo>
                <a:lnTo>
                  <a:pt x="5473915" y="202862"/>
                </a:lnTo>
                <a:lnTo>
                  <a:pt x="5515692" y="236869"/>
                </a:lnTo>
                <a:lnTo>
                  <a:pt x="5557200" y="271217"/>
                </a:lnTo>
                <a:lnTo>
                  <a:pt x="5598419" y="305898"/>
                </a:lnTo>
                <a:lnTo>
                  <a:pt x="5639350" y="340913"/>
                </a:lnTo>
                <a:lnTo>
                  <a:pt x="5679993" y="376261"/>
                </a:lnTo>
                <a:lnTo>
                  <a:pt x="5720349" y="411943"/>
                </a:lnTo>
                <a:lnTo>
                  <a:pt x="5760420" y="447959"/>
                </a:lnTo>
                <a:lnTo>
                  <a:pt x="5800185" y="484301"/>
                </a:lnTo>
                <a:lnTo>
                  <a:pt x="5839650" y="520962"/>
                </a:lnTo>
                <a:lnTo>
                  <a:pt x="5878813" y="557943"/>
                </a:lnTo>
                <a:lnTo>
                  <a:pt x="5917674" y="595244"/>
                </a:lnTo>
                <a:lnTo>
                  <a:pt x="5956230" y="632863"/>
                </a:lnTo>
                <a:lnTo>
                  <a:pt x="5994480" y="670802"/>
                </a:lnTo>
                <a:lnTo>
                  <a:pt x="6032417" y="709052"/>
                </a:lnTo>
                <a:lnTo>
                  <a:pt x="6070035" y="747607"/>
                </a:lnTo>
                <a:lnTo>
                  <a:pt x="6107333" y="786465"/>
                </a:lnTo>
                <a:lnTo>
                  <a:pt x="6144313" y="825627"/>
                </a:lnTo>
                <a:lnTo>
                  <a:pt x="6180976" y="865093"/>
                </a:lnTo>
                <a:lnTo>
                  <a:pt x="6217321" y="904863"/>
                </a:lnTo>
                <a:lnTo>
                  <a:pt x="6253331" y="944928"/>
                </a:lnTo>
                <a:lnTo>
                  <a:pt x="6289011" y="985281"/>
                </a:lnTo>
                <a:lnTo>
                  <a:pt x="6324360" y="1025922"/>
                </a:lnTo>
                <a:lnTo>
                  <a:pt x="6359378" y="1066851"/>
                </a:lnTo>
                <a:lnTo>
                  <a:pt x="6394063" y="1108069"/>
                </a:lnTo>
                <a:lnTo>
                  <a:pt x="6428416" y="1149575"/>
                </a:lnTo>
                <a:lnTo>
                  <a:pt x="6462417" y="1191359"/>
                </a:lnTo>
                <a:lnTo>
                  <a:pt x="6496075" y="1233414"/>
                </a:lnTo>
                <a:lnTo>
                  <a:pt x="6529387" y="1275741"/>
                </a:lnTo>
                <a:lnTo>
                  <a:pt x="6562353" y="1318338"/>
                </a:lnTo>
                <a:lnTo>
                  <a:pt x="6594970" y="1361206"/>
                </a:lnTo>
                <a:lnTo>
                  <a:pt x="6627237" y="1404344"/>
                </a:lnTo>
                <a:lnTo>
                  <a:pt x="6659149" y="1447746"/>
                </a:lnTo>
                <a:lnTo>
                  <a:pt x="6690702" y="1491404"/>
                </a:lnTo>
                <a:lnTo>
                  <a:pt x="6721894" y="1535317"/>
                </a:lnTo>
                <a:lnTo>
                  <a:pt x="6752726" y="1579483"/>
                </a:lnTo>
                <a:lnTo>
                  <a:pt x="6783199" y="1623898"/>
                </a:lnTo>
                <a:lnTo>
                  <a:pt x="6813311" y="1668562"/>
                </a:lnTo>
                <a:lnTo>
                  <a:pt x="6843059" y="1713480"/>
                </a:lnTo>
                <a:lnTo>
                  <a:pt x="6872437" y="1758635"/>
                </a:lnTo>
                <a:lnTo>
                  <a:pt x="6901443" y="1804025"/>
                </a:lnTo>
                <a:lnTo>
                  <a:pt x="6930076" y="1849650"/>
                </a:lnTo>
                <a:lnTo>
                  <a:pt x="6958334" y="1895509"/>
                </a:lnTo>
                <a:lnTo>
                  <a:pt x="6986217" y="1941602"/>
                </a:lnTo>
                <a:lnTo>
                  <a:pt x="7013721" y="1987930"/>
                </a:lnTo>
                <a:lnTo>
                  <a:pt x="7040846" y="2034470"/>
                </a:lnTo>
                <a:lnTo>
                  <a:pt x="7067589" y="2081226"/>
                </a:lnTo>
                <a:lnTo>
                  <a:pt x="7093948" y="2128200"/>
                </a:lnTo>
                <a:lnTo>
                  <a:pt x="7119921" y="2175392"/>
                </a:lnTo>
                <a:lnTo>
                  <a:pt x="7145505" y="2222807"/>
                </a:lnTo>
                <a:lnTo>
                  <a:pt x="7170710" y="2270420"/>
                </a:lnTo>
                <a:lnTo>
                  <a:pt x="7195520" y="2318234"/>
                </a:lnTo>
                <a:lnTo>
                  <a:pt x="7219935" y="2366247"/>
                </a:lnTo>
                <a:lnTo>
                  <a:pt x="7243955" y="2414457"/>
                </a:lnTo>
                <a:lnTo>
                  <a:pt x="7267579" y="2462864"/>
                </a:lnTo>
                <a:lnTo>
                  <a:pt x="7290809" y="2511465"/>
                </a:lnTo>
                <a:lnTo>
                  <a:pt x="7313650" y="2560264"/>
                </a:lnTo>
                <a:lnTo>
                  <a:pt x="7336085" y="2609239"/>
                </a:lnTo>
                <a:lnTo>
                  <a:pt x="7358114" y="2658391"/>
                </a:lnTo>
                <a:lnTo>
                  <a:pt x="7379740" y="2707722"/>
                </a:lnTo>
                <a:lnTo>
                  <a:pt x="7400963" y="2757230"/>
                </a:lnTo>
                <a:lnTo>
                  <a:pt x="7421785" y="2806918"/>
                </a:lnTo>
                <a:lnTo>
                  <a:pt x="7442192" y="2856775"/>
                </a:lnTo>
                <a:lnTo>
                  <a:pt x="7462192" y="2906791"/>
                </a:lnTo>
                <a:lnTo>
                  <a:pt x="7481785" y="2956966"/>
                </a:lnTo>
                <a:lnTo>
                  <a:pt x="7500967" y="3007301"/>
                </a:lnTo>
                <a:lnTo>
                  <a:pt x="7519736" y="3057797"/>
                </a:lnTo>
                <a:lnTo>
                  <a:pt x="7538091" y="3108455"/>
                </a:lnTo>
                <a:lnTo>
                  <a:pt x="7556029" y="3159251"/>
                </a:lnTo>
                <a:lnTo>
                  <a:pt x="7573550" y="3210187"/>
                </a:lnTo>
                <a:lnTo>
                  <a:pt x="7590654" y="3261262"/>
                </a:lnTo>
                <a:lnTo>
                  <a:pt x="7607341" y="3312475"/>
                </a:lnTo>
                <a:lnTo>
                  <a:pt x="7623611" y="3363826"/>
                </a:lnTo>
                <a:lnTo>
                  <a:pt x="7639464" y="3415313"/>
                </a:lnTo>
                <a:lnTo>
                  <a:pt x="7654895" y="3466928"/>
                </a:lnTo>
                <a:lnTo>
                  <a:pt x="7669901" y="3518661"/>
                </a:lnTo>
                <a:lnTo>
                  <a:pt x="7684481" y="3570513"/>
                </a:lnTo>
                <a:lnTo>
                  <a:pt x="7698635" y="3622483"/>
                </a:lnTo>
                <a:lnTo>
                  <a:pt x="7712364" y="3674572"/>
                </a:lnTo>
                <a:lnTo>
                  <a:pt x="7725666" y="3726779"/>
                </a:lnTo>
                <a:lnTo>
                  <a:pt x="7738541" y="3779094"/>
                </a:lnTo>
                <a:lnTo>
                  <a:pt x="7750985" y="3831505"/>
                </a:lnTo>
                <a:lnTo>
                  <a:pt x="7763000" y="3884011"/>
                </a:lnTo>
                <a:lnTo>
                  <a:pt x="7774584" y="3936611"/>
                </a:lnTo>
                <a:lnTo>
                  <a:pt x="7785738" y="3989304"/>
                </a:lnTo>
                <a:lnTo>
                  <a:pt x="7796461" y="4042091"/>
                </a:lnTo>
                <a:lnTo>
                  <a:pt x="7806755" y="4094974"/>
                </a:lnTo>
                <a:lnTo>
                  <a:pt x="7816616" y="4147932"/>
                </a:lnTo>
                <a:lnTo>
                  <a:pt x="7826045" y="4200965"/>
                </a:lnTo>
                <a:lnTo>
                  <a:pt x="7835039" y="4254072"/>
                </a:lnTo>
                <a:lnTo>
                  <a:pt x="7843597" y="4307254"/>
                </a:lnTo>
                <a:lnTo>
                  <a:pt x="7851717" y="4360511"/>
                </a:lnTo>
                <a:lnTo>
                  <a:pt x="7859401" y="4413842"/>
                </a:lnTo>
                <a:lnTo>
                  <a:pt x="7866650" y="4467223"/>
                </a:lnTo>
                <a:lnTo>
                  <a:pt x="7873462" y="4520655"/>
                </a:lnTo>
                <a:lnTo>
                  <a:pt x="7879838" y="4574140"/>
                </a:lnTo>
                <a:lnTo>
                  <a:pt x="7885776" y="4627680"/>
                </a:lnTo>
                <a:lnTo>
                  <a:pt x="7891276" y="4681274"/>
                </a:lnTo>
                <a:lnTo>
                  <a:pt x="7896337" y="4734904"/>
                </a:lnTo>
                <a:lnTo>
                  <a:pt x="7900959" y="4788570"/>
                </a:lnTo>
                <a:lnTo>
                  <a:pt x="7905143" y="4842272"/>
                </a:lnTo>
                <a:lnTo>
                  <a:pt x="7908887" y="4896006"/>
                </a:lnTo>
                <a:lnTo>
                  <a:pt x="7912192" y="4949772"/>
                </a:lnTo>
                <a:lnTo>
                  <a:pt x="7915059" y="5003565"/>
                </a:lnTo>
                <a:lnTo>
                  <a:pt x="7917484" y="5057390"/>
                </a:lnTo>
                <a:lnTo>
                  <a:pt x="7919467" y="5111224"/>
                </a:lnTo>
                <a:lnTo>
                  <a:pt x="7921008" y="5165067"/>
                </a:lnTo>
                <a:lnTo>
                  <a:pt x="7922107" y="5218918"/>
                </a:lnTo>
                <a:lnTo>
                  <a:pt x="7922767" y="5272778"/>
                </a:lnTo>
                <a:lnTo>
                  <a:pt x="7922986" y="5326647"/>
                </a:lnTo>
                <a:lnTo>
                  <a:pt x="7922767" y="5380516"/>
                </a:lnTo>
                <a:lnTo>
                  <a:pt x="7922107" y="5434376"/>
                </a:lnTo>
                <a:lnTo>
                  <a:pt x="7921008" y="5488227"/>
                </a:lnTo>
                <a:lnTo>
                  <a:pt x="7919467" y="5542069"/>
                </a:lnTo>
                <a:lnTo>
                  <a:pt x="7917484" y="5595903"/>
                </a:lnTo>
                <a:lnTo>
                  <a:pt x="7915059" y="5649728"/>
                </a:lnTo>
                <a:lnTo>
                  <a:pt x="7912192" y="5703522"/>
                </a:lnTo>
                <a:lnTo>
                  <a:pt x="7908887" y="5757287"/>
                </a:lnTo>
                <a:lnTo>
                  <a:pt x="7905143" y="5811022"/>
                </a:lnTo>
                <a:lnTo>
                  <a:pt x="7900959" y="5864723"/>
                </a:lnTo>
                <a:lnTo>
                  <a:pt x="7896337" y="5918390"/>
                </a:lnTo>
                <a:lnTo>
                  <a:pt x="7891276" y="5972019"/>
                </a:lnTo>
                <a:lnTo>
                  <a:pt x="7885776" y="6025614"/>
                </a:lnTo>
                <a:lnTo>
                  <a:pt x="7879838" y="6079153"/>
                </a:lnTo>
                <a:lnTo>
                  <a:pt x="7873462" y="6132638"/>
                </a:lnTo>
                <a:lnTo>
                  <a:pt x="7866650" y="6186070"/>
                </a:lnTo>
                <a:lnTo>
                  <a:pt x="7859401" y="6239451"/>
                </a:lnTo>
                <a:lnTo>
                  <a:pt x="7851717" y="6292783"/>
                </a:lnTo>
                <a:lnTo>
                  <a:pt x="7843597" y="6346039"/>
                </a:lnTo>
                <a:lnTo>
                  <a:pt x="7835039" y="6399221"/>
                </a:lnTo>
                <a:lnTo>
                  <a:pt x="7826045" y="6452328"/>
                </a:lnTo>
                <a:lnTo>
                  <a:pt x="7816616" y="6505361"/>
                </a:lnTo>
                <a:lnTo>
                  <a:pt x="7806755" y="6558319"/>
                </a:lnTo>
                <a:lnTo>
                  <a:pt x="7796461" y="6611202"/>
                </a:lnTo>
                <a:lnTo>
                  <a:pt x="7785738" y="6663989"/>
                </a:lnTo>
                <a:lnTo>
                  <a:pt x="7774584" y="6716683"/>
                </a:lnTo>
                <a:lnTo>
                  <a:pt x="7763000" y="6769283"/>
                </a:lnTo>
                <a:lnTo>
                  <a:pt x="7750985" y="6821789"/>
                </a:lnTo>
                <a:lnTo>
                  <a:pt x="7738541" y="6874199"/>
                </a:lnTo>
                <a:lnTo>
                  <a:pt x="7725666" y="6926514"/>
                </a:lnTo>
                <a:lnTo>
                  <a:pt x="7712364" y="6978722"/>
                </a:lnTo>
                <a:lnTo>
                  <a:pt x="7698635" y="7030810"/>
                </a:lnTo>
                <a:lnTo>
                  <a:pt x="7684481" y="7082781"/>
                </a:lnTo>
                <a:lnTo>
                  <a:pt x="7669901" y="7134633"/>
                </a:lnTo>
                <a:lnTo>
                  <a:pt x="7654895" y="7186366"/>
                </a:lnTo>
                <a:lnTo>
                  <a:pt x="7639464" y="7237981"/>
                </a:lnTo>
                <a:lnTo>
                  <a:pt x="7623611" y="7289468"/>
                </a:lnTo>
                <a:lnTo>
                  <a:pt x="7607341" y="7340819"/>
                </a:lnTo>
                <a:lnTo>
                  <a:pt x="7590654" y="7392032"/>
                </a:lnTo>
                <a:lnTo>
                  <a:pt x="7573550" y="7443106"/>
                </a:lnTo>
                <a:lnTo>
                  <a:pt x="7556029" y="7494042"/>
                </a:lnTo>
                <a:lnTo>
                  <a:pt x="7538091" y="7544838"/>
                </a:lnTo>
                <a:lnTo>
                  <a:pt x="7519738" y="7595496"/>
                </a:lnTo>
                <a:lnTo>
                  <a:pt x="7500973" y="7645992"/>
                </a:lnTo>
                <a:lnTo>
                  <a:pt x="7481795" y="7696328"/>
                </a:lnTo>
                <a:lnTo>
                  <a:pt x="7462204" y="7746503"/>
                </a:lnTo>
                <a:lnTo>
                  <a:pt x="7442201" y="7796518"/>
                </a:lnTo>
                <a:lnTo>
                  <a:pt x="7421785" y="7846375"/>
                </a:lnTo>
                <a:lnTo>
                  <a:pt x="7400963" y="7896063"/>
                </a:lnTo>
                <a:lnTo>
                  <a:pt x="7379740" y="7945572"/>
                </a:lnTo>
                <a:lnTo>
                  <a:pt x="7358114" y="7994902"/>
                </a:lnTo>
                <a:lnTo>
                  <a:pt x="7336085" y="8044054"/>
                </a:lnTo>
                <a:lnTo>
                  <a:pt x="7313650" y="8093030"/>
                </a:lnTo>
                <a:lnTo>
                  <a:pt x="7290809" y="8141829"/>
                </a:lnTo>
                <a:lnTo>
                  <a:pt x="7267579" y="8190430"/>
                </a:lnTo>
                <a:lnTo>
                  <a:pt x="7243955" y="8238836"/>
                </a:lnTo>
                <a:lnTo>
                  <a:pt x="7219935" y="8287047"/>
                </a:lnTo>
                <a:lnTo>
                  <a:pt x="7195520" y="8335060"/>
                </a:lnTo>
                <a:lnTo>
                  <a:pt x="7170710" y="8382874"/>
                </a:lnTo>
                <a:lnTo>
                  <a:pt x="7145505" y="8430487"/>
                </a:lnTo>
                <a:lnTo>
                  <a:pt x="7119921" y="8477892"/>
                </a:lnTo>
                <a:lnTo>
                  <a:pt x="7093948" y="8525082"/>
                </a:lnTo>
                <a:lnTo>
                  <a:pt x="7067589" y="8572057"/>
                </a:lnTo>
                <a:lnTo>
                  <a:pt x="7040846" y="8618817"/>
                </a:lnTo>
                <a:lnTo>
                  <a:pt x="7013721" y="8665362"/>
                </a:lnTo>
                <a:lnTo>
                  <a:pt x="6986217" y="8711692"/>
                </a:lnTo>
                <a:lnTo>
                  <a:pt x="6958334" y="8757784"/>
                </a:lnTo>
                <a:lnTo>
                  <a:pt x="6930076" y="8803644"/>
                </a:lnTo>
                <a:lnTo>
                  <a:pt x="6901443" y="8849269"/>
                </a:lnTo>
                <a:lnTo>
                  <a:pt x="6872437" y="8894659"/>
                </a:lnTo>
                <a:lnTo>
                  <a:pt x="6843059" y="8939814"/>
                </a:lnTo>
                <a:lnTo>
                  <a:pt x="6813311" y="8984732"/>
                </a:lnTo>
                <a:lnTo>
                  <a:pt x="6783199" y="9029395"/>
                </a:lnTo>
                <a:lnTo>
                  <a:pt x="6752726" y="9073811"/>
                </a:lnTo>
                <a:lnTo>
                  <a:pt x="6721894" y="9117976"/>
                </a:lnTo>
                <a:lnTo>
                  <a:pt x="6690702" y="9161889"/>
                </a:lnTo>
                <a:lnTo>
                  <a:pt x="6659149" y="9205548"/>
                </a:lnTo>
                <a:lnTo>
                  <a:pt x="6627237" y="9248949"/>
                </a:lnTo>
                <a:lnTo>
                  <a:pt x="6594970" y="9292087"/>
                </a:lnTo>
                <a:lnTo>
                  <a:pt x="6562353" y="9334956"/>
                </a:lnTo>
                <a:lnTo>
                  <a:pt x="6529387" y="9377555"/>
                </a:lnTo>
                <a:lnTo>
                  <a:pt x="6496075" y="9419881"/>
                </a:lnTo>
                <a:lnTo>
                  <a:pt x="6462417" y="9461934"/>
                </a:lnTo>
                <a:lnTo>
                  <a:pt x="6428416" y="9503711"/>
                </a:lnTo>
                <a:lnTo>
                  <a:pt x="6394063" y="9545219"/>
                </a:lnTo>
                <a:lnTo>
                  <a:pt x="6359378" y="9586438"/>
                </a:lnTo>
                <a:lnTo>
                  <a:pt x="6324360" y="9627369"/>
                </a:lnTo>
                <a:lnTo>
                  <a:pt x="6289011" y="9668012"/>
                </a:lnTo>
                <a:lnTo>
                  <a:pt x="6253331" y="9708368"/>
                </a:lnTo>
                <a:lnTo>
                  <a:pt x="6217321" y="9748438"/>
                </a:lnTo>
                <a:lnTo>
                  <a:pt x="6180976" y="9788203"/>
                </a:lnTo>
                <a:lnTo>
                  <a:pt x="6144313" y="9827668"/>
                </a:lnTo>
                <a:lnTo>
                  <a:pt x="6107333" y="9866832"/>
                </a:lnTo>
                <a:lnTo>
                  <a:pt x="6070035" y="9905692"/>
                </a:lnTo>
                <a:lnTo>
                  <a:pt x="6032417" y="9944249"/>
                </a:lnTo>
                <a:lnTo>
                  <a:pt x="5994480" y="9982499"/>
                </a:lnTo>
                <a:lnTo>
                  <a:pt x="5956230" y="10020436"/>
                </a:lnTo>
                <a:lnTo>
                  <a:pt x="5917674" y="10058054"/>
                </a:lnTo>
                <a:lnTo>
                  <a:pt x="5878813" y="10095352"/>
                </a:lnTo>
                <a:lnTo>
                  <a:pt x="5839650" y="10132332"/>
                </a:lnTo>
                <a:lnTo>
                  <a:pt x="5800185" y="10168994"/>
                </a:lnTo>
                <a:lnTo>
                  <a:pt x="5760420" y="10205340"/>
                </a:lnTo>
                <a:lnTo>
                  <a:pt x="5720349" y="10241350"/>
                </a:lnTo>
                <a:lnTo>
                  <a:pt x="5679993" y="10277030"/>
                </a:lnTo>
                <a:lnTo>
                  <a:pt x="5668530" y="10287000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63"/>
          <p:cNvSpPr txBox="1"/>
          <p:nvPr/>
        </p:nvSpPr>
        <p:spPr>
          <a:xfrm>
            <a:off x="0" y="2001075"/>
            <a:ext cx="2430000" cy="11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rtl="0" algn="ct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Precision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ct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&amp; </a:t>
            </a:r>
            <a:b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Recall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8" name="Google Shape;578;p6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63"/>
          <p:cNvSpPr txBox="1"/>
          <p:nvPr/>
        </p:nvSpPr>
        <p:spPr>
          <a:xfrm>
            <a:off x="2597550" y="1635500"/>
            <a:ext cx="289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Precision </a:t>
            </a: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= </a:t>
            </a: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 / (TP + FP)</a:t>
            </a:r>
            <a:endParaRPr b="0" i="0" sz="11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Precision = 320/(320 + 20) = 0.91 atau 91%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580" name="Google Shape;580;p63"/>
          <p:cNvGraphicFramePr/>
          <p:nvPr/>
        </p:nvGraphicFramePr>
        <p:xfrm>
          <a:off x="3606807" y="265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{FABF32E3-6CDF-49D3-BDE4-9C85959DC97B}</a:tableStyleId>
              </a:tblPr>
              <a:tblGrid>
                <a:gridCol w="833700"/>
                <a:gridCol w="833700"/>
                <a:gridCol w="833700"/>
                <a:gridCol w="833700"/>
              </a:tblGrid>
              <a:tr h="237125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/>
                        <a:t>Confusion Matrix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Prediksi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 hMerge="1"/>
              </a:tr>
              <a:tr h="2298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Yes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No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</a:tr>
              <a:tr h="2298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Actual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Yes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TP : 320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FN : 43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F4CCCC"/>
                    </a:solidFill>
                  </a:tcPr>
                </a:tc>
              </a:tr>
              <a:tr h="229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No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FP : 20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TN : 538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581" name="Google Shape;581;p63"/>
          <p:cNvSpPr txBox="1"/>
          <p:nvPr/>
        </p:nvSpPr>
        <p:spPr>
          <a:xfrm>
            <a:off x="3740550" y="2168888"/>
            <a:ext cx="36441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Precision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Biasa digunakan ketika lebih </a:t>
            </a:r>
            <a:r>
              <a:rPr b="1" lang="en" sz="11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memperhatikan jumlah False positif (FP) yang sebaiknya lebih sedikit</a:t>
            </a: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FP : Prediksi Positif , tapi salah (yang benar negative)</a:t>
            </a:r>
            <a:br>
              <a:rPr lang="en" sz="1100">
                <a:latin typeface="Georgia"/>
                <a:ea typeface="Georgia"/>
                <a:cs typeface="Georgia"/>
                <a:sym typeface="Georgia"/>
              </a:rPr>
            </a:b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Contoh kasus : deteksi spam pada email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Recall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Jika kita </a:t>
            </a:r>
            <a:r>
              <a:rPr b="1" lang="en" sz="11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memperhatikan jumlah False Negatif (FN) yang sebaiknya lebih sedikit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1" sz="110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FN: Prediksi Negatif, tapi salah (yang benar positif)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Contoh kasus : Deteksi penyakit kanker, Deteksi Covid-19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2" name="Google Shape;582;p63"/>
          <p:cNvSpPr txBox="1"/>
          <p:nvPr/>
        </p:nvSpPr>
        <p:spPr>
          <a:xfrm>
            <a:off x="5874150" y="1559300"/>
            <a:ext cx="314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Recall</a:t>
            </a: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= TP / (TP + </a:t>
            </a: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FN</a:t>
            </a: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Recall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= 320/(320 + 43) = 0.88 atau 88%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4"/>
          <p:cNvSpPr/>
          <p:nvPr/>
        </p:nvSpPr>
        <p:spPr>
          <a:xfrm>
            <a:off x="0" y="0"/>
            <a:ext cx="2495912" cy="5143500"/>
          </a:xfrm>
          <a:custGeom>
            <a:rect b="b" l="l" r="r" t="t"/>
            <a:pathLst>
              <a:path extrusionOk="0" h="10287000" w="7923530">
                <a:moveTo>
                  <a:pt x="566853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5209055" y="0"/>
                </a:lnTo>
                <a:lnTo>
                  <a:pt x="5217529" y="6124"/>
                </a:lnTo>
                <a:lnTo>
                  <a:pt x="5260930" y="38040"/>
                </a:lnTo>
                <a:lnTo>
                  <a:pt x="5304069" y="70310"/>
                </a:lnTo>
                <a:lnTo>
                  <a:pt x="5346938" y="102927"/>
                </a:lnTo>
                <a:lnTo>
                  <a:pt x="5389536" y="135891"/>
                </a:lnTo>
                <a:lnTo>
                  <a:pt x="5431862" y="169203"/>
                </a:lnTo>
                <a:lnTo>
                  <a:pt x="5473915" y="202862"/>
                </a:lnTo>
                <a:lnTo>
                  <a:pt x="5515692" y="236869"/>
                </a:lnTo>
                <a:lnTo>
                  <a:pt x="5557200" y="271217"/>
                </a:lnTo>
                <a:lnTo>
                  <a:pt x="5598419" y="305898"/>
                </a:lnTo>
                <a:lnTo>
                  <a:pt x="5639350" y="340913"/>
                </a:lnTo>
                <a:lnTo>
                  <a:pt x="5679993" y="376261"/>
                </a:lnTo>
                <a:lnTo>
                  <a:pt x="5720349" y="411943"/>
                </a:lnTo>
                <a:lnTo>
                  <a:pt x="5760420" y="447959"/>
                </a:lnTo>
                <a:lnTo>
                  <a:pt x="5800185" y="484301"/>
                </a:lnTo>
                <a:lnTo>
                  <a:pt x="5839650" y="520962"/>
                </a:lnTo>
                <a:lnTo>
                  <a:pt x="5878813" y="557943"/>
                </a:lnTo>
                <a:lnTo>
                  <a:pt x="5917674" y="595244"/>
                </a:lnTo>
                <a:lnTo>
                  <a:pt x="5956230" y="632863"/>
                </a:lnTo>
                <a:lnTo>
                  <a:pt x="5994480" y="670802"/>
                </a:lnTo>
                <a:lnTo>
                  <a:pt x="6032417" y="709052"/>
                </a:lnTo>
                <a:lnTo>
                  <a:pt x="6070035" y="747607"/>
                </a:lnTo>
                <a:lnTo>
                  <a:pt x="6107333" y="786465"/>
                </a:lnTo>
                <a:lnTo>
                  <a:pt x="6144313" y="825627"/>
                </a:lnTo>
                <a:lnTo>
                  <a:pt x="6180976" y="865093"/>
                </a:lnTo>
                <a:lnTo>
                  <a:pt x="6217321" y="904863"/>
                </a:lnTo>
                <a:lnTo>
                  <a:pt x="6253331" y="944928"/>
                </a:lnTo>
                <a:lnTo>
                  <a:pt x="6289011" y="985281"/>
                </a:lnTo>
                <a:lnTo>
                  <a:pt x="6324360" y="1025922"/>
                </a:lnTo>
                <a:lnTo>
                  <a:pt x="6359378" y="1066851"/>
                </a:lnTo>
                <a:lnTo>
                  <a:pt x="6394063" y="1108069"/>
                </a:lnTo>
                <a:lnTo>
                  <a:pt x="6428416" y="1149575"/>
                </a:lnTo>
                <a:lnTo>
                  <a:pt x="6462417" y="1191359"/>
                </a:lnTo>
                <a:lnTo>
                  <a:pt x="6496075" y="1233414"/>
                </a:lnTo>
                <a:lnTo>
                  <a:pt x="6529387" y="1275741"/>
                </a:lnTo>
                <a:lnTo>
                  <a:pt x="6562353" y="1318338"/>
                </a:lnTo>
                <a:lnTo>
                  <a:pt x="6594970" y="1361206"/>
                </a:lnTo>
                <a:lnTo>
                  <a:pt x="6627237" y="1404344"/>
                </a:lnTo>
                <a:lnTo>
                  <a:pt x="6659149" y="1447746"/>
                </a:lnTo>
                <a:lnTo>
                  <a:pt x="6690702" y="1491404"/>
                </a:lnTo>
                <a:lnTo>
                  <a:pt x="6721894" y="1535317"/>
                </a:lnTo>
                <a:lnTo>
                  <a:pt x="6752726" y="1579483"/>
                </a:lnTo>
                <a:lnTo>
                  <a:pt x="6783199" y="1623898"/>
                </a:lnTo>
                <a:lnTo>
                  <a:pt x="6813311" y="1668562"/>
                </a:lnTo>
                <a:lnTo>
                  <a:pt x="6843059" y="1713480"/>
                </a:lnTo>
                <a:lnTo>
                  <a:pt x="6872437" y="1758635"/>
                </a:lnTo>
                <a:lnTo>
                  <a:pt x="6901443" y="1804025"/>
                </a:lnTo>
                <a:lnTo>
                  <a:pt x="6930076" y="1849650"/>
                </a:lnTo>
                <a:lnTo>
                  <a:pt x="6958334" y="1895509"/>
                </a:lnTo>
                <a:lnTo>
                  <a:pt x="6986217" y="1941602"/>
                </a:lnTo>
                <a:lnTo>
                  <a:pt x="7013721" y="1987930"/>
                </a:lnTo>
                <a:lnTo>
                  <a:pt x="7040846" y="2034470"/>
                </a:lnTo>
                <a:lnTo>
                  <a:pt x="7067589" y="2081226"/>
                </a:lnTo>
                <a:lnTo>
                  <a:pt x="7093948" y="2128200"/>
                </a:lnTo>
                <a:lnTo>
                  <a:pt x="7119921" y="2175392"/>
                </a:lnTo>
                <a:lnTo>
                  <a:pt x="7145505" y="2222807"/>
                </a:lnTo>
                <a:lnTo>
                  <a:pt x="7170710" y="2270420"/>
                </a:lnTo>
                <a:lnTo>
                  <a:pt x="7195520" y="2318234"/>
                </a:lnTo>
                <a:lnTo>
                  <a:pt x="7219935" y="2366247"/>
                </a:lnTo>
                <a:lnTo>
                  <a:pt x="7243955" y="2414457"/>
                </a:lnTo>
                <a:lnTo>
                  <a:pt x="7267579" y="2462864"/>
                </a:lnTo>
                <a:lnTo>
                  <a:pt x="7290809" y="2511465"/>
                </a:lnTo>
                <a:lnTo>
                  <a:pt x="7313650" y="2560264"/>
                </a:lnTo>
                <a:lnTo>
                  <a:pt x="7336085" y="2609239"/>
                </a:lnTo>
                <a:lnTo>
                  <a:pt x="7358114" y="2658391"/>
                </a:lnTo>
                <a:lnTo>
                  <a:pt x="7379740" y="2707722"/>
                </a:lnTo>
                <a:lnTo>
                  <a:pt x="7400963" y="2757230"/>
                </a:lnTo>
                <a:lnTo>
                  <a:pt x="7421785" y="2806918"/>
                </a:lnTo>
                <a:lnTo>
                  <a:pt x="7442192" y="2856775"/>
                </a:lnTo>
                <a:lnTo>
                  <a:pt x="7462192" y="2906791"/>
                </a:lnTo>
                <a:lnTo>
                  <a:pt x="7481785" y="2956966"/>
                </a:lnTo>
                <a:lnTo>
                  <a:pt x="7500967" y="3007301"/>
                </a:lnTo>
                <a:lnTo>
                  <a:pt x="7519736" y="3057797"/>
                </a:lnTo>
                <a:lnTo>
                  <a:pt x="7538091" y="3108455"/>
                </a:lnTo>
                <a:lnTo>
                  <a:pt x="7556029" y="3159251"/>
                </a:lnTo>
                <a:lnTo>
                  <a:pt x="7573550" y="3210187"/>
                </a:lnTo>
                <a:lnTo>
                  <a:pt x="7590654" y="3261262"/>
                </a:lnTo>
                <a:lnTo>
                  <a:pt x="7607341" y="3312475"/>
                </a:lnTo>
                <a:lnTo>
                  <a:pt x="7623611" y="3363826"/>
                </a:lnTo>
                <a:lnTo>
                  <a:pt x="7639464" y="3415313"/>
                </a:lnTo>
                <a:lnTo>
                  <a:pt x="7654895" y="3466928"/>
                </a:lnTo>
                <a:lnTo>
                  <a:pt x="7669901" y="3518661"/>
                </a:lnTo>
                <a:lnTo>
                  <a:pt x="7684481" y="3570513"/>
                </a:lnTo>
                <a:lnTo>
                  <a:pt x="7698635" y="3622483"/>
                </a:lnTo>
                <a:lnTo>
                  <a:pt x="7712364" y="3674572"/>
                </a:lnTo>
                <a:lnTo>
                  <a:pt x="7725666" y="3726779"/>
                </a:lnTo>
                <a:lnTo>
                  <a:pt x="7738541" y="3779094"/>
                </a:lnTo>
                <a:lnTo>
                  <a:pt x="7750985" y="3831505"/>
                </a:lnTo>
                <a:lnTo>
                  <a:pt x="7763000" y="3884011"/>
                </a:lnTo>
                <a:lnTo>
                  <a:pt x="7774584" y="3936611"/>
                </a:lnTo>
                <a:lnTo>
                  <a:pt x="7785738" y="3989304"/>
                </a:lnTo>
                <a:lnTo>
                  <a:pt x="7796461" y="4042091"/>
                </a:lnTo>
                <a:lnTo>
                  <a:pt x="7806755" y="4094974"/>
                </a:lnTo>
                <a:lnTo>
                  <a:pt x="7816616" y="4147932"/>
                </a:lnTo>
                <a:lnTo>
                  <a:pt x="7826045" y="4200965"/>
                </a:lnTo>
                <a:lnTo>
                  <a:pt x="7835039" y="4254072"/>
                </a:lnTo>
                <a:lnTo>
                  <a:pt x="7843597" y="4307254"/>
                </a:lnTo>
                <a:lnTo>
                  <a:pt x="7851717" y="4360511"/>
                </a:lnTo>
                <a:lnTo>
                  <a:pt x="7859401" y="4413842"/>
                </a:lnTo>
                <a:lnTo>
                  <a:pt x="7866650" y="4467223"/>
                </a:lnTo>
                <a:lnTo>
                  <a:pt x="7873462" y="4520655"/>
                </a:lnTo>
                <a:lnTo>
                  <a:pt x="7879838" y="4574140"/>
                </a:lnTo>
                <a:lnTo>
                  <a:pt x="7885776" y="4627680"/>
                </a:lnTo>
                <a:lnTo>
                  <a:pt x="7891276" y="4681274"/>
                </a:lnTo>
                <a:lnTo>
                  <a:pt x="7896337" y="4734904"/>
                </a:lnTo>
                <a:lnTo>
                  <a:pt x="7900959" y="4788570"/>
                </a:lnTo>
                <a:lnTo>
                  <a:pt x="7905143" y="4842272"/>
                </a:lnTo>
                <a:lnTo>
                  <a:pt x="7908887" y="4896006"/>
                </a:lnTo>
                <a:lnTo>
                  <a:pt x="7912192" y="4949772"/>
                </a:lnTo>
                <a:lnTo>
                  <a:pt x="7915059" y="5003565"/>
                </a:lnTo>
                <a:lnTo>
                  <a:pt x="7917484" y="5057390"/>
                </a:lnTo>
                <a:lnTo>
                  <a:pt x="7919467" y="5111224"/>
                </a:lnTo>
                <a:lnTo>
                  <a:pt x="7921008" y="5165067"/>
                </a:lnTo>
                <a:lnTo>
                  <a:pt x="7922107" y="5218918"/>
                </a:lnTo>
                <a:lnTo>
                  <a:pt x="7922767" y="5272778"/>
                </a:lnTo>
                <a:lnTo>
                  <a:pt x="7922986" y="5326647"/>
                </a:lnTo>
                <a:lnTo>
                  <a:pt x="7922767" y="5380516"/>
                </a:lnTo>
                <a:lnTo>
                  <a:pt x="7922107" y="5434376"/>
                </a:lnTo>
                <a:lnTo>
                  <a:pt x="7921008" y="5488227"/>
                </a:lnTo>
                <a:lnTo>
                  <a:pt x="7919467" y="5542069"/>
                </a:lnTo>
                <a:lnTo>
                  <a:pt x="7917484" y="5595903"/>
                </a:lnTo>
                <a:lnTo>
                  <a:pt x="7915059" y="5649728"/>
                </a:lnTo>
                <a:lnTo>
                  <a:pt x="7912192" y="5703522"/>
                </a:lnTo>
                <a:lnTo>
                  <a:pt x="7908887" y="5757287"/>
                </a:lnTo>
                <a:lnTo>
                  <a:pt x="7905143" y="5811022"/>
                </a:lnTo>
                <a:lnTo>
                  <a:pt x="7900959" y="5864723"/>
                </a:lnTo>
                <a:lnTo>
                  <a:pt x="7896337" y="5918390"/>
                </a:lnTo>
                <a:lnTo>
                  <a:pt x="7891276" y="5972019"/>
                </a:lnTo>
                <a:lnTo>
                  <a:pt x="7885776" y="6025614"/>
                </a:lnTo>
                <a:lnTo>
                  <a:pt x="7879838" y="6079153"/>
                </a:lnTo>
                <a:lnTo>
                  <a:pt x="7873462" y="6132638"/>
                </a:lnTo>
                <a:lnTo>
                  <a:pt x="7866650" y="6186070"/>
                </a:lnTo>
                <a:lnTo>
                  <a:pt x="7859401" y="6239451"/>
                </a:lnTo>
                <a:lnTo>
                  <a:pt x="7851717" y="6292783"/>
                </a:lnTo>
                <a:lnTo>
                  <a:pt x="7843597" y="6346039"/>
                </a:lnTo>
                <a:lnTo>
                  <a:pt x="7835039" y="6399221"/>
                </a:lnTo>
                <a:lnTo>
                  <a:pt x="7826045" y="6452328"/>
                </a:lnTo>
                <a:lnTo>
                  <a:pt x="7816616" y="6505361"/>
                </a:lnTo>
                <a:lnTo>
                  <a:pt x="7806755" y="6558319"/>
                </a:lnTo>
                <a:lnTo>
                  <a:pt x="7796461" y="6611202"/>
                </a:lnTo>
                <a:lnTo>
                  <a:pt x="7785738" y="6663989"/>
                </a:lnTo>
                <a:lnTo>
                  <a:pt x="7774584" y="6716683"/>
                </a:lnTo>
                <a:lnTo>
                  <a:pt x="7763000" y="6769283"/>
                </a:lnTo>
                <a:lnTo>
                  <a:pt x="7750985" y="6821789"/>
                </a:lnTo>
                <a:lnTo>
                  <a:pt x="7738541" y="6874199"/>
                </a:lnTo>
                <a:lnTo>
                  <a:pt x="7725666" y="6926514"/>
                </a:lnTo>
                <a:lnTo>
                  <a:pt x="7712364" y="6978722"/>
                </a:lnTo>
                <a:lnTo>
                  <a:pt x="7698635" y="7030810"/>
                </a:lnTo>
                <a:lnTo>
                  <a:pt x="7684481" y="7082781"/>
                </a:lnTo>
                <a:lnTo>
                  <a:pt x="7669901" y="7134633"/>
                </a:lnTo>
                <a:lnTo>
                  <a:pt x="7654895" y="7186366"/>
                </a:lnTo>
                <a:lnTo>
                  <a:pt x="7639464" y="7237981"/>
                </a:lnTo>
                <a:lnTo>
                  <a:pt x="7623611" y="7289468"/>
                </a:lnTo>
                <a:lnTo>
                  <a:pt x="7607341" y="7340819"/>
                </a:lnTo>
                <a:lnTo>
                  <a:pt x="7590654" y="7392032"/>
                </a:lnTo>
                <a:lnTo>
                  <a:pt x="7573550" y="7443106"/>
                </a:lnTo>
                <a:lnTo>
                  <a:pt x="7556029" y="7494042"/>
                </a:lnTo>
                <a:lnTo>
                  <a:pt x="7538091" y="7544838"/>
                </a:lnTo>
                <a:lnTo>
                  <a:pt x="7519738" y="7595496"/>
                </a:lnTo>
                <a:lnTo>
                  <a:pt x="7500973" y="7645992"/>
                </a:lnTo>
                <a:lnTo>
                  <a:pt x="7481795" y="7696328"/>
                </a:lnTo>
                <a:lnTo>
                  <a:pt x="7462204" y="7746503"/>
                </a:lnTo>
                <a:lnTo>
                  <a:pt x="7442201" y="7796518"/>
                </a:lnTo>
                <a:lnTo>
                  <a:pt x="7421785" y="7846375"/>
                </a:lnTo>
                <a:lnTo>
                  <a:pt x="7400963" y="7896063"/>
                </a:lnTo>
                <a:lnTo>
                  <a:pt x="7379740" y="7945572"/>
                </a:lnTo>
                <a:lnTo>
                  <a:pt x="7358114" y="7994902"/>
                </a:lnTo>
                <a:lnTo>
                  <a:pt x="7336085" y="8044054"/>
                </a:lnTo>
                <a:lnTo>
                  <a:pt x="7313650" y="8093030"/>
                </a:lnTo>
                <a:lnTo>
                  <a:pt x="7290809" y="8141829"/>
                </a:lnTo>
                <a:lnTo>
                  <a:pt x="7267579" y="8190430"/>
                </a:lnTo>
                <a:lnTo>
                  <a:pt x="7243955" y="8238836"/>
                </a:lnTo>
                <a:lnTo>
                  <a:pt x="7219935" y="8287047"/>
                </a:lnTo>
                <a:lnTo>
                  <a:pt x="7195520" y="8335060"/>
                </a:lnTo>
                <a:lnTo>
                  <a:pt x="7170710" y="8382874"/>
                </a:lnTo>
                <a:lnTo>
                  <a:pt x="7145505" y="8430487"/>
                </a:lnTo>
                <a:lnTo>
                  <a:pt x="7119921" y="8477892"/>
                </a:lnTo>
                <a:lnTo>
                  <a:pt x="7093948" y="8525082"/>
                </a:lnTo>
                <a:lnTo>
                  <a:pt x="7067589" y="8572057"/>
                </a:lnTo>
                <a:lnTo>
                  <a:pt x="7040846" y="8618817"/>
                </a:lnTo>
                <a:lnTo>
                  <a:pt x="7013721" y="8665362"/>
                </a:lnTo>
                <a:lnTo>
                  <a:pt x="6986217" y="8711692"/>
                </a:lnTo>
                <a:lnTo>
                  <a:pt x="6958334" y="8757784"/>
                </a:lnTo>
                <a:lnTo>
                  <a:pt x="6930076" y="8803644"/>
                </a:lnTo>
                <a:lnTo>
                  <a:pt x="6901443" y="8849269"/>
                </a:lnTo>
                <a:lnTo>
                  <a:pt x="6872437" y="8894659"/>
                </a:lnTo>
                <a:lnTo>
                  <a:pt x="6843059" y="8939814"/>
                </a:lnTo>
                <a:lnTo>
                  <a:pt x="6813311" y="8984732"/>
                </a:lnTo>
                <a:lnTo>
                  <a:pt x="6783199" y="9029395"/>
                </a:lnTo>
                <a:lnTo>
                  <a:pt x="6752726" y="9073811"/>
                </a:lnTo>
                <a:lnTo>
                  <a:pt x="6721894" y="9117976"/>
                </a:lnTo>
                <a:lnTo>
                  <a:pt x="6690702" y="9161889"/>
                </a:lnTo>
                <a:lnTo>
                  <a:pt x="6659149" y="9205548"/>
                </a:lnTo>
                <a:lnTo>
                  <a:pt x="6627237" y="9248949"/>
                </a:lnTo>
                <a:lnTo>
                  <a:pt x="6594970" y="9292087"/>
                </a:lnTo>
                <a:lnTo>
                  <a:pt x="6562353" y="9334956"/>
                </a:lnTo>
                <a:lnTo>
                  <a:pt x="6529387" y="9377555"/>
                </a:lnTo>
                <a:lnTo>
                  <a:pt x="6496075" y="9419881"/>
                </a:lnTo>
                <a:lnTo>
                  <a:pt x="6462417" y="9461934"/>
                </a:lnTo>
                <a:lnTo>
                  <a:pt x="6428416" y="9503711"/>
                </a:lnTo>
                <a:lnTo>
                  <a:pt x="6394063" y="9545219"/>
                </a:lnTo>
                <a:lnTo>
                  <a:pt x="6359378" y="9586438"/>
                </a:lnTo>
                <a:lnTo>
                  <a:pt x="6324360" y="9627369"/>
                </a:lnTo>
                <a:lnTo>
                  <a:pt x="6289011" y="9668012"/>
                </a:lnTo>
                <a:lnTo>
                  <a:pt x="6253331" y="9708368"/>
                </a:lnTo>
                <a:lnTo>
                  <a:pt x="6217321" y="9748438"/>
                </a:lnTo>
                <a:lnTo>
                  <a:pt x="6180976" y="9788203"/>
                </a:lnTo>
                <a:lnTo>
                  <a:pt x="6144313" y="9827668"/>
                </a:lnTo>
                <a:lnTo>
                  <a:pt x="6107333" y="9866832"/>
                </a:lnTo>
                <a:lnTo>
                  <a:pt x="6070035" y="9905692"/>
                </a:lnTo>
                <a:lnTo>
                  <a:pt x="6032417" y="9944249"/>
                </a:lnTo>
                <a:lnTo>
                  <a:pt x="5994480" y="9982499"/>
                </a:lnTo>
                <a:lnTo>
                  <a:pt x="5956230" y="10020436"/>
                </a:lnTo>
                <a:lnTo>
                  <a:pt x="5917674" y="10058054"/>
                </a:lnTo>
                <a:lnTo>
                  <a:pt x="5878813" y="10095352"/>
                </a:lnTo>
                <a:lnTo>
                  <a:pt x="5839650" y="10132332"/>
                </a:lnTo>
                <a:lnTo>
                  <a:pt x="5800185" y="10168994"/>
                </a:lnTo>
                <a:lnTo>
                  <a:pt x="5760420" y="10205340"/>
                </a:lnTo>
                <a:lnTo>
                  <a:pt x="5720349" y="10241350"/>
                </a:lnTo>
                <a:lnTo>
                  <a:pt x="5679993" y="10277030"/>
                </a:lnTo>
                <a:lnTo>
                  <a:pt x="5668530" y="10287000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64"/>
          <p:cNvSpPr txBox="1"/>
          <p:nvPr/>
        </p:nvSpPr>
        <p:spPr>
          <a:xfrm>
            <a:off x="0" y="2001075"/>
            <a:ext cx="24300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rtl="0" algn="ct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F1 Score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9" name="Google Shape;589;p64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64"/>
          <p:cNvSpPr txBox="1"/>
          <p:nvPr/>
        </p:nvSpPr>
        <p:spPr>
          <a:xfrm>
            <a:off x="2597550" y="1406900"/>
            <a:ext cx="289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Precision </a:t>
            </a: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= TP / (TP + FP)</a:t>
            </a:r>
            <a:endParaRPr b="0" i="0" sz="11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Precision = 320/(320 + 20) = 0.91 atau 91%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591" name="Google Shape;591;p64"/>
          <p:cNvGraphicFramePr/>
          <p:nvPr/>
        </p:nvGraphicFramePr>
        <p:xfrm>
          <a:off x="3606807" y="265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{FABF32E3-6CDF-49D3-BDE4-9C85959DC97B}</a:tableStyleId>
              </a:tblPr>
              <a:tblGrid>
                <a:gridCol w="833700"/>
                <a:gridCol w="833700"/>
                <a:gridCol w="833700"/>
                <a:gridCol w="833700"/>
              </a:tblGrid>
              <a:tr h="237125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/>
                        <a:t>Confusion Matrix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Prediksi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 hMerge="1"/>
              </a:tr>
              <a:tr h="2298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Yes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No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</a:tr>
              <a:tr h="2298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Actual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Yes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TP : 320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FN : 43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F4CCCC"/>
                    </a:solidFill>
                  </a:tcPr>
                </a:tc>
              </a:tr>
              <a:tr h="229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No</a:t>
                      </a:r>
                      <a:endParaRPr sz="7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FP : 20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/>
                        <a:t>TN : 538</a:t>
                      </a:r>
                      <a:endParaRPr sz="700" u="none" cap="none" strike="noStrike"/>
                    </a:p>
                  </a:txBody>
                  <a:tcPr marT="45725" marB="45725" marR="45725" marL="457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592" name="Google Shape;592;p64"/>
          <p:cNvSpPr txBox="1"/>
          <p:nvPr/>
        </p:nvSpPr>
        <p:spPr>
          <a:xfrm>
            <a:off x="3740550" y="2816168"/>
            <a:ext cx="36441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Precision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F1 Score</a:t>
            </a: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= 2*(91*88)/(91 + 88) = 16.016/179 = 89.47%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F1 score merangkum precision dan  recall dengan mengambil RATAAN HARMONIK dari keduanya</a:t>
            </a:r>
            <a:endParaRPr b="1" sz="110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F1 score dapat diterapkan pada data imbalance</a:t>
            </a:r>
            <a:endParaRPr b="1" sz="110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3" name="Google Shape;593;p64"/>
          <p:cNvSpPr txBox="1"/>
          <p:nvPr/>
        </p:nvSpPr>
        <p:spPr>
          <a:xfrm>
            <a:off x="5874150" y="1330700"/>
            <a:ext cx="314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Recall</a:t>
            </a: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= TP / (TP + </a:t>
            </a: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FN</a:t>
            </a: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Recall= 320/(320 + 43) = 0.88 atau 88%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94" name="Google Shape;594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6512" y="1990400"/>
            <a:ext cx="4267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5"/>
          <p:cNvSpPr/>
          <p:nvPr/>
        </p:nvSpPr>
        <p:spPr>
          <a:xfrm>
            <a:off x="0" y="0"/>
            <a:ext cx="2495912" cy="5143500"/>
          </a:xfrm>
          <a:custGeom>
            <a:rect b="b" l="l" r="r" t="t"/>
            <a:pathLst>
              <a:path extrusionOk="0" h="10287000" w="7923530">
                <a:moveTo>
                  <a:pt x="566853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5209055" y="0"/>
                </a:lnTo>
                <a:lnTo>
                  <a:pt x="5217529" y="6124"/>
                </a:lnTo>
                <a:lnTo>
                  <a:pt x="5260930" y="38040"/>
                </a:lnTo>
                <a:lnTo>
                  <a:pt x="5304069" y="70310"/>
                </a:lnTo>
                <a:lnTo>
                  <a:pt x="5346938" y="102927"/>
                </a:lnTo>
                <a:lnTo>
                  <a:pt x="5389536" y="135891"/>
                </a:lnTo>
                <a:lnTo>
                  <a:pt x="5431862" y="169203"/>
                </a:lnTo>
                <a:lnTo>
                  <a:pt x="5473915" y="202862"/>
                </a:lnTo>
                <a:lnTo>
                  <a:pt x="5515692" y="236869"/>
                </a:lnTo>
                <a:lnTo>
                  <a:pt x="5557200" y="271217"/>
                </a:lnTo>
                <a:lnTo>
                  <a:pt x="5598419" y="305898"/>
                </a:lnTo>
                <a:lnTo>
                  <a:pt x="5639350" y="340913"/>
                </a:lnTo>
                <a:lnTo>
                  <a:pt x="5679993" y="376261"/>
                </a:lnTo>
                <a:lnTo>
                  <a:pt x="5720349" y="411943"/>
                </a:lnTo>
                <a:lnTo>
                  <a:pt x="5760420" y="447959"/>
                </a:lnTo>
                <a:lnTo>
                  <a:pt x="5800185" y="484301"/>
                </a:lnTo>
                <a:lnTo>
                  <a:pt x="5839650" y="520962"/>
                </a:lnTo>
                <a:lnTo>
                  <a:pt x="5878813" y="557943"/>
                </a:lnTo>
                <a:lnTo>
                  <a:pt x="5917674" y="595244"/>
                </a:lnTo>
                <a:lnTo>
                  <a:pt x="5956230" y="632863"/>
                </a:lnTo>
                <a:lnTo>
                  <a:pt x="5994480" y="670802"/>
                </a:lnTo>
                <a:lnTo>
                  <a:pt x="6032417" y="709052"/>
                </a:lnTo>
                <a:lnTo>
                  <a:pt x="6070035" y="747607"/>
                </a:lnTo>
                <a:lnTo>
                  <a:pt x="6107333" y="786465"/>
                </a:lnTo>
                <a:lnTo>
                  <a:pt x="6144313" y="825627"/>
                </a:lnTo>
                <a:lnTo>
                  <a:pt x="6180976" y="865093"/>
                </a:lnTo>
                <a:lnTo>
                  <a:pt x="6217321" y="904863"/>
                </a:lnTo>
                <a:lnTo>
                  <a:pt x="6253331" y="944928"/>
                </a:lnTo>
                <a:lnTo>
                  <a:pt x="6289011" y="985281"/>
                </a:lnTo>
                <a:lnTo>
                  <a:pt x="6324360" y="1025922"/>
                </a:lnTo>
                <a:lnTo>
                  <a:pt x="6359378" y="1066851"/>
                </a:lnTo>
                <a:lnTo>
                  <a:pt x="6394063" y="1108069"/>
                </a:lnTo>
                <a:lnTo>
                  <a:pt x="6428416" y="1149575"/>
                </a:lnTo>
                <a:lnTo>
                  <a:pt x="6462417" y="1191359"/>
                </a:lnTo>
                <a:lnTo>
                  <a:pt x="6496075" y="1233414"/>
                </a:lnTo>
                <a:lnTo>
                  <a:pt x="6529387" y="1275741"/>
                </a:lnTo>
                <a:lnTo>
                  <a:pt x="6562353" y="1318338"/>
                </a:lnTo>
                <a:lnTo>
                  <a:pt x="6594970" y="1361206"/>
                </a:lnTo>
                <a:lnTo>
                  <a:pt x="6627237" y="1404344"/>
                </a:lnTo>
                <a:lnTo>
                  <a:pt x="6659149" y="1447746"/>
                </a:lnTo>
                <a:lnTo>
                  <a:pt x="6690702" y="1491404"/>
                </a:lnTo>
                <a:lnTo>
                  <a:pt x="6721894" y="1535317"/>
                </a:lnTo>
                <a:lnTo>
                  <a:pt x="6752726" y="1579483"/>
                </a:lnTo>
                <a:lnTo>
                  <a:pt x="6783199" y="1623898"/>
                </a:lnTo>
                <a:lnTo>
                  <a:pt x="6813311" y="1668562"/>
                </a:lnTo>
                <a:lnTo>
                  <a:pt x="6843059" y="1713480"/>
                </a:lnTo>
                <a:lnTo>
                  <a:pt x="6872437" y="1758635"/>
                </a:lnTo>
                <a:lnTo>
                  <a:pt x="6901443" y="1804025"/>
                </a:lnTo>
                <a:lnTo>
                  <a:pt x="6930076" y="1849650"/>
                </a:lnTo>
                <a:lnTo>
                  <a:pt x="6958334" y="1895509"/>
                </a:lnTo>
                <a:lnTo>
                  <a:pt x="6986217" y="1941602"/>
                </a:lnTo>
                <a:lnTo>
                  <a:pt x="7013721" y="1987930"/>
                </a:lnTo>
                <a:lnTo>
                  <a:pt x="7040846" y="2034470"/>
                </a:lnTo>
                <a:lnTo>
                  <a:pt x="7067589" y="2081226"/>
                </a:lnTo>
                <a:lnTo>
                  <a:pt x="7093948" y="2128200"/>
                </a:lnTo>
                <a:lnTo>
                  <a:pt x="7119921" y="2175392"/>
                </a:lnTo>
                <a:lnTo>
                  <a:pt x="7145505" y="2222807"/>
                </a:lnTo>
                <a:lnTo>
                  <a:pt x="7170710" y="2270420"/>
                </a:lnTo>
                <a:lnTo>
                  <a:pt x="7195520" y="2318234"/>
                </a:lnTo>
                <a:lnTo>
                  <a:pt x="7219935" y="2366247"/>
                </a:lnTo>
                <a:lnTo>
                  <a:pt x="7243955" y="2414457"/>
                </a:lnTo>
                <a:lnTo>
                  <a:pt x="7267579" y="2462864"/>
                </a:lnTo>
                <a:lnTo>
                  <a:pt x="7290809" y="2511465"/>
                </a:lnTo>
                <a:lnTo>
                  <a:pt x="7313650" y="2560264"/>
                </a:lnTo>
                <a:lnTo>
                  <a:pt x="7336085" y="2609239"/>
                </a:lnTo>
                <a:lnTo>
                  <a:pt x="7358114" y="2658391"/>
                </a:lnTo>
                <a:lnTo>
                  <a:pt x="7379740" y="2707722"/>
                </a:lnTo>
                <a:lnTo>
                  <a:pt x="7400963" y="2757230"/>
                </a:lnTo>
                <a:lnTo>
                  <a:pt x="7421785" y="2806918"/>
                </a:lnTo>
                <a:lnTo>
                  <a:pt x="7442192" y="2856775"/>
                </a:lnTo>
                <a:lnTo>
                  <a:pt x="7462192" y="2906791"/>
                </a:lnTo>
                <a:lnTo>
                  <a:pt x="7481785" y="2956966"/>
                </a:lnTo>
                <a:lnTo>
                  <a:pt x="7500967" y="3007301"/>
                </a:lnTo>
                <a:lnTo>
                  <a:pt x="7519736" y="3057797"/>
                </a:lnTo>
                <a:lnTo>
                  <a:pt x="7538091" y="3108455"/>
                </a:lnTo>
                <a:lnTo>
                  <a:pt x="7556029" y="3159251"/>
                </a:lnTo>
                <a:lnTo>
                  <a:pt x="7573550" y="3210187"/>
                </a:lnTo>
                <a:lnTo>
                  <a:pt x="7590654" y="3261262"/>
                </a:lnTo>
                <a:lnTo>
                  <a:pt x="7607341" y="3312475"/>
                </a:lnTo>
                <a:lnTo>
                  <a:pt x="7623611" y="3363826"/>
                </a:lnTo>
                <a:lnTo>
                  <a:pt x="7639464" y="3415313"/>
                </a:lnTo>
                <a:lnTo>
                  <a:pt x="7654895" y="3466928"/>
                </a:lnTo>
                <a:lnTo>
                  <a:pt x="7669901" y="3518661"/>
                </a:lnTo>
                <a:lnTo>
                  <a:pt x="7684481" y="3570513"/>
                </a:lnTo>
                <a:lnTo>
                  <a:pt x="7698635" y="3622483"/>
                </a:lnTo>
                <a:lnTo>
                  <a:pt x="7712364" y="3674572"/>
                </a:lnTo>
                <a:lnTo>
                  <a:pt x="7725666" y="3726779"/>
                </a:lnTo>
                <a:lnTo>
                  <a:pt x="7738541" y="3779094"/>
                </a:lnTo>
                <a:lnTo>
                  <a:pt x="7750985" y="3831505"/>
                </a:lnTo>
                <a:lnTo>
                  <a:pt x="7763000" y="3884011"/>
                </a:lnTo>
                <a:lnTo>
                  <a:pt x="7774584" y="3936611"/>
                </a:lnTo>
                <a:lnTo>
                  <a:pt x="7785738" y="3989304"/>
                </a:lnTo>
                <a:lnTo>
                  <a:pt x="7796461" y="4042091"/>
                </a:lnTo>
                <a:lnTo>
                  <a:pt x="7806755" y="4094974"/>
                </a:lnTo>
                <a:lnTo>
                  <a:pt x="7816616" y="4147932"/>
                </a:lnTo>
                <a:lnTo>
                  <a:pt x="7826045" y="4200965"/>
                </a:lnTo>
                <a:lnTo>
                  <a:pt x="7835039" y="4254072"/>
                </a:lnTo>
                <a:lnTo>
                  <a:pt x="7843597" y="4307254"/>
                </a:lnTo>
                <a:lnTo>
                  <a:pt x="7851717" y="4360511"/>
                </a:lnTo>
                <a:lnTo>
                  <a:pt x="7859401" y="4413842"/>
                </a:lnTo>
                <a:lnTo>
                  <a:pt x="7866650" y="4467223"/>
                </a:lnTo>
                <a:lnTo>
                  <a:pt x="7873462" y="4520655"/>
                </a:lnTo>
                <a:lnTo>
                  <a:pt x="7879838" y="4574140"/>
                </a:lnTo>
                <a:lnTo>
                  <a:pt x="7885776" y="4627680"/>
                </a:lnTo>
                <a:lnTo>
                  <a:pt x="7891276" y="4681274"/>
                </a:lnTo>
                <a:lnTo>
                  <a:pt x="7896337" y="4734904"/>
                </a:lnTo>
                <a:lnTo>
                  <a:pt x="7900959" y="4788570"/>
                </a:lnTo>
                <a:lnTo>
                  <a:pt x="7905143" y="4842272"/>
                </a:lnTo>
                <a:lnTo>
                  <a:pt x="7908887" y="4896006"/>
                </a:lnTo>
                <a:lnTo>
                  <a:pt x="7912192" y="4949772"/>
                </a:lnTo>
                <a:lnTo>
                  <a:pt x="7915059" y="5003565"/>
                </a:lnTo>
                <a:lnTo>
                  <a:pt x="7917484" y="5057390"/>
                </a:lnTo>
                <a:lnTo>
                  <a:pt x="7919467" y="5111224"/>
                </a:lnTo>
                <a:lnTo>
                  <a:pt x="7921008" y="5165067"/>
                </a:lnTo>
                <a:lnTo>
                  <a:pt x="7922107" y="5218918"/>
                </a:lnTo>
                <a:lnTo>
                  <a:pt x="7922767" y="5272778"/>
                </a:lnTo>
                <a:lnTo>
                  <a:pt x="7922986" y="5326647"/>
                </a:lnTo>
                <a:lnTo>
                  <a:pt x="7922767" y="5380516"/>
                </a:lnTo>
                <a:lnTo>
                  <a:pt x="7922107" y="5434376"/>
                </a:lnTo>
                <a:lnTo>
                  <a:pt x="7921008" y="5488227"/>
                </a:lnTo>
                <a:lnTo>
                  <a:pt x="7919467" y="5542069"/>
                </a:lnTo>
                <a:lnTo>
                  <a:pt x="7917484" y="5595903"/>
                </a:lnTo>
                <a:lnTo>
                  <a:pt x="7915059" y="5649728"/>
                </a:lnTo>
                <a:lnTo>
                  <a:pt x="7912192" y="5703522"/>
                </a:lnTo>
                <a:lnTo>
                  <a:pt x="7908887" y="5757287"/>
                </a:lnTo>
                <a:lnTo>
                  <a:pt x="7905143" y="5811022"/>
                </a:lnTo>
                <a:lnTo>
                  <a:pt x="7900959" y="5864723"/>
                </a:lnTo>
                <a:lnTo>
                  <a:pt x="7896337" y="5918390"/>
                </a:lnTo>
                <a:lnTo>
                  <a:pt x="7891276" y="5972019"/>
                </a:lnTo>
                <a:lnTo>
                  <a:pt x="7885776" y="6025614"/>
                </a:lnTo>
                <a:lnTo>
                  <a:pt x="7879838" y="6079153"/>
                </a:lnTo>
                <a:lnTo>
                  <a:pt x="7873462" y="6132638"/>
                </a:lnTo>
                <a:lnTo>
                  <a:pt x="7866650" y="6186070"/>
                </a:lnTo>
                <a:lnTo>
                  <a:pt x="7859401" y="6239451"/>
                </a:lnTo>
                <a:lnTo>
                  <a:pt x="7851717" y="6292783"/>
                </a:lnTo>
                <a:lnTo>
                  <a:pt x="7843597" y="6346039"/>
                </a:lnTo>
                <a:lnTo>
                  <a:pt x="7835039" y="6399221"/>
                </a:lnTo>
                <a:lnTo>
                  <a:pt x="7826045" y="6452328"/>
                </a:lnTo>
                <a:lnTo>
                  <a:pt x="7816616" y="6505361"/>
                </a:lnTo>
                <a:lnTo>
                  <a:pt x="7806755" y="6558319"/>
                </a:lnTo>
                <a:lnTo>
                  <a:pt x="7796461" y="6611202"/>
                </a:lnTo>
                <a:lnTo>
                  <a:pt x="7785738" y="6663989"/>
                </a:lnTo>
                <a:lnTo>
                  <a:pt x="7774584" y="6716683"/>
                </a:lnTo>
                <a:lnTo>
                  <a:pt x="7763000" y="6769283"/>
                </a:lnTo>
                <a:lnTo>
                  <a:pt x="7750985" y="6821789"/>
                </a:lnTo>
                <a:lnTo>
                  <a:pt x="7738541" y="6874199"/>
                </a:lnTo>
                <a:lnTo>
                  <a:pt x="7725666" y="6926514"/>
                </a:lnTo>
                <a:lnTo>
                  <a:pt x="7712364" y="6978722"/>
                </a:lnTo>
                <a:lnTo>
                  <a:pt x="7698635" y="7030810"/>
                </a:lnTo>
                <a:lnTo>
                  <a:pt x="7684481" y="7082781"/>
                </a:lnTo>
                <a:lnTo>
                  <a:pt x="7669901" y="7134633"/>
                </a:lnTo>
                <a:lnTo>
                  <a:pt x="7654895" y="7186366"/>
                </a:lnTo>
                <a:lnTo>
                  <a:pt x="7639464" y="7237981"/>
                </a:lnTo>
                <a:lnTo>
                  <a:pt x="7623611" y="7289468"/>
                </a:lnTo>
                <a:lnTo>
                  <a:pt x="7607341" y="7340819"/>
                </a:lnTo>
                <a:lnTo>
                  <a:pt x="7590654" y="7392032"/>
                </a:lnTo>
                <a:lnTo>
                  <a:pt x="7573550" y="7443106"/>
                </a:lnTo>
                <a:lnTo>
                  <a:pt x="7556029" y="7494042"/>
                </a:lnTo>
                <a:lnTo>
                  <a:pt x="7538091" y="7544838"/>
                </a:lnTo>
                <a:lnTo>
                  <a:pt x="7519738" y="7595496"/>
                </a:lnTo>
                <a:lnTo>
                  <a:pt x="7500973" y="7645992"/>
                </a:lnTo>
                <a:lnTo>
                  <a:pt x="7481795" y="7696328"/>
                </a:lnTo>
                <a:lnTo>
                  <a:pt x="7462204" y="7746503"/>
                </a:lnTo>
                <a:lnTo>
                  <a:pt x="7442201" y="7796518"/>
                </a:lnTo>
                <a:lnTo>
                  <a:pt x="7421785" y="7846375"/>
                </a:lnTo>
                <a:lnTo>
                  <a:pt x="7400963" y="7896063"/>
                </a:lnTo>
                <a:lnTo>
                  <a:pt x="7379740" y="7945572"/>
                </a:lnTo>
                <a:lnTo>
                  <a:pt x="7358114" y="7994902"/>
                </a:lnTo>
                <a:lnTo>
                  <a:pt x="7336085" y="8044054"/>
                </a:lnTo>
                <a:lnTo>
                  <a:pt x="7313650" y="8093030"/>
                </a:lnTo>
                <a:lnTo>
                  <a:pt x="7290809" y="8141829"/>
                </a:lnTo>
                <a:lnTo>
                  <a:pt x="7267579" y="8190430"/>
                </a:lnTo>
                <a:lnTo>
                  <a:pt x="7243955" y="8238836"/>
                </a:lnTo>
                <a:lnTo>
                  <a:pt x="7219935" y="8287047"/>
                </a:lnTo>
                <a:lnTo>
                  <a:pt x="7195520" y="8335060"/>
                </a:lnTo>
                <a:lnTo>
                  <a:pt x="7170710" y="8382874"/>
                </a:lnTo>
                <a:lnTo>
                  <a:pt x="7145505" y="8430487"/>
                </a:lnTo>
                <a:lnTo>
                  <a:pt x="7119921" y="8477892"/>
                </a:lnTo>
                <a:lnTo>
                  <a:pt x="7093948" y="8525082"/>
                </a:lnTo>
                <a:lnTo>
                  <a:pt x="7067589" y="8572057"/>
                </a:lnTo>
                <a:lnTo>
                  <a:pt x="7040846" y="8618817"/>
                </a:lnTo>
                <a:lnTo>
                  <a:pt x="7013721" y="8665362"/>
                </a:lnTo>
                <a:lnTo>
                  <a:pt x="6986217" y="8711692"/>
                </a:lnTo>
                <a:lnTo>
                  <a:pt x="6958334" y="8757784"/>
                </a:lnTo>
                <a:lnTo>
                  <a:pt x="6930076" y="8803644"/>
                </a:lnTo>
                <a:lnTo>
                  <a:pt x="6901443" y="8849269"/>
                </a:lnTo>
                <a:lnTo>
                  <a:pt x="6872437" y="8894659"/>
                </a:lnTo>
                <a:lnTo>
                  <a:pt x="6843059" y="8939814"/>
                </a:lnTo>
                <a:lnTo>
                  <a:pt x="6813311" y="8984732"/>
                </a:lnTo>
                <a:lnTo>
                  <a:pt x="6783199" y="9029395"/>
                </a:lnTo>
                <a:lnTo>
                  <a:pt x="6752726" y="9073811"/>
                </a:lnTo>
                <a:lnTo>
                  <a:pt x="6721894" y="9117976"/>
                </a:lnTo>
                <a:lnTo>
                  <a:pt x="6690702" y="9161889"/>
                </a:lnTo>
                <a:lnTo>
                  <a:pt x="6659149" y="9205548"/>
                </a:lnTo>
                <a:lnTo>
                  <a:pt x="6627237" y="9248949"/>
                </a:lnTo>
                <a:lnTo>
                  <a:pt x="6594970" y="9292087"/>
                </a:lnTo>
                <a:lnTo>
                  <a:pt x="6562353" y="9334956"/>
                </a:lnTo>
                <a:lnTo>
                  <a:pt x="6529387" y="9377555"/>
                </a:lnTo>
                <a:lnTo>
                  <a:pt x="6496075" y="9419881"/>
                </a:lnTo>
                <a:lnTo>
                  <a:pt x="6462417" y="9461934"/>
                </a:lnTo>
                <a:lnTo>
                  <a:pt x="6428416" y="9503711"/>
                </a:lnTo>
                <a:lnTo>
                  <a:pt x="6394063" y="9545219"/>
                </a:lnTo>
                <a:lnTo>
                  <a:pt x="6359378" y="9586438"/>
                </a:lnTo>
                <a:lnTo>
                  <a:pt x="6324360" y="9627369"/>
                </a:lnTo>
                <a:lnTo>
                  <a:pt x="6289011" y="9668012"/>
                </a:lnTo>
                <a:lnTo>
                  <a:pt x="6253331" y="9708368"/>
                </a:lnTo>
                <a:lnTo>
                  <a:pt x="6217321" y="9748438"/>
                </a:lnTo>
                <a:lnTo>
                  <a:pt x="6180976" y="9788203"/>
                </a:lnTo>
                <a:lnTo>
                  <a:pt x="6144313" y="9827668"/>
                </a:lnTo>
                <a:lnTo>
                  <a:pt x="6107333" y="9866832"/>
                </a:lnTo>
                <a:lnTo>
                  <a:pt x="6070035" y="9905692"/>
                </a:lnTo>
                <a:lnTo>
                  <a:pt x="6032417" y="9944249"/>
                </a:lnTo>
                <a:lnTo>
                  <a:pt x="5994480" y="9982499"/>
                </a:lnTo>
                <a:lnTo>
                  <a:pt x="5956230" y="10020436"/>
                </a:lnTo>
                <a:lnTo>
                  <a:pt x="5917674" y="10058054"/>
                </a:lnTo>
                <a:lnTo>
                  <a:pt x="5878813" y="10095352"/>
                </a:lnTo>
                <a:lnTo>
                  <a:pt x="5839650" y="10132332"/>
                </a:lnTo>
                <a:lnTo>
                  <a:pt x="5800185" y="10168994"/>
                </a:lnTo>
                <a:lnTo>
                  <a:pt x="5760420" y="10205340"/>
                </a:lnTo>
                <a:lnTo>
                  <a:pt x="5720349" y="10241350"/>
                </a:lnTo>
                <a:lnTo>
                  <a:pt x="5679993" y="10277030"/>
                </a:lnTo>
                <a:lnTo>
                  <a:pt x="5668530" y="10287000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65"/>
          <p:cNvSpPr txBox="1"/>
          <p:nvPr/>
        </p:nvSpPr>
        <p:spPr>
          <a:xfrm>
            <a:off x="103075" y="2153475"/>
            <a:ext cx="2034300" cy="11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ct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Area Under ROC Curve (AUC)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1" name="Google Shape;601;p65"/>
          <p:cNvSpPr/>
          <p:nvPr/>
        </p:nvSpPr>
        <p:spPr>
          <a:xfrm>
            <a:off x="8259233" y="423216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65"/>
          <p:cNvSpPr txBox="1"/>
          <p:nvPr/>
        </p:nvSpPr>
        <p:spPr>
          <a:xfrm>
            <a:off x="2902350" y="2819775"/>
            <a:ext cx="4833300" cy="20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ROC curve : plot dari True Positive Rate (TPR) dan False Positive Rate (FPR)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AUC sendiri mengukur kemampuan classifier untuk membedakan masing-masing class hasil prediksi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AUC dapat diterapkan pada data imbalance</a:t>
            </a:r>
            <a:endParaRPr b="1" sz="110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03" name="Google Shape;603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4675" y="224525"/>
            <a:ext cx="4721725" cy="2319351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65"/>
          <p:cNvSpPr/>
          <p:nvPr/>
        </p:nvSpPr>
        <p:spPr>
          <a:xfrm>
            <a:off x="3591975" y="1191475"/>
            <a:ext cx="495900" cy="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65"/>
          <p:cNvSpPr/>
          <p:nvPr/>
        </p:nvSpPr>
        <p:spPr>
          <a:xfrm rot="5400000">
            <a:off x="2899380" y="566281"/>
            <a:ext cx="495900" cy="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65"/>
          <p:cNvSpPr/>
          <p:nvPr/>
        </p:nvSpPr>
        <p:spPr>
          <a:xfrm rot="5400000">
            <a:off x="4055980" y="566281"/>
            <a:ext cx="495900" cy="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65"/>
          <p:cNvSpPr/>
          <p:nvPr/>
        </p:nvSpPr>
        <p:spPr>
          <a:xfrm rot="5400000">
            <a:off x="5212580" y="566281"/>
            <a:ext cx="495900" cy="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65"/>
          <p:cNvSpPr/>
          <p:nvPr/>
        </p:nvSpPr>
        <p:spPr>
          <a:xfrm rot="5400000">
            <a:off x="6369180" y="566281"/>
            <a:ext cx="495900" cy="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65"/>
          <p:cNvSpPr/>
          <p:nvPr/>
        </p:nvSpPr>
        <p:spPr>
          <a:xfrm>
            <a:off x="4773075" y="1191475"/>
            <a:ext cx="495900" cy="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65"/>
          <p:cNvSpPr/>
          <p:nvPr/>
        </p:nvSpPr>
        <p:spPr>
          <a:xfrm>
            <a:off x="5917425" y="1191475"/>
            <a:ext cx="495900" cy="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65"/>
          <p:cNvSpPr/>
          <p:nvPr/>
        </p:nvSpPr>
        <p:spPr>
          <a:xfrm>
            <a:off x="7092375" y="1191475"/>
            <a:ext cx="495900" cy="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8500" y="3208575"/>
            <a:ext cx="2034300" cy="694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6"/>
          <p:cNvSpPr/>
          <p:nvPr/>
        </p:nvSpPr>
        <p:spPr>
          <a:xfrm>
            <a:off x="0" y="0"/>
            <a:ext cx="2495912" cy="5143500"/>
          </a:xfrm>
          <a:custGeom>
            <a:rect b="b" l="l" r="r" t="t"/>
            <a:pathLst>
              <a:path extrusionOk="0" h="10287000" w="7923530">
                <a:moveTo>
                  <a:pt x="566853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5209055" y="0"/>
                </a:lnTo>
                <a:lnTo>
                  <a:pt x="5217529" y="6124"/>
                </a:lnTo>
                <a:lnTo>
                  <a:pt x="5260930" y="38040"/>
                </a:lnTo>
                <a:lnTo>
                  <a:pt x="5304069" y="70310"/>
                </a:lnTo>
                <a:lnTo>
                  <a:pt x="5346938" y="102927"/>
                </a:lnTo>
                <a:lnTo>
                  <a:pt x="5389536" y="135891"/>
                </a:lnTo>
                <a:lnTo>
                  <a:pt x="5431862" y="169203"/>
                </a:lnTo>
                <a:lnTo>
                  <a:pt x="5473915" y="202862"/>
                </a:lnTo>
                <a:lnTo>
                  <a:pt x="5515692" y="236869"/>
                </a:lnTo>
                <a:lnTo>
                  <a:pt x="5557200" y="271217"/>
                </a:lnTo>
                <a:lnTo>
                  <a:pt x="5598419" y="305898"/>
                </a:lnTo>
                <a:lnTo>
                  <a:pt x="5639350" y="340913"/>
                </a:lnTo>
                <a:lnTo>
                  <a:pt x="5679993" y="376261"/>
                </a:lnTo>
                <a:lnTo>
                  <a:pt x="5720349" y="411943"/>
                </a:lnTo>
                <a:lnTo>
                  <a:pt x="5760420" y="447959"/>
                </a:lnTo>
                <a:lnTo>
                  <a:pt x="5800185" y="484301"/>
                </a:lnTo>
                <a:lnTo>
                  <a:pt x="5839650" y="520962"/>
                </a:lnTo>
                <a:lnTo>
                  <a:pt x="5878813" y="557943"/>
                </a:lnTo>
                <a:lnTo>
                  <a:pt x="5917674" y="595244"/>
                </a:lnTo>
                <a:lnTo>
                  <a:pt x="5956230" y="632863"/>
                </a:lnTo>
                <a:lnTo>
                  <a:pt x="5994480" y="670802"/>
                </a:lnTo>
                <a:lnTo>
                  <a:pt x="6032417" y="709052"/>
                </a:lnTo>
                <a:lnTo>
                  <a:pt x="6070035" y="747607"/>
                </a:lnTo>
                <a:lnTo>
                  <a:pt x="6107333" y="786465"/>
                </a:lnTo>
                <a:lnTo>
                  <a:pt x="6144313" y="825627"/>
                </a:lnTo>
                <a:lnTo>
                  <a:pt x="6180976" y="865093"/>
                </a:lnTo>
                <a:lnTo>
                  <a:pt x="6217321" y="904863"/>
                </a:lnTo>
                <a:lnTo>
                  <a:pt x="6253331" y="944928"/>
                </a:lnTo>
                <a:lnTo>
                  <a:pt x="6289011" y="985281"/>
                </a:lnTo>
                <a:lnTo>
                  <a:pt x="6324360" y="1025922"/>
                </a:lnTo>
                <a:lnTo>
                  <a:pt x="6359378" y="1066851"/>
                </a:lnTo>
                <a:lnTo>
                  <a:pt x="6394063" y="1108069"/>
                </a:lnTo>
                <a:lnTo>
                  <a:pt x="6428416" y="1149575"/>
                </a:lnTo>
                <a:lnTo>
                  <a:pt x="6462417" y="1191359"/>
                </a:lnTo>
                <a:lnTo>
                  <a:pt x="6496075" y="1233414"/>
                </a:lnTo>
                <a:lnTo>
                  <a:pt x="6529387" y="1275741"/>
                </a:lnTo>
                <a:lnTo>
                  <a:pt x="6562353" y="1318338"/>
                </a:lnTo>
                <a:lnTo>
                  <a:pt x="6594970" y="1361206"/>
                </a:lnTo>
                <a:lnTo>
                  <a:pt x="6627237" y="1404344"/>
                </a:lnTo>
                <a:lnTo>
                  <a:pt x="6659149" y="1447746"/>
                </a:lnTo>
                <a:lnTo>
                  <a:pt x="6690702" y="1491404"/>
                </a:lnTo>
                <a:lnTo>
                  <a:pt x="6721894" y="1535317"/>
                </a:lnTo>
                <a:lnTo>
                  <a:pt x="6752726" y="1579483"/>
                </a:lnTo>
                <a:lnTo>
                  <a:pt x="6783199" y="1623898"/>
                </a:lnTo>
                <a:lnTo>
                  <a:pt x="6813311" y="1668562"/>
                </a:lnTo>
                <a:lnTo>
                  <a:pt x="6843059" y="1713480"/>
                </a:lnTo>
                <a:lnTo>
                  <a:pt x="6872437" y="1758635"/>
                </a:lnTo>
                <a:lnTo>
                  <a:pt x="6901443" y="1804025"/>
                </a:lnTo>
                <a:lnTo>
                  <a:pt x="6930076" y="1849650"/>
                </a:lnTo>
                <a:lnTo>
                  <a:pt x="6958334" y="1895509"/>
                </a:lnTo>
                <a:lnTo>
                  <a:pt x="6986217" y="1941602"/>
                </a:lnTo>
                <a:lnTo>
                  <a:pt x="7013721" y="1987930"/>
                </a:lnTo>
                <a:lnTo>
                  <a:pt x="7040846" y="2034470"/>
                </a:lnTo>
                <a:lnTo>
                  <a:pt x="7067589" y="2081226"/>
                </a:lnTo>
                <a:lnTo>
                  <a:pt x="7093948" y="2128200"/>
                </a:lnTo>
                <a:lnTo>
                  <a:pt x="7119921" y="2175392"/>
                </a:lnTo>
                <a:lnTo>
                  <a:pt x="7145505" y="2222807"/>
                </a:lnTo>
                <a:lnTo>
                  <a:pt x="7170710" y="2270420"/>
                </a:lnTo>
                <a:lnTo>
                  <a:pt x="7195520" y="2318234"/>
                </a:lnTo>
                <a:lnTo>
                  <a:pt x="7219935" y="2366247"/>
                </a:lnTo>
                <a:lnTo>
                  <a:pt x="7243955" y="2414457"/>
                </a:lnTo>
                <a:lnTo>
                  <a:pt x="7267579" y="2462864"/>
                </a:lnTo>
                <a:lnTo>
                  <a:pt x="7290809" y="2511465"/>
                </a:lnTo>
                <a:lnTo>
                  <a:pt x="7313650" y="2560264"/>
                </a:lnTo>
                <a:lnTo>
                  <a:pt x="7336085" y="2609239"/>
                </a:lnTo>
                <a:lnTo>
                  <a:pt x="7358114" y="2658391"/>
                </a:lnTo>
                <a:lnTo>
                  <a:pt x="7379740" y="2707722"/>
                </a:lnTo>
                <a:lnTo>
                  <a:pt x="7400963" y="2757230"/>
                </a:lnTo>
                <a:lnTo>
                  <a:pt x="7421785" y="2806918"/>
                </a:lnTo>
                <a:lnTo>
                  <a:pt x="7442192" y="2856775"/>
                </a:lnTo>
                <a:lnTo>
                  <a:pt x="7462192" y="2906791"/>
                </a:lnTo>
                <a:lnTo>
                  <a:pt x="7481785" y="2956966"/>
                </a:lnTo>
                <a:lnTo>
                  <a:pt x="7500967" y="3007301"/>
                </a:lnTo>
                <a:lnTo>
                  <a:pt x="7519736" y="3057797"/>
                </a:lnTo>
                <a:lnTo>
                  <a:pt x="7538091" y="3108455"/>
                </a:lnTo>
                <a:lnTo>
                  <a:pt x="7556029" y="3159251"/>
                </a:lnTo>
                <a:lnTo>
                  <a:pt x="7573550" y="3210187"/>
                </a:lnTo>
                <a:lnTo>
                  <a:pt x="7590654" y="3261262"/>
                </a:lnTo>
                <a:lnTo>
                  <a:pt x="7607341" y="3312475"/>
                </a:lnTo>
                <a:lnTo>
                  <a:pt x="7623611" y="3363826"/>
                </a:lnTo>
                <a:lnTo>
                  <a:pt x="7639464" y="3415313"/>
                </a:lnTo>
                <a:lnTo>
                  <a:pt x="7654895" y="3466928"/>
                </a:lnTo>
                <a:lnTo>
                  <a:pt x="7669901" y="3518661"/>
                </a:lnTo>
                <a:lnTo>
                  <a:pt x="7684481" y="3570513"/>
                </a:lnTo>
                <a:lnTo>
                  <a:pt x="7698635" y="3622483"/>
                </a:lnTo>
                <a:lnTo>
                  <a:pt x="7712364" y="3674572"/>
                </a:lnTo>
                <a:lnTo>
                  <a:pt x="7725666" y="3726779"/>
                </a:lnTo>
                <a:lnTo>
                  <a:pt x="7738541" y="3779094"/>
                </a:lnTo>
                <a:lnTo>
                  <a:pt x="7750985" y="3831505"/>
                </a:lnTo>
                <a:lnTo>
                  <a:pt x="7763000" y="3884011"/>
                </a:lnTo>
                <a:lnTo>
                  <a:pt x="7774584" y="3936611"/>
                </a:lnTo>
                <a:lnTo>
                  <a:pt x="7785738" y="3989304"/>
                </a:lnTo>
                <a:lnTo>
                  <a:pt x="7796461" y="4042091"/>
                </a:lnTo>
                <a:lnTo>
                  <a:pt x="7806755" y="4094974"/>
                </a:lnTo>
                <a:lnTo>
                  <a:pt x="7816616" y="4147932"/>
                </a:lnTo>
                <a:lnTo>
                  <a:pt x="7826045" y="4200965"/>
                </a:lnTo>
                <a:lnTo>
                  <a:pt x="7835039" y="4254072"/>
                </a:lnTo>
                <a:lnTo>
                  <a:pt x="7843597" y="4307254"/>
                </a:lnTo>
                <a:lnTo>
                  <a:pt x="7851717" y="4360511"/>
                </a:lnTo>
                <a:lnTo>
                  <a:pt x="7859401" y="4413842"/>
                </a:lnTo>
                <a:lnTo>
                  <a:pt x="7866650" y="4467223"/>
                </a:lnTo>
                <a:lnTo>
                  <a:pt x="7873462" y="4520655"/>
                </a:lnTo>
                <a:lnTo>
                  <a:pt x="7879838" y="4574140"/>
                </a:lnTo>
                <a:lnTo>
                  <a:pt x="7885776" y="4627680"/>
                </a:lnTo>
                <a:lnTo>
                  <a:pt x="7891276" y="4681274"/>
                </a:lnTo>
                <a:lnTo>
                  <a:pt x="7896337" y="4734904"/>
                </a:lnTo>
                <a:lnTo>
                  <a:pt x="7900959" y="4788570"/>
                </a:lnTo>
                <a:lnTo>
                  <a:pt x="7905143" y="4842272"/>
                </a:lnTo>
                <a:lnTo>
                  <a:pt x="7908887" y="4896006"/>
                </a:lnTo>
                <a:lnTo>
                  <a:pt x="7912192" y="4949772"/>
                </a:lnTo>
                <a:lnTo>
                  <a:pt x="7915059" y="5003565"/>
                </a:lnTo>
                <a:lnTo>
                  <a:pt x="7917484" y="5057390"/>
                </a:lnTo>
                <a:lnTo>
                  <a:pt x="7919467" y="5111224"/>
                </a:lnTo>
                <a:lnTo>
                  <a:pt x="7921008" y="5165067"/>
                </a:lnTo>
                <a:lnTo>
                  <a:pt x="7922107" y="5218918"/>
                </a:lnTo>
                <a:lnTo>
                  <a:pt x="7922767" y="5272778"/>
                </a:lnTo>
                <a:lnTo>
                  <a:pt x="7922986" y="5326647"/>
                </a:lnTo>
                <a:lnTo>
                  <a:pt x="7922767" y="5380516"/>
                </a:lnTo>
                <a:lnTo>
                  <a:pt x="7922107" y="5434376"/>
                </a:lnTo>
                <a:lnTo>
                  <a:pt x="7921008" y="5488227"/>
                </a:lnTo>
                <a:lnTo>
                  <a:pt x="7919467" y="5542069"/>
                </a:lnTo>
                <a:lnTo>
                  <a:pt x="7917484" y="5595903"/>
                </a:lnTo>
                <a:lnTo>
                  <a:pt x="7915059" y="5649728"/>
                </a:lnTo>
                <a:lnTo>
                  <a:pt x="7912192" y="5703522"/>
                </a:lnTo>
                <a:lnTo>
                  <a:pt x="7908887" y="5757287"/>
                </a:lnTo>
                <a:lnTo>
                  <a:pt x="7905143" y="5811022"/>
                </a:lnTo>
                <a:lnTo>
                  <a:pt x="7900959" y="5864723"/>
                </a:lnTo>
                <a:lnTo>
                  <a:pt x="7896337" y="5918390"/>
                </a:lnTo>
                <a:lnTo>
                  <a:pt x="7891276" y="5972019"/>
                </a:lnTo>
                <a:lnTo>
                  <a:pt x="7885776" y="6025614"/>
                </a:lnTo>
                <a:lnTo>
                  <a:pt x="7879838" y="6079153"/>
                </a:lnTo>
                <a:lnTo>
                  <a:pt x="7873462" y="6132638"/>
                </a:lnTo>
                <a:lnTo>
                  <a:pt x="7866650" y="6186070"/>
                </a:lnTo>
                <a:lnTo>
                  <a:pt x="7859401" y="6239451"/>
                </a:lnTo>
                <a:lnTo>
                  <a:pt x="7851717" y="6292783"/>
                </a:lnTo>
                <a:lnTo>
                  <a:pt x="7843597" y="6346039"/>
                </a:lnTo>
                <a:lnTo>
                  <a:pt x="7835039" y="6399221"/>
                </a:lnTo>
                <a:lnTo>
                  <a:pt x="7826045" y="6452328"/>
                </a:lnTo>
                <a:lnTo>
                  <a:pt x="7816616" y="6505361"/>
                </a:lnTo>
                <a:lnTo>
                  <a:pt x="7806755" y="6558319"/>
                </a:lnTo>
                <a:lnTo>
                  <a:pt x="7796461" y="6611202"/>
                </a:lnTo>
                <a:lnTo>
                  <a:pt x="7785738" y="6663989"/>
                </a:lnTo>
                <a:lnTo>
                  <a:pt x="7774584" y="6716683"/>
                </a:lnTo>
                <a:lnTo>
                  <a:pt x="7763000" y="6769283"/>
                </a:lnTo>
                <a:lnTo>
                  <a:pt x="7750985" y="6821789"/>
                </a:lnTo>
                <a:lnTo>
                  <a:pt x="7738541" y="6874199"/>
                </a:lnTo>
                <a:lnTo>
                  <a:pt x="7725666" y="6926514"/>
                </a:lnTo>
                <a:lnTo>
                  <a:pt x="7712364" y="6978722"/>
                </a:lnTo>
                <a:lnTo>
                  <a:pt x="7698635" y="7030810"/>
                </a:lnTo>
                <a:lnTo>
                  <a:pt x="7684481" y="7082781"/>
                </a:lnTo>
                <a:lnTo>
                  <a:pt x="7669901" y="7134633"/>
                </a:lnTo>
                <a:lnTo>
                  <a:pt x="7654895" y="7186366"/>
                </a:lnTo>
                <a:lnTo>
                  <a:pt x="7639464" y="7237981"/>
                </a:lnTo>
                <a:lnTo>
                  <a:pt x="7623611" y="7289468"/>
                </a:lnTo>
                <a:lnTo>
                  <a:pt x="7607341" y="7340819"/>
                </a:lnTo>
                <a:lnTo>
                  <a:pt x="7590654" y="7392032"/>
                </a:lnTo>
                <a:lnTo>
                  <a:pt x="7573550" y="7443106"/>
                </a:lnTo>
                <a:lnTo>
                  <a:pt x="7556029" y="7494042"/>
                </a:lnTo>
                <a:lnTo>
                  <a:pt x="7538091" y="7544838"/>
                </a:lnTo>
                <a:lnTo>
                  <a:pt x="7519738" y="7595496"/>
                </a:lnTo>
                <a:lnTo>
                  <a:pt x="7500973" y="7645992"/>
                </a:lnTo>
                <a:lnTo>
                  <a:pt x="7481795" y="7696328"/>
                </a:lnTo>
                <a:lnTo>
                  <a:pt x="7462204" y="7746503"/>
                </a:lnTo>
                <a:lnTo>
                  <a:pt x="7442201" y="7796518"/>
                </a:lnTo>
                <a:lnTo>
                  <a:pt x="7421785" y="7846375"/>
                </a:lnTo>
                <a:lnTo>
                  <a:pt x="7400963" y="7896063"/>
                </a:lnTo>
                <a:lnTo>
                  <a:pt x="7379740" y="7945572"/>
                </a:lnTo>
                <a:lnTo>
                  <a:pt x="7358114" y="7994902"/>
                </a:lnTo>
                <a:lnTo>
                  <a:pt x="7336085" y="8044054"/>
                </a:lnTo>
                <a:lnTo>
                  <a:pt x="7313650" y="8093030"/>
                </a:lnTo>
                <a:lnTo>
                  <a:pt x="7290809" y="8141829"/>
                </a:lnTo>
                <a:lnTo>
                  <a:pt x="7267579" y="8190430"/>
                </a:lnTo>
                <a:lnTo>
                  <a:pt x="7243955" y="8238836"/>
                </a:lnTo>
                <a:lnTo>
                  <a:pt x="7219935" y="8287047"/>
                </a:lnTo>
                <a:lnTo>
                  <a:pt x="7195520" y="8335060"/>
                </a:lnTo>
                <a:lnTo>
                  <a:pt x="7170710" y="8382874"/>
                </a:lnTo>
                <a:lnTo>
                  <a:pt x="7145505" y="8430487"/>
                </a:lnTo>
                <a:lnTo>
                  <a:pt x="7119921" y="8477892"/>
                </a:lnTo>
                <a:lnTo>
                  <a:pt x="7093948" y="8525082"/>
                </a:lnTo>
                <a:lnTo>
                  <a:pt x="7067589" y="8572057"/>
                </a:lnTo>
                <a:lnTo>
                  <a:pt x="7040846" y="8618817"/>
                </a:lnTo>
                <a:lnTo>
                  <a:pt x="7013721" y="8665362"/>
                </a:lnTo>
                <a:lnTo>
                  <a:pt x="6986217" y="8711692"/>
                </a:lnTo>
                <a:lnTo>
                  <a:pt x="6958334" y="8757784"/>
                </a:lnTo>
                <a:lnTo>
                  <a:pt x="6930076" y="8803644"/>
                </a:lnTo>
                <a:lnTo>
                  <a:pt x="6901443" y="8849269"/>
                </a:lnTo>
                <a:lnTo>
                  <a:pt x="6872437" y="8894659"/>
                </a:lnTo>
                <a:lnTo>
                  <a:pt x="6843059" y="8939814"/>
                </a:lnTo>
                <a:lnTo>
                  <a:pt x="6813311" y="8984732"/>
                </a:lnTo>
                <a:lnTo>
                  <a:pt x="6783199" y="9029395"/>
                </a:lnTo>
                <a:lnTo>
                  <a:pt x="6752726" y="9073811"/>
                </a:lnTo>
                <a:lnTo>
                  <a:pt x="6721894" y="9117976"/>
                </a:lnTo>
                <a:lnTo>
                  <a:pt x="6690702" y="9161889"/>
                </a:lnTo>
                <a:lnTo>
                  <a:pt x="6659149" y="9205548"/>
                </a:lnTo>
                <a:lnTo>
                  <a:pt x="6627237" y="9248949"/>
                </a:lnTo>
                <a:lnTo>
                  <a:pt x="6594970" y="9292087"/>
                </a:lnTo>
                <a:lnTo>
                  <a:pt x="6562353" y="9334956"/>
                </a:lnTo>
                <a:lnTo>
                  <a:pt x="6529387" y="9377555"/>
                </a:lnTo>
                <a:lnTo>
                  <a:pt x="6496075" y="9419881"/>
                </a:lnTo>
                <a:lnTo>
                  <a:pt x="6462417" y="9461934"/>
                </a:lnTo>
                <a:lnTo>
                  <a:pt x="6428416" y="9503711"/>
                </a:lnTo>
                <a:lnTo>
                  <a:pt x="6394063" y="9545219"/>
                </a:lnTo>
                <a:lnTo>
                  <a:pt x="6359378" y="9586438"/>
                </a:lnTo>
                <a:lnTo>
                  <a:pt x="6324360" y="9627369"/>
                </a:lnTo>
                <a:lnTo>
                  <a:pt x="6289011" y="9668012"/>
                </a:lnTo>
                <a:lnTo>
                  <a:pt x="6253331" y="9708368"/>
                </a:lnTo>
                <a:lnTo>
                  <a:pt x="6217321" y="9748438"/>
                </a:lnTo>
                <a:lnTo>
                  <a:pt x="6180976" y="9788203"/>
                </a:lnTo>
                <a:lnTo>
                  <a:pt x="6144313" y="9827668"/>
                </a:lnTo>
                <a:lnTo>
                  <a:pt x="6107333" y="9866832"/>
                </a:lnTo>
                <a:lnTo>
                  <a:pt x="6070035" y="9905692"/>
                </a:lnTo>
                <a:lnTo>
                  <a:pt x="6032417" y="9944249"/>
                </a:lnTo>
                <a:lnTo>
                  <a:pt x="5994480" y="9982499"/>
                </a:lnTo>
                <a:lnTo>
                  <a:pt x="5956230" y="10020436"/>
                </a:lnTo>
                <a:lnTo>
                  <a:pt x="5917674" y="10058054"/>
                </a:lnTo>
                <a:lnTo>
                  <a:pt x="5878813" y="10095352"/>
                </a:lnTo>
                <a:lnTo>
                  <a:pt x="5839650" y="10132332"/>
                </a:lnTo>
                <a:lnTo>
                  <a:pt x="5800185" y="10168994"/>
                </a:lnTo>
                <a:lnTo>
                  <a:pt x="5760420" y="10205340"/>
                </a:lnTo>
                <a:lnTo>
                  <a:pt x="5720349" y="10241350"/>
                </a:lnTo>
                <a:lnTo>
                  <a:pt x="5679993" y="10277030"/>
                </a:lnTo>
                <a:lnTo>
                  <a:pt x="5668530" y="10287000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66"/>
          <p:cNvSpPr txBox="1"/>
          <p:nvPr/>
        </p:nvSpPr>
        <p:spPr>
          <a:xfrm>
            <a:off x="0" y="2534475"/>
            <a:ext cx="24300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rtl="0" algn="ct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9" name="Google Shape;619;p6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66"/>
          <p:cNvSpPr txBox="1"/>
          <p:nvPr/>
        </p:nvSpPr>
        <p:spPr>
          <a:xfrm>
            <a:off x="2710250" y="716575"/>
            <a:ext cx="54987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eorgia"/>
              <a:buChar char="●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Akurasi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Evaluasi ketika memiliki </a:t>
            </a:r>
            <a:r>
              <a:rPr b="1" lang="en" sz="1100">
                <a:latin typeface="Georgia"/>
                <a:ea typeface="Georgia"/>
                <a:cs typeface="Georgia"/>
                <a:sym typeface="Georgia"/>
              </a:rPr>
              <a:t>balanced data</a:t>
            </a:r>
            <a:endParaRPr b="1"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eorgia"/>
              <a:buChar char="●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Precision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Biasa digunakan ketika lebih </a:t>
            </a:r>
            <a:r>
              <a:rPr b="1" lang="en" sz="11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memperhatikan jumlah False positif (FP) yang sebaiknya lebih sedikit</a:t>
            </a: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.</a:t>
            </a:r>
            <a:br>
              <a:rPr lang="en" sz="1100">
                <a:latin typeface="Georgia"/>
                <a:ea typeface="Georgia"/>
                <a:cs typeface="Georgia"/>
                <a:sym typeface="Georgia"/>
              </a:rPr>
            </a:b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Contoh kasus : deteksi spam pada email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eorgia"/>
              <a:buChar char="●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Recall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Jika kita </a:t>
            </a:r>
            <a:r>
              <a:rPr b="1" lang="en" sz="11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tidak memperbolehkan nilai False Negatif (FN) yang besar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Contoh kasus : Deteksi penyakit kanker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●"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F1 score merangkum precision dan  recall dengan mengambil RATAAN HARMONIK dari keduanya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F1 score dapat diterapkan pada data imbalance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eorgia"/>
              <a:buChar char="●"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AUC mirip akurasi tapi dapat </a:t>
            </a:r>
            <a:r>
              <a:rPr b="1" lang="en" sz="11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dapat diterapkan pada data imbalance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7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6" name="Google Shape;626;p67"/>
          <p:cNvSpPr txBox="1"/>
          <p:nvPr/>
        </p:nvSpPr>
        <p:spPr>
          <a:xfrm>
            <a:off x="888250" y="460400"/>
            <a:ext cx="77262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sklearn </a:t>
            </a: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mempermudah segalanya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7" name="Google Shape;62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925" y="1371500"/>
            <a:ext cx="2845975" cy="284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4950" y="1406652"/>
            <a:ext cx="4773775" cy="2775675"/>
          </a:xfrm>
          <a:prstGeom prst="rect">
            <a:avLst/>
          </a:prstGeom>
          <a:noFill/>
          <a:ln cap="flat" cmpd="sng" w="190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8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634" name="Google Shape;634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3423" y="346088"/>
            <a:ext cx="5657157" cy="43780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5" name="Google Shape;635;p68"/>
          <p:cNvSpPr txBox="1"/>
          <p:nvPr/>
        </p:nvSpPr>
        <p:spPr>
          <a:xfrm>
            <a:off x="4241006" y="1146206"/>
            <a:ext cx="30231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Theory lagi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68"/>
          <p:cNvSpPr txBox="1"/>
          <p:nvPr/>
        </p:nvSpPr>
        <p:spPr>
          <a:xfrm>
            <a:off x="4317206" y="3432206"/>
            <a:ext cx="30231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Kuy praktek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69"/>
          <p:cNvGrpSpPr/>
          <p:nvPr/>
        </p:nvGrpSpPr>
        <p:grpSpPr>
          <a:xfrm>
            <a:off x="4968814" y="2"/>
            <a:ext cx="4175759" cy="5143606"/>
            <a:chOff x="4968814" y="2"/>
            <a:chExt cx="4175759" cy="5143606"/>
          </a:xfrm>
        </p:grpSpPr>
        <p:sp>
          <p:nvSpPr>
            <p:cNvPr id="642" name="Google Shape;642;p69"/>
            <p:cNvSpPr/>
            <p:nvPr/>
          </p:nvSpPr>
          <p:spPr>
            <a:xfrm>
              <a:off x="4968814" y="2"/>
              <a:ext cx="4175759" cy="5143500"/>
            </a:xfrm>
            <a:custGeom>
              <a:rect b="b" l="l" r="r" t="t"/>
              <a:pathLst>
                <a:path extrusionOk="0" h="5143500" w="4175759">
                  <a:moveTo>
                    <a:pt x="4175166" y="5143486"/>
                  </a:moveTo>
                  <a:lnTo>
                    <a:pt x="0" y="5143486"/>
                  </a:lnTo>
                  <a:lnTo>
                    <a:pt x="0" y="0"/>
                  </a:lnTo>
                  <a:lnTo>
                    <a:pt x="4175166" y="0"/>
                  </a:lnTo>
                  <a:lnTo>
                    <a:pt x="4175166" y="5143486"/>
                  </a:lnTo>
                  <a:close/>
                </a:path>
              </a:pathLst>
            </a:custGeom>
            <a:solidFill>
              <a:srgbClr val="48A8C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69"/>
            <p:cNvSpPr/>
            <p:nvPr/>
          </p:nvSpPr>
          <p:spPr>
            <a:xfrm>
              <a:off x="4972039" y="2"/>
              <a:ext cx="4171950" cy="5143500"/>
            </a:xfrm>
            <a:custGeom>
              <a:rect b="b" l="l" r="r" t="t"/>
              <a:pathLst>
                <a:path extrusionOk="0" h="5143500" w="4171950">
                  <a:moveTo>
                    <a:pt x="4171941" y="5143486"/>
                  </a:moveTo>
                  <a:lnTo>
                    <a:pt x="2851144" y="5143486"/>
                  </a:lnTo>
                  <a:lnTo>
                    <a:pt x="2851144" y="4974986"/>
                  </a:lnTo>
                  <a:lnTo>
                    <a:pt x="2844794" y="4951137"/>
                  </a:lnTo>
                  <a:lnTo>
                    <a:pt x="2844794" y="4903562"/>
                  </a:lnTo>
                  <a:lnTo>
                    <a:pt x="2838444" y="4879862"/>
                  </a:lnTo>
                  <a:lnTo>
                    <a:pt x="2838444" y="4832612"/>
                  </a:lnTo>
                  <a:lnTo>
                    <a:pt x="2832094" y="4809087"/>
                  </a:lnTo>
                  <a:lnTo>
                    <a:pt x="2832094" y="4785612"/>
                  </a:lnTo>
                  <a:lnTo>
                    <a:pt x="2825744" y="4762187"/>
                  </a:lnTo>
                  <a:lnTo>
                    <a:pt x="2825744" y="4738837"/>
                  </a:lnTo>
                  <a:lnTo>
                    <a:pt x="2819394" y="4715537"/>
                  </a:lnTo>
                  <a:lnTo>
                    <a:pt x="2819394" y="4692287"/>
                  </a:lnTo>
                  <a:lnTo>
                    <a:pt x="2806694" y="4646012"/>
                  </a:lnTo>
                  <a:lnTo>
                    <a:pt x="2806694" y="4622962"/>
                  </a:lnTo>
                  <a:lnTo>
                    <a:pt x="2793994" y="4577062"/>
                  </a:lnTo>
                  <a:lnTo>
                    <a:pt x="2793994" y="4554212"/>
                  </a:lnTo>
                  <a:lnTo>
                    <a:pt x="2768594" y="4463488"/>
                  </a:lnTo>
                  <a:lnTo>
                    <a:pt x="2768594" y="4440988"/>
                  </a:lnTo>
                  <a:lnTo>
                    <a:pt x="2717794" y="4263538"/>
                  </a:lnTo>
                  <a:lnTo>
                    <a:pt x="2705094" y="4241688"/>
                  </a:lnTo>
                  <a:lnTo>
                    <a:pt x="2679694" y="4155113"/>
                  </a:lnTo>
                  <a:lnTo>
                    <a:pt x="2666994" y="4133663"/>
                  </a:lnTo>
                  <a:lnTo>
                    <a:pt x="2654294" y="4091038"/>
                  </a:lnTo>
                  <a:lnTo>
                    <a:pt x="2641594" y="4069838"/>
                  </a:lnTo>
                  <a:lnTo>
                    <a:pt x="2628894" y="4027688"/>
                  </a:lnTo>
                  <a:lnTo>
                    <a:pt x="2616194" y="4006763"/>
                  </a:lnTo>
                  <a:lnTo>
                    <a:pt x="2609844" y="3985888"/>
                  </a:lnTo>
                  <a:lnTo>
                    <a:pt x="2597144" y="3965139"/>
                  </a:lnTo>
                  <a:lnTo>
                    <a:pt x="2590794" y="3944464"/>
                  </a:lnTo>
                  <a:lnTo>
                    <a:pt x="2578094" y="3923864"/>
                  </a:lnTo>
                  <a:lnTo>
                    <a:pt x="2571744" y="3903364"/>
                  </a:lnTo>
                  <a:lnTo>
                    <a:pt x="2559044" y="3882964"/>
                  </a:lnTo>
                  <a:lnTo>
                    <a:pt x="2552694" y="3862639"/>
                  </a:lnTo>
                  <a:lnTo>
                    <a:pt x="2527294" y="3822289"/>
                  </a:lnTo>
                  <a:lnTo>
                    <a:pt x="2520944" y="3802239"/>
                  </a:lnTo>
                  <a:lnTo>
                    <a:pt x="2495544" y="3762439"/>
                  </a:lnTo>
                  <a:lnTo>
                    <a:pt x="2489194" y="3742689"/>
                  </a:lnTo>
                  <a:lnTo>
                    <a:pt x="2425695" y="3645414"/>
                  </a:lnTo>
                  <a:lnTo>
                    <a:pt x="2419345" y="3626239"/>
                  </a:lnTo>
                  <a:lnTo>
                    <a:pt x="2355845" y="3531989"/>
                  </a:lnTo>
                  <a:lnTo>
                    <a:pt x="2305045" y="3458490"/>
                  </a:lnTo>
                  <a:lnTo>
                    <a:pt x="2292345" y="3440390"/>
                  </a:lnTo>
                  <a:lnTo>
                    <a:pt x="2273295" y="3422390"/>
                  </a:lnTo>
                  <a:lnTo>
                    <a:pt x="2222495" y="3351515"/>
                  </a:lnTo>
                  <a:lnTo>
                    <a:pt x="2203445" y="3334090"/>
                  </a:lnTo>
                  <a:lnTo>
                    <a:pt x="2165345" y="3282465"/>
                  </a:lnTo>
                  <a:lnTo>
                    <a:pt x="2146295" y="3265490"/>
                  </a:lnTo>
                  <a:lnTo>
                    <a:pt x="2120895" y="3231915"/>
                  </a:lnTo>
                  <a:lnTo>
                    <a:pt x="2101845" y="3215290"/>
                  </a:lnTo>
                  <a:lnTo>
                    <a:pt x="2089145" y="3198790"/>
                  </a:lnTo>
                  <a:lnTo>
                    <a:pt x="2070095" y="3182415"/>
                  </a:lnTo>
                  <a:lnTo>
                    <a:pt x="2057395" y="3166165"/>
                  </a:lnTo>
                  <a:lnTo>
                    <a:pt x="2038345" y="3150015"/>
                  </a:lnTo>
                  <a:lnTo>
                    <a:pt x="2025645" y="3134015"/>
                  </a:lnTo>
                  <a:lnTo>
                    <a:pt x="2006595" y="3118115"/>
                  </a:lnTo>
                  <a:lnTo>
                    <a:pt x="1993895" y="3102365"/>
                  </a:lnTo>
                  <a:lnTo>
                    <a:pt x="1974846" y="3086715"/>
                  </a:lnTo>
                  <a:lnTo>
                    <a:pt x="1962146" y="3071215"/>
                  </a:lnTo>
                  <a:lnTo>
                    <a:pt x="1943096" y="3055840"/>
                  </a:lnTo>
                  <a:lnTo>
                    <a:pt x="1930396" y="3040590"/>
                  </a:lnTo>
                  <a:lnTo>
                    <a:pt x="1911346" y="3025440"/>
                  </a:lnTo>
                  <a:lnTo>
                    <a:pt x="1892296" y="3010465"/>
                  </a:lnTo>
                  <a:lnTo>
                    <a:pt x="1879596" y="2995590"/>
                  </a:lnTo>
                  <a:lnTo>
                    <a:pt x="1860546" y="2980865"/>
                  </a:lnTo>
                  <a:lnTo>
                    <a:pt x="1841496" y="2966241"/>
                  </a:lnTo>
                  <a:lnTo>
                    <a:pt x="1828796" y="2951791"/>
                  </a:lnTo>
                  <a:lnTo>
                    <a:pt x="1809746" y="2937441"/>
                  </a:lnTo>
                  <a:lnTo>
                    <a:pt x="1790696" y="2923241"/>
                  </a:lnTo>
                  <a:lnTo>
                    <a:pt x="1771646" y="2909166"/>
                  </a:lnTo>
                  <a:lnTo>
                    <a:pt x="1758946" y="2895241"/>
                  </a:lnTo>
                  <a:lnTo>
                    <a:pt x="1720846" y="2867791"/>
                  </a:lnTo>
                  <a:lnTo>
                    <a:pt x="1682746" y="2840891"/>
                  </a:lnTo>
                  <a:lnTo>
                    <a:pt x="1663696" y="2827641"/>
                  </a:lnTo>
                  <a:lnTo>
                    <a:pt x="1650996" y="2814541"/>
                  </a:lnTo>
                  <a:lnTo>
                    <a:pt x="1612896" y="2788766"/>
                  </a:lnTo>
                  <a:lnTo>
                    <a:pt x="1574796" y="2763566"/>
                  </a:lnTo>
                  <a:lnTo>
                    <a:pt x="1536696" y="2738916"/>
                  </a:lnTo>
                  <a:lnTo>
                    <a:pt x="1498596" y="2714891"/>
                  </a:lnTo>
                  <a:lnTo>
                    <a:pt x="1460497" y="2691441"/>
                  </a:lnTo>
                  <a:lnTo>
                    <a:pt x="1422397" y="2668566"/>
                  </a:lnTo>
                  <a:lnTo>
                    <a:pt x="1377947" y="2646316"/>
                  </a:lnTo>
                  <a:lnTo>
                    <a:pt x="1358897" y="2635416"/>
                  </a:lnTo>
                  <a:lnTo>
                    <a:pt x="1320797" y="2614091"/>
                  </a:lnTo>
                  <a:lnTo>
                    <a:pt x="1282697" y="2593366"/>
                  </a:lnTo>
                  <a:lnTo>
                    <a:pt x="1238247" y="2573291"/>
                  </a:lnTo>
                  <a:lnTo>
                    <a:pt x="1219197" y="2563466"/>
                  </a:lnTo>
                  <a:lnTo>
                    <a:pt x="1200147" y="2553816"/>
                  </a:lnTo>
                  <a:lnTo>
                    <a:pt x="1181097" y="2544341"/>
                  </a:lnTo>
                  <a:lnTo>
                    <a:pt x="1155697" y="2535016"/>
                  </a:lnTo>
                  <a:lnTo>
                    <a:pt x="1136647" y="2525841"/>
                  </a:lnTo>
                  <a:lnTo>
                    <a:pt x="1117597" y="2516841"/>
                  </a:lnTo>
                  <a:lnTo>
                    <a:pt x="1092197" y="2507991"/>
                  </a:lnTo>
                  <a:lnTo>
                    <a:pt x="1073147" y="2499309"/>
                  </a:lnTo>
                  <a:lnTo>
                    <a:pt x="1054097" y="2490794"/>
                  </a:lnTo>
                  <a:lnTo>
                    <a:pt x="1028697" y="2482441"/>
                  </a:lnTo>
                  <a:lnTo>
                    <a:pt x="1009647" y="2474257"/>
                  </a:lnTo>
                  <a:lnTo>
                    <a:pt x="990598" y="2466239"/>
                  </a:lnTo>
                  <a:lnTo>
                    <a:pt x="965198" y="2458389"/>
                  </a:lnTo>
                  <a:lnTo>
                    <a:pt x="946148" y="2450707"/>
                  </a:lnTo>
                  <a:lnTo>
                    <a:pt x="920748" y="2443192"/>
                  </a:lnTo>
                  <a:lnTo>
                    <a:pt x="901698" y="2435849"/>
                  </a:lnTo>
                  <a:lnTo>
                    <a:pt x="882648" y="2428677"/>
                  </a:lnTo>
                  <a:lnTo>
                    <a:pt x="857248" y="2421674"/>
                  </a:lnTo>
                  <a:lnTo>
                    <a:pt x="838198" y="2414847"/>
                  </a:lnTo>
                  <a:lnTo>
                    <a:pt x="812798" y="2408189"/>
                  </a:lnTo>
                  <a:lnTo>
                    <a:pt x="793748" y="2401707"/>
                  </a:lnTo>
                  <a:lnTo>
                    <a:pt x="768348" y="2395399"/>
                  </a:lnTo>
                  <a:lnTo>
                    <a:pt x="749298" y="2389267"/>
                  </a:lnTo>
                  <a:lnTo>
                    <a:pt x="723898" y="2383312"/>
                  </a:lnTo>
                  <a:lnTo>
                    <a:pt x="704848" y="2377532"/>
                  </a:lnTo>
                  <a:lnTo>
                    <a:pt x="679448" y="2371932"/>
                  </a:lnTo>
                  <a:lnTo>
                    <a:pt x="660398" y="2366509"/>
                  </a:lnTo>
                  <a:lnTo>
                    <a:pt x="634998" y="2361264"/>
                  </a:lnTo>
                  <a:lnTo>
                    <a:pt x="609598" y="2356202"/>
                  </a:lnTo>
                  <a:lnTo>
                    <a:pt x="590548" y="2351319"/>
                  </a:lnTo>
                  <a:lnTo>
                    <a:pt x="565148" y="2346619"/>
                  </a:lnTo>
                  <a:lnTo>
                    <a:pt x="546098" y="2342102"/>
                  </a:lnTo>
                  <a:lnTo>
                    <a:pt x="520698" y="2337767"/>
                  </a:lnTo>
                  <a:lnTo>
                    <a:pt x="495299" y="2333617"/>
                  </a:lnTo>
                  <a:lnTo>
                    <a:pt x="476249" y="2329652"/>
                  </a:lnTo>
                  <a:lnTo>
                    <a:pt x="450849" y="2325872"/>
                  </a:lnTo>
                  <a:lnTo>
                    <a:pt x="425449" y="2322277"/>
                  </a:lnTo>
                  <a:lnTo>
                    <a:pt x="406399" y="2318872"/>
                  </a:lnTo>
                  <a:lnTo>
                    <a:pt x="380999" y="2315654"/>
                  </a:lnTo>
                  <a:lnTo>
                    <a:pt x="355599" y="2312624"/>
                  </a:lnTo>
                  <a:lnTo>
                    <a:pt x="336549" y="2309787"/>
                  </a:lnTo>
                  <a:lnTo>
                    <a:pt x="311149" y="2307137"/>
                  </a:lnTo>
                  <a:lnTo>
                    <a:pt x="285749" y="2304679"/>
                  </a:lnTo>
                  <a:lnTo>
                    <a:pt x="266699" y="2302414"/>
                  </a:lnTo>
                  <a:lnTo>
                    <a:pt x="241299" y="2300342"/>
                  </a:lnTo>
                  <a:lnTo>
                    <a:pt x="215899" y="2298462"/>
                  </a:lnTo>
                  <a:lnTo>
                    <a:pt x="190499" y="2296777"/>
                  </a:lnTo>
                  <a:lnTo>
                    <a:pt x="171449" y="2295287"/>
                  </a:lnTo>
                  <a:lnTo>
                    <a:pt x="120649" y="2292897"/>
                  </a:lnTo>
                  <a:lnTo>
                    <a:pt x="69849" y="2291299"/>
                  </a:lnTo>
                  <a:lnTo>
                    <a:pt x="25399" y="2290497"/>
                  </a:lnTo>
                  <a:lnTo>
                    <a:pt x="0" y="2290394"/>
                  </a:lnTo>
                  <a:lnTo>
                    <a:pt x="0" y="0"/>
                  </a:lnTo>
                  <a:lnTo>
                    <a:pt x="44449" y="171"/>
                  </a:lnTo>
                  <a:lnTo>
                    <a:pt x="82549" y="688"/>
                  </a:lnTo>
                  <a:lnTo>
                    <a:pt x="126999" y="1547"/>
                  </a:lnTo>
                  <a:lnTo>
                    <a:pt x="171449" y="2748"/>
                  </a:lnTo>
                  <a:lnTo>
                    <a:pt x="209549" y="4289"/>
                  </a:lnTo>
                  <a:lnTo>
                    <a:pt x="253999" y="6169"/>
                  </a:lnTo>
                  <a:lnTo>
                    <a:pt x="298449" y="8386"/>
                  </a:lnTo>
                  <a:lnTo>
                    <a:pt x="336549" y="10939"/>
                  </a:lnTo>
                  <a:lnTo>
                    <a:pt x="380999" y="13828"/>
                  </a:lnTo>
                  <a:lnTo>
                    <a:pt x="419099" y="17049"/>
                  </a:lnTo>
                  <a:lnTo>
                    <a:pt x="463549" y="20603"/>
                  </a:lnTo>
                  <a:lnTo>
                    <a:pt x="507998" y="24488"/>
                  </a:lnTo>
                  <a:lnTo>
                    <a:pt x="546098" y="28702"/>
                  </a:lnTo>
                  <a:lnTo>
                    <a:pt x="590548" y="33245"/>
                  </a:lnTo>
                  <a:lnTo>
                    <a:pt x="628648" y="38114"/>
                  </a:lnTo>
                  <a:lnTo>
                    <a:pt x="673098" y="43309"/>
                  </a:lnTo>
                  <a:lnTo>
                    <a:pt x="711198" y="48828"/>
                  </a:lnTo>
                  <a:lnTo>
                    <a:pt x="755648" y="54670"/>
                  </a:lnTo>
                  <a:lnTo>
                    <a:pt x="793748" y="60834"/>
                  </a:lnTo>
                  <a:lnTo>
                    <a:pt x="831848" y="67318"/>
                  </a:lnTo>
                  <a:lnTo>
                    <a:pt x="876298" y="74121"/>
                  </a:lnTo>
                  <a:lnTo>
                    <a:pt x="914398" y="81242"/>
                  </a:lnTo>
                  <a:lnTo>
                    <a:pt x="958848" y="88679"/>
                  </a:lnTo>
                  <a:lnTo>
                    <a:pt x="996947" y="96430"/>
                  </a:lnTo>
                  <a:lnTo>
                    <a:pt x="1035047" y="104496"/>
                  </a:lnTo>
                  <a:lnTo>
                    <a:pt x="1079497" y="112874"/>
                  </a:lnTo>
                  <a:lnTo>
                    <a:pt x="1117597" y="121563"/>
                  </a:lnTo>
                  <a:lnTo>
                    <a:pt x="1155697" y="130561"/>
                  </a:lnTo>
                  <a:lnTo>
                    <a:pt x="1193797" y="139868"/>
                  </a:lnTo>
                  <a:lnTo>
                    <a:pt x="1238247" y="149482"/>
                  </a:lnTo>
                  <a:lnTo>
                    <a:pt x="1276347" y="159401"/>
                  </a:lnTo>
                  <a:lnTo>
                    <a:pt x="1314447" y="169625"/>
                  </a:lnTo>
                  <a:lnTo>
                    <a:pt x="1352547" y="180152"/>
                  </a:lnTo>
                  <a:lnTo>
                    <a:pt x="1390647" y="190981"/>
                  </a:lnTo>
                  <a:lnTo>
                    <a:pt x="1435097" y="202111"/>
                  </a:lnTo>
                  <a:lnTo>
                    <a:pt x="1473197" y="213539"/>
                  </a:lnTo>
                  <a:lnTo>
                    <a:pt x="1511296" y="225265"/>
                  </a:lnTo>
                  <a:lnTo>
                    <a:pt x="1549396" y="237287"/>
                  </a:lnTo>
                  <a:lnTo>
                    <a:pt x="1587496" y="249605"/>
                  </a:lnTo>
                  <a:lnTo>
                    <a:pt x="1625596" y="262216"/>
                  </a:lnTo>
                  <a:lnTo>
                    <a:pt x="1663696" y="275121"/>
                  </a:lnTo>
                  <a:lnTo>
                    <a:pt x="1701796" y="288316"/>
                  </a:lnTo>
                  <a:lnTo>
                    <a:pt x="1739896" y="301801"/>
                  </a:lnTo>
                  <a:lnTo>
                    <a:pt x="1777996" y="315573"/>
                  </a:lnTo>
                  <a:lnTo>
                    <a:pt x="1816096" y="329633"/>
                  </a:lnTo>
                  <a:lnTo>
                    <a:pt x="1854196" y="343981"/>
                  </a:lnTo>
                  <a:lnTo>
                    <a:pt x="1892296" y="358611"/>
                  </a:lnTo>
                  <a:lnTo>
                    <a:pt x="1930396" y="373526"/>
                  </a:lnTo>
                  <a:lnTo>
                    <a:pt x="1962146" y="388721"/>
                  </a:lnTo>
                  <a:lnTo>
                    <a:pt x="2000245" y="404198"/>
                  </a:lnTo>
                  <a:lnTo>
                    <a:pt x="2038345" y="419953"/>
                  </a:lnTo>
                  <a:lnTo>
                    <a:pt x="2076445" y="435988"/>
                  </a:lnTo>
                  <a:lnTo>
                    <a:pt x="2114545" y="452298"/>
                  </a:lnTo>
                  <a:lnTo>
                    <a:pt x="2146295" y="468883"/>
                  </a:lnTo>
                  <a:lnTo>
                    <a:pt x="2184395" y="485743"/>
                  </a:lnTo>
                  <a:lnTo>
                    <a:pt x="2222495" y="502875"/>
                  </a:lnTo>
                  <a:lnTo>
                    <a:pt x="2254245" y="520278"/>
                  </a:lnTo>
                  <a:lnTo>
                    <a:pt x="2292345" y="537953"/>
                  </a:lnTo>
                  <a:lnTo>
                    <a:pt x="2330445" y="555893"/>
                  </a:lnTo>
                  <a:lnTo>
                    <a:pt x="2362195" y="574103"/>
                  </a:lnTo>
                  <a:lnTo>
                    <a:pt x="2400295" y="592578"/>
                  </a:lnTo>
                  <a:lnTo>
                    <a:pt x="2432045" y="611318"/>
                  </a:lnTo>
                  <a:lnTo>
                    <a:pt x="2470145" y="630323"/>
                  </a:lnTo>
                  <a:lnTo>
                    <a:pt x="2501894" y="649588"/>
                  </a:lnTo>
                  <a:lnTo>
                    <a:pt x="2539994" y="669113"/>
                  </a:lnTo>
                  <a:lnTo>
                    <a:pt x="2571744" y="688900"/>
                  </a:lnTo>
                  <a:lnTo>
                    <a:pt x="2609844" y="708943"/>
                  </a:lnTo>
                  <a:lnTo>
                    <a:pt x="2641594" y="729243"/>
                  </a:lnTo>
                  <a:lnTo>
                    <a:pt x="2673344" y="749800"/>
                  </a:lnTo>
                  <a:lnTo>
                    <a:pt x="2711444" y="770607"/>
                  </a:lnTo>
                  <a:lnTo>
                    <a:pt x="2743194" y="791672"/>
                  </a:lnTo>
                  <a:lnTo>
                    <a:pt x="2774944" y="812985"/>
                  </a:lnTo>
                  <a:lnTo>
                    <a:pt x="2806694" y="834550"/>
                  </a:lnTo>
                  <a:lnTo>
                    <a:pt x="2844794" y="856362"/>
                  </a:lnTo>
                  <a:lnTo>
                    <a:pt x="2876544" y="878422"/>
                  </a:lnTo>
                  <a:lnTo>
                    <a:pt x="2908294" y="900730"/>
                  </a:lnTo>
                  <a:lnTo>
                    <a:pt x="2940044" y="923280"/>
                  </a:lnTo>
                  <a:lnTo>
                    <a:pt x="2971794" y="946075"/>
                  </a:lnTo>
                  <a:lnTo>
                    <a:pt x="3003543" y="969112"/>
                  </a:lnTo>
                  <a:lnTo>
                    <a:pt x="3035293" y="992390"/>
                  </a:lnTo>
                  <a:lnTo>
                    <a:pt x="3067043" y="1015907"/>
                  </a:lnTo>
                  <a:lnTo>
                    <a:pt x="3098793" y="1039662"/>
                  </a:lnTo>
                  <a:lnTo>
                    <a:pt x="3130543" y="1063654"/>
                  </a:lnTo>
                  <a:lnTo>
                    <a:pt x="3162293" y="1087884"/>
                  </a:lnTo>
                  <a:lnTo>
                    <a:pt x="3194043" y="1112347"/>
                  </a:lnTo>
                  <a:lnTo>
                    <a:pt x="3225793" y="1137042"/>
                  </a:lnTo>
                  <a:lnTo>
                    <a:pt x="3257543" y="1161967"/>
                  </a:lnTo>
                  <a:lnTo>
                    <a:pt x="3289293" y="1187124"/>
                  </a:lnTo>
                  <a:lnTo>
                    <a:pt x="3314693" y="1212512"/>
                  </a:lnTo>
                  <a:lnTo>
                    <a:pt x="3346443" y="1238124"/>
                  </a:lnTo>
                  <a:lnTo>
                    <a:pt x="3378193" y="1263964"/>
                  </a:lnTo>
                  <a:lnTo>
                    <a:pt x="3409943" y="1290029"/>
                  </a:lnTo>
                  <a:lnTo>
                    <a:pt x="3435343" y="1316316"/>
                  </a:lnTo>
                  <a:lnTo>
                    <a:pt x="3467093" y="1342829"/>
                  </a:lnTo>
                  <a:lnTo>
                    <a:pt x="3492492" y="1369559"/>
                  </a:lnTo>
                  <a:lnTo>
                    <a:pt x="3524242" y="1396511"/>
                  </a:lnTo>
                  <a:lnTo>
                    <a:pt x="3549642" y="1423681"/>
                  </a:lnTo>
                  <a:lnTo>
                    <a:pt x="3581392" y="1451069"/>
                  </a:lnTo>
                  <a:lnTo>
                    <a:pt x="3606792" y="1478671"/>
                  </a:lnTo>
                  <a:lnTo>
                    <a:pt x="3638542" y="1506486"/>
                  </a:lnTo>
                  <a:lnTo>
                    <a:pt x="3689342" y="1562758"/>
                  </a:lnTo>
                  <a:lnTo>
                    <a:pt x="3721092" y="1591211"/>
                  </a:lnTo>
                  <a:lnTo>
                    <a:pt x="3771892" y="1648741"/>
                  </a:lnTo>
                  <a:lnTo>
                    <a:pt x="3803642" y="1677816"/>
                  </a:lnTo>
                  <a:lnTo>
                    <a:pt x="3829042" y="1707096"/>
                  </a:lnTo>
                  <a:lnTo>
                    <a:pt x="3905242" y="1796155"/>
                  </a:lnTo>
                  <a:lnTo>
                    <a:pt x="3981441" y="1887013"/>
                  </a:lnTo>
                  <a:lnTo>
                    <a:pt x="4057641" y="1979633"/>
                  </a:lnTo>
                  <a:lnTo>
                    <a:pt x="4076691" y="2010890"/>
                  </a:lnTo>
                  <a:lnTo>
                    <a:pt x="4152891" y="2105805"/>
                  </a:lnTo>
                  <a:lnTo>
                    <a:pt x="4171941" y="2137817"/>
                  </a:lnTo>
                  <a:lnTo>
                    <a:pt x="4171941" y="5143486"/>
                  </a:lnTo>
                  <a:close/>
                </a:path>
              </a:pathLst>
            </a:custGeom>
            <a:solidFill>
              <a:srgbClr val="EF8A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69"/>
            <p:cNvSpPr/>
            <p:nvPr/>
          </p:nvSpPr>
          <p:spPr>
            <a:xfrm>
              <a:off x="4974839" y="1911458"/>
              <a:ext cx="3270250" cy="3232150"/>
            </a:xfrm>
            <a:custGeom>
              <a:rect b="b" l="l" r="r" t="t"/>
              <a:pathLst>
                <a:path extrusionOk="0" h="3232150" w="3270250">
                  <a:moveTo>
                    <a:pt x="3270243" y="3232030"/>
                  </a:moveTo>
                  <a:lnTo>
                    <a:pt x="1816096" y="3232030"/>
                  </a:lnTo>
                  <a:lnTo>
                    <a:pt x="1816096" y="3204081"/>
                  </a:lnTo>
                  <a:lnTo>
                    <a:pt x="1809746" y="3180056"/>
                  </a:lnTo>
                  <a:lnTo>
                    <a:pt x="1809746" y="3108531"/>
                  </a:lnTo>
                  <a:lnTo>
                    <a:pt x="1803396" y="3084856"/>
                  </a:lnTo>
                  <a:lnTo>
                    <a:pt x="1803396" y="3061256"/>
                  </a:lnTo>
                  <a:lnTo>
                    <a:pt x="1797046" y="3037781"/>
                  </a:lnTo>
                  <a:lnTo>
                    <a:pt x="1797046" y="3014381"/>
                  </a:lnTo>
                  <a:lnTo>
                    <a:pt x="1790696" y="2991081"/>
                  </a:lnTo>
                  <a:lnTo>
                    <a:pt x="1790696" y="2967881"/>
                  </a:lnTo>
                  <a:lnTo>
                    <a:pt x="1777996" y="2921756"/>
                  </a:lnTo>
                  <a:lnTo>
                    <a:pt x="1777996" y="2898856"/>
                  </a:lnTo>
                  <a:lnTo>
                    <a:pt x="1708146" y="2654357"/>
                  </a:lnTo>
                  <a:lnTo>
                    <a:pt x="1695446" y="2632857"/>
                  </a:lnTo>
                  <a:lnTo>
                    <a:pt x="1682746" y="2590232"/>
                  </a:lnTo>
                  <a:lnTo>
                    <a:pt x="1670046" y="2569132"/>
                  </a:lnTo>
                  <a:lnTo>
                    <a:pt x="1663696" y="2548157"/>
                  </a:lnTo>
                  <a:lnTo>
                    <a:pt x="1650996" y="2527307"/>
                  </a:lnTo>
                  <a:lnTo>
                    <a:pt x="1644646" y="2506607"/>
                  </a:lnTo>
                  <a:lnTo>
                    <a:pt x="1631946" y="2486057"/>
                  </a:lnTo>
                  <a:lnTo>
                    <a:pt x="1625596" y="2465632"/>
                  </a:lnTo>
                  <a:lnTo>
                    <a:pt x="1612896" y="2445382"/>
                  </a:lnTo>
                  <a:lnTo>
                    <a:pt x="1606546" y="2425257"/>
                  </a:lnTo>
                  <a:lnTo>
                    <a:pt x="1568446" y="2365782"/>
                  </a:lnTo>
                  <a:lnTo>
                    <a:pt x="1555746" y="2346257"/>
                  </a:lnTo>
                  <a:lnTo>
                    <a:pt x="1549396" y="2326907"/>
                  </a:lnTo>
                  <a:lnTo>
                    <a:pt x="1511296" y="2269782"/>
                  </a:lnTo>
                  <a:lnTo>
                    <a:pt x="1473197" y="2214133"/>
                  </a:lnTo>
                  <a:lnTo>
                    <a:pt x="1447797" y="2177883"/>
                  </a:lnTo>
                  <a:lnTo>
                    <a:pt x="1428747" y="2160033"/>
                  </a:lnTo>
                  <a:lnTo>
                    <a:pt x="1403347" y="2124833"/>
                  </a:lnTo>
                  <a:lnTo>
                    <a:pt x="1390647" y="2107508"/>
                  </a:lnTo>
                  <a:lnTo>
                    <a:pt x="1371597" y="2090358"/>
                  </a:lnTo>
                  <a:lnTo>
                    <a:pt x="1346197" y="2056608"/>
                  </a:lnTo>
                  <a:lnTo>
                    <a:pt x="1327147" y="2040033"/>
                  </a:lnTo>
                  <a:lnTo>
                    <a:pt x="1314447" y="2023633"/>
                  </a:lnTo>
                  <a:lnTo>
                    <a:pt x="1295397" y="2007433"/>
                  </a:lnTo>
                  <a:lnTo>
                    <a:pt x="1282697" y="1991408"/>
                  </a:lnTo>
                  <a:lnTo>
                    <a:pt x="1263647" y="1975583"/>
                  </a:lnTo>
                  <a:lnTo>
                    <a:pt x="1250947" y="1959983"/>
                  </a:lnTo>
                  <a:lnTo>
                    <a:pt x="1231897" y="1944558"/>
                  </a:lnTo>
                  <a:lnTo>
                    <a:pt x="1219197" y="1929333"/>
                  </a:lnTo>
                  <a:lnTo>
                    <a:pt x="1200147" y="1914333"/>
                  </a:lnTo>
                  <a:lnTo>
                    <a:pt x="1181097" y="1899508"/>
                  </a:lnTo>
                  <a:lnTo>
                    <a:pt x="1168397" y="1884908"/>
                  </a:lnTo>
                  <a:lnTo>
                    <a:pt x="1149347" y="1870533"/>
                  </a:lnTo>
                  <a:lnTo>
                    <a:pt x="1130297" y="1856333"/>
                  </a:lnTo>
                  <a:lnTo>
                    <a:pt x="1111247" y="1842383"/>
                  </a:lnTo>
                  <a:lnTo>
                    <a:pt x="1098547" y="1828633"/>
                  </a:lnTo>
                  <a:lnTo>
                    <a:pt x="1060447" y="1801783"/>
                  </a:lnTo>
                  <a:lnTo>
                    <a:pt x="1022347" y="1775833"/>
                  </a:lnTo>
                  <a:lnTo>
                    <a:pt x="984248" y="1750758"/>
                  </a:lnTo>
                  <a:lnTo>
                    <a:pt x="946148" y="1726609"/>
                  </a:lnTo>
                  <a:lnTo>
                    <a:pt x="908048" y="1703409"/>
                  </a:lnTo>
                  <a:lnTo>
                    <a:pt x="869948" y="1681159"/>
                  </a:lnTo>
                  <a:lnTo>
                    <a:pt x="825498" y="1659859"/>
                  </a:lnTo>
                  <a:lnTo>
                    <a:pt x="806448" y="1649559"/>
                  </a:lnTo>
                  <a:lnTo>
                    <a:pt x="787398" y="1639534"/>
                  </a:lnTo>
                  <a:lnTo>
                    <a:pt x="768348" y="1629734"/>
                  </a:lnTo>
                  <a:lnTo>
                    <a:pt x="749298" y="1620209"/>
                  </a:lnTo>
                  <a:lnTo>
                    <a:pt x="723898" y="1610934"/>
                  </a:lnTo>
                  <a:lnTo>
                    <a:pt x="704848" y="1601909"/>
                  </a:lnTo>
                  <a:lnTo>
                    <a:pt x="685798" y="1593134"/>
                  </a:lnTo>
                  <a:lnTo>
                    <a:pt x="660398" y="1584609"/>
                  </a:lnTo>
                  <a:lnTo>
                    <a:pt x="641348" y="1576359"/>
                  </a:lnTo>
                  <a:lnTo>
                    <a:pt x="622298" y="1568359"/>
                  </a:lnTo>
                  <a:lnTo>
                    <a:pt x="596898" y="1560634"/>
                  </a:lnTo>
                  <a:lnTo>
                    <a:pt x="577848" y="1553184"/>
                  </a:lnTo>
                  <a:lnTo>
                    <a:pt x="552448" y="1545984"/>
                  </a:lnTo>
                  <a:lnTo>
                    <a:pt x="533398" y="1539084"/>
                  </a:lnTo>
                  <a:lnTo>
                    <a:pt x="507998" y="1532434"/>
                  </a:lnTo>
                  <a:lnTo>
                    <a:pt x="488949" y="1526059"/>
                  </a:lnTo>
                  <a:lnTo>
                    <a:pt x="463549" y="1519959"/>
                  </a:lnTo>
                  <a:lnTo>
                    <a:pt x="444499" y="1514134"/>
                  </a:lnTo>
                  <a:lnTo>
                    <a:pt x="419099" y="1508609"/>
                  </a:lnTo>
                  <a:lnTo>
                    <a:pt x="400049" y="1503334"/>
                  </a:lnTo>
                  <a:lnTo>
                    <a:pt x="374649" y="1498359"/>
                  </a:lnTo>
                  <a:lnTo>
                    <a:pt x="349249" y="1493684"/>
                  </a:lnTo>
                  <a:lnTo>
                    <a:pt x="330199" y="1489284"/>
                  </a:lnTo>
                  <a:lnTo>
                    <a:pt x="304799" y="1485184"/>
                  </a:lnTo>
                  <a:lnTo>
                    <a:pt x="285749" y="1481359"/>
                  </a:lnTo>
                  <a:lnTo>
                    <a:pt x="260349" y="1477834"/>
                  </a:lnTo>
                  <a:lnTo>
                    <a:pt x="234949" y="1474609"/>
                  </a:lnTo>
                  <a:lnTo>
                    <a:pt x="209549" y="1471684"/>
                  </a:lnTo>
                  <a:lnTo>
                    <a:pt x="190499" y="1469059"/>
                  </a:lnTo>
                  <a:lnTo>
                    <a:pt x="165099" y="1466734"/>
                  </a:lnTo>
                  <a:lnTo>
                    <a:pt x="139699" y="1464709"/>
                  </a:lnTo>
                  <a:lnTo>
                    <a:pt x="120649" y="1462984"/>
                  </a:lnTo>
                  <a:lnTo>
                    <a:pt x="69849" y="1460484"/>
                  </a:lnTo>
                  <a:lnTo>
                    <a:pt x="19049" y="1459234"/>
                  </a:lnTo>
                  <a:lnTo>
                    <a:pt x="0" y="1459059"/>
                  </a:lnTo>
                  <a:lnTo>
                    <a:pt x="0" y="0"/>
                  </a:lnTo>
                  <a:lnTo>
                    <a:pt x="50799" y="437"/>
                  </a:lnTo>
                  <a:lnTo>
                    <a:pt x="107949" y="1749"/>
                  </a:lnTo>
                  <a:lnTo>
                    <a:pt x="158749" y="3929"/>
                  </a:lnTo>
                  <a:lnTo>
                    <a:pt x="209549" y="6967"/>
                  </a:lnTo>
                  <a:lnTo>
                    <a:pt x="241299" y="8807"/>
                  </a:lnTo>
                  <a:lnTo>
                    <a:pt x="266699" y="10859"/>
                  </a:lnTo>
                  <a:lnTo>
                    <a:pt x="292099" y="13124"/>
                  </a:lnTo>
                  <a:lnTo>
                    <a:pt x="317499" y="15599"/>
                  </a:lnTo>
                  <a:lnTo>
                    <a:pt x="342899" y="18284"/>
                  </a:lnTo>
                  <a:lnTo>
                    <a:pt x="374649" y="21177"/>
                  </a:lnTo>
                  <a:lnTo>
                    <a:pt x="425449" y="27589"/>
                  </a:lnTo>
                  <a:lnTo>
                    <a:pt x="476249" y="34827"/>
                  </a:lnTo>
                  <a:lnTo>
                    <a:pt x="527048" y="42882"/>
                  </a:lnTo>
                  <a:lnTo>
                    <a:pt x="577848" y="51752"/>
                  </a:lnTo>
                  <a:lnTo>
                    <a:pt x="603248" y="56489"/>
                  </a:lnTo>
                  <a:lnTo>
                    <a:pt x="634998" y="61429"/>
                  </a:lnTo>
                  <a:lnTo>
                    <a:pt x="685798" y="71904"/>
                  </a:lnTo>
                  <a:lnTo>
                    <a:pt x="736598" y="83172"/>
                  </a:lnTo>
                  <a:lnTo>
                    <a:pt x="787398" y="95224"/>
                  </a:lnTo>
                  <a:lnTo>
                    <a:pt x="831848" y="108057"/>
                  </a:lnTo>
                  <a:lnTo>
                    <a:pt x="857248" y="114762"/>
                  </a:lnTo>
                  <a:lnTo>
                    <a:pt x="908048" y="128752"/>
                  </a:lnTo>
                  <a:lnTo>
                    <a:pt x="958848" y="143502"/>
                  </a:lnTo>
                  <a:lnTo>
                    <a:pt x="1009647" y="159007"/>
                  </a:lnTo>
                  <a:lnTo>
                    <a:pt x="1054097" y="175262"/>
                  </a:lnTo>
                  <a:lnTo>
                    <a:pt x="1079497" y="183667"/>
                  </a:lnTo>
                  <a:lnTo>
                    <a:pt x="1104897" y="192257"/>
                  </a:lnTo>
                  <a:lnTo>
                    <a:pt x="1130297" y="201032"/>
                  </a:lnTo>
                  <a:lnTo>
                    <a:pt x="1155697" y="209989"/>
                  </a:lnTo>
                  <a:lnTo>
                    <a:pt x="1174747" y="219127"/>
                  </a:lnTo>
                  <a:lnTo>
                    <a:pt x="1200147" y="228447"/>
                  </a:lnTo>
                  <a:lnTo>
                    <a:pt x="1225547" y="237949"/>
                  </a:lnTo>
                  <a:lnTo>
                    <a:pt x="1250947" y="247629"/>
                  </a:lnTo>
                  <a:lnTo>
                    <a:pt x="1269997" y="257489"/>
                  </a:lnTo>
                  <a:lnTo>
                    <a:pt x="1295397" y="267524"/>
                  </a:lnTo>
                  <a:lnTo>
                    <a:pt x="1320797" y="277739"/>
                  </a:lnTo>
                  <a:lnTo>
                    <a:pt x="1339847" y="288129"/>
                  </a:lnTo>
                  <a:lnTo>
                    <a:pt x="1365247" y="298694"/>
                  </a:lnTo>
                  <a:lnTo>
                    <a:pt x="1390647" y="309434"/>
                  </a:lnTo>
                  <a:lnTo>
                    <a:pt x="1409697" y="320349"/>
                  </a:lnTo>
                  <a:lnTo>
                    <a:pt x="1435097" y="331436"/>
                  </a:lnTo>
                  <a:lnTo>
                    <a:pt x="1460497" y="342694"/>
                  </a:lnTo>
                  <a:lnTo>
                    <a:pt x="1479547" y="354124"/>
                  </a:lnTo>
                  <a:lnTo>
                    <a:pt x="1504946" y="365724"/>
                  </a:lnTo>
                  <a:lnTo>
                    <a:pt x="1523996" y="377494"/>
                  </a:lnTo>
                  <a:lnTo>
                    <a:pt x="1549396" y="389431"/>
                  </a:lnTo>
                  <a:lnTo>
                    <a:pt x="1568446" y="401536"/>
                  </a:lnTo>
                  <a:lnTo>
                    <a:pt x="1593846" y="413811"/>
                  </a:lnTo>
                  <a:lnTo>
                    <a:pt x="1612896" y="426249"/>
                  </a:lnTo>
                  <a:lnTo>
                    <a:pt x="1638296" y="438854"/>
                  </a:lnTo>
                  <a:lnTo>
                    <a:pt x="1657346" y="451621"/>
                  </a:lnTo>
                  <a:lnTo>
                    <a:pt x="1682746" y="464554"/>
                  </a:lnTo>
                  <a:lnTo>
                    <a:pt x="1701796" y="477649"/>
                  </a:lnTo>
                  <a:lnTo>
                    <a:pt x="1720846" y="490906"/>
                  </a:lnTo>
                  <a:lnTo>
                    <a:pt x="1746246" y="504323"/>
                  </a:lnTo>
                  <a:lnTo>
                    <a:pt x="1765296" y="517901"/>
                  </a:lnTo>
                  <a:lnTo>
                    <a:pt x="1784346" y="531638"/>
                  </a:lnTo>
                  <a:lnTo>
                    <a:pt x="1809746" y="545533"/>
                  </a:lnTo>
                  <a:lnTo>
                    <a:pt x="1828796" y="559586"/>
                  </a:lnTo>
                  <a:lnTo>
                    <a:pt x="1847846" y="573796"/>
                  </a:lnTo>
                  <a:lnTo>
                    <a:pt x="1873246" y="588163"/>
                  </a:lnTo>
                  <a:lnTo>
                    <a:pt x="1892296" y="602686"/>
                  </a:lnTo>
                  <a:lnTo>
                    <a:pt x="1911346" y="617361"/>
                  </a:lnTo>
                  <a:lnTo>
                    <a:pt x="1930396" y="632186"/>
                  </a:lnTo>
                  <a:lnTo>
                    <a:pt x="1949446" y="647161"/>
                  </a:lnTo>
                  <a:lnTo>
                    <a:pt x="1974846" y="662311"/>
                  </a:lnTo>
                  <a:lnTo>
                    <a:pt x="2012945" y="693011"/>
                  </a:lnTo>
                  <a:lnTo>
                    <a:pt x="2051045" y="724336"/>
                  </a:lnTo>
                  <a:lnTo>
                    <a:pt x="2089145" y="756235"/>
                  </a:lnTo>
                  <a:lnTo>
                    <a:pt x="2127245" y="788735"/>
                  </a:lnTo>
                  <a:lnTo>
                    <a:pt x="2184395" y="838535"/>
                  </a:lnTo>
                  <a:lnTo>
                    <a:pt x="2222495" y="872460"/>
                  </a:lnTo>
                  <a:lnTo>
                    <a:pt x="2260595" y="906935"/>
                  </a:lnTo>
                  <a:lnTo>
                    <a:pt x="2298695" y="941960"/>
                  </a:lnTo>
                  <a:lnTo>
                    <a:pt x="2311395" y="959685"/>
                  </a:lnTo>
                  <a:lnTo>
                    <a:pt x="2330445" y="977535"/>
                  </a:lnTo>
                  <a:lnTo>
                    <a:pt x="2368545" y="1013660"/>
                  </a:lnTo>
                  <a:lnTo>
                    <a:pt x="2381245" y="1031910"/>
                  </a:lnTo>
                  <a:lnTo>
                    <a:pt x="2419345" y="1068835"/>
                  </a:lnTo>
                  <a:lnTo>
                    <a:pt x="2432045" y="1087485"/>
                  </a:lnTo>
                  <a:lnTo>
                    <a:pt x="2470145" y="1125185"/>
                  </a:lnTo>
                  <a:lnTo>
                    <a:pt x="2482844" y="1144210"/>
                  </a:lnTo>
                  <a:lnTo>
                    <a:pt x="2501894" y="1163385"/>
                  </a:lnTo>
                  <a:lnTo>
                    <a:pt x="2514594" y="1182685"/>
                  </a:lnTo>
                  <a:lnTo>
                    <a:pt x="2533644" y="1202085"/>
                  </a:lnTo>
                  <a:lnTo>
                    <a:pt x="2546344" y="1221635"/>
                  </a:lnTo>
                  <a:lnTo>
                    <a:pt x="2565394" y="1241309"/>
                  </a:lnTo>
                  <a:lnTo>
                    <a:pt x="2578094" y="1261109"/>
                  </a:lnTo>
                  <a:lnTo>
                    <a:pt x="2597144" y="1281009"/>
                  </a:lnTo>
                  <a:lnTo>
                    <a:pt x="2609844" y="1301034"/>
                  </a:lnTo>
                  <a:lnTo>
                    <a:pt x="2628894" y="1321209"/>
                  </a:lnTo>
                  <a:lnTo>
                    <a:pt x="2654294" y="1361859"/>
                  </a:lnTo>
                  <a:lnTo>
                    <a:pt x="2673344" y="1382384"/>
                  </a:lnTo>
                  <a:lnTo>
                    <a:pt x="2711444" y="1444609"/>
                  </a:lnTo>
                  <a:lnTo>
                    <a:pt x="2768594" y="1529184"/>
                  </a:lnTo>
                  <a:lnTo>
                    <a:pt x="2844794" y="1659384"/>
                  </a:lnTo>
                  <a:lnTo>
                    <a:pt x="2933694" y="1816083"/>
                  </a:lnTo>
                  <a:lnTo>
                    <a:pt x="2940044" y="1838883"/>
                  </a:lnTo>
                  <a:lnTo>
                    <a:pt x="2978144" y="1907858"/>
                  </a:lnTo>
                  <a:lnTo>
                    <a:pt x="2984493" y="1931058"/>
                  </a:lnTo>
                  <a:lnTo>
                    <a:pt x="2997193" y="1954333"/>
                  </a:lnTo>
                  <a:lnTo>
                    <a:pt x="3003543" y="1977708"/>
                  </a:lnTo>
                  <a:lnTo>
                    <a:pt x="3028943" y="2024758"/>
                  </a:lnTo>
                  <a:lnTo>
                    <a:pt x="3035293" y="2048408"/>
                  </a:lnTo>
                  <a:lnTo>
                    <a:pt x="3047993" y="2072158"/>
                  </a:lnTo>
                  <a:lnTo>
                    <a:pt x="3060693" y="2119933"/>
                  </a:lnTo>
                  <a:lnTo>
                    <a:pt x="3073393" y="2143958"/>
                  </a:lnTo>
                  <a:lnTo>
                    <a:pt x="3079743" y="2168083"/>
                  </a:lnTo>
                  <a:lnTo>
                    <a:pt x="3092443" y="2192283"/>
                  </a:lnTo>
                  <a:lnTo>
                    <a:pt x="3105143" y="2240932"/>
                  </a:lnTo>
                  <a:lnTo>
                    <a:pt x="3117843" y="2265382"/>
                  </a:lnTo>
                  <a:lnTo>
                    <a:pt x="3155943" y="2413857"/>
                  </a:lnTo>
                  <a:lnTo>
                    <a:pt x="3168643" y="2438882"/>
                  </a:lnTo>
                  <a:lnTo>
                    <a:pt x="3187693" y="2514457"/>
                  </a:lnTo>
                  <a:lnTo>
                    <a:pt x="3187693" y="2539782"/>
                  </a:lnTo>
                  <a:lnTo>
                    <a:pt x="3219443" y="2667582"/>
                  </a:lnTo>
                  <a:lnTo>
                    <a:pt x="3219443" y="2693357"/>
                  </a:lnTo>
                  <a:lnTo>
                    <a:pt x="3232143" y="2745106"/>
                  </a:lnTo>
                  <a:lnTo>
                    <a:pt x="3232143" y="2771081"/>
                  </a:lnTo>
                  <a:lnTo>
                    <a:pt x="3244843" y="2823256"/>
                  </a:lnTo>
                  <a:lnTo>
                    <a:pt x="3244843" y="2849431"/>
                  </a:lnTo>
                  <a:lnTo>
                    <a:pt x="3251193" y="2875681"/>
                  </a:lnTo>
                  <a:lnTo>
                    <a:pt x="3251193" y="2901981"/>
                  </a:lnTo>
                  <a:lnTo>
                    <a:pt x="3257543" y="2928356"/>
                  </a:lnTo>
                  <a:lnTo>
                    <a:pt x="3257543" y="2981306"/>
                  </a:lnTo>
                  <a:lnTo>
                    <a:pt x="3263893" y="3007856"/>
                  </a:lnTo>
                  <a:lnTo>
                    <a:pt x="3263893" y="3061156"/>
                  </a:lnTo>
                  <a:lnTo>
                    <a:pt x="3270243" y="3087881"/>
                  </a:lnTo>
                  <a:lnTo>
                    <a:pt x="3270243" y="3232030"/>
                  </a:lnTo>
                  <a:close/>
                </a:path>
              </a:pathLst>
            </a:custGeom>
            <a:solidFill>
              <a:srgbClr val="FFDD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45" name="Google Shape;645;p69"/>
          <p:cNvSpPr txBox="1"/>
          <p:nvPr>
            <p:ph type="title"/>
          </p:nvPr>
        </p:nvSpPr>
        <p:spPr>
          <a:xfrm>
            <a:off x="507998" y="1201115"/>
            <a:ext cx="33222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262626"/>
                </a:solidFill>
              </a:rPr>
              <a:t>Thank you</a:t>
            </a:r>
            <a:endParaRPr sz="4800"/>
          </a:p>
        </p:txBody>
      </p:sp>
      <p:sp>
        <p:nvSpPr>
          <p:cNvPr id="646" name="Google Shape;646;p69"/>
          <p:cNvSpPr/>
          <p:nvPr/>
        </p:nvSpPr>
        <p:spPr>
          <a:xfrm>
            <a:off x="0" y="2"/>
            <a:ext cx="843000" cy="819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1" name="Google Shape;651;p70"/>
          <p:cNvGrpSpPr/>
          <p:nvPr/>
        </p:nvGrpSpPr>
        <p:grpSpPr>
          <a:xfrm>
            <a:off x="0" y="0"/>
            <a:ext cx="3576638" cy="5143510"/>
            <a:chOff x="0" y="0"/>
            <a:chExt cx="7153275" cy="10287019"/>
          </a:xfrm>
        </p:grpSpPr>
        <p:sp>
          <p:nvSpPr>
            <p:cNvPr id="652" name="Google Shape;652;p70"/>
            <p:cNvSpPr/>
            <p:nvPr/>
          </p:nvSpPr>
          <p:spPr>
            <a:xfrm>
              <a:off x="0" y="0"/>
              <a:ext cx="7153275" cy="10287000"/>
            </a:xfrm>
            <a:custGeom>
              <a:rect b="b" l="l" r="r" t="t"/>
              <a:pathLst>
                <a:path extrusionOk="0" h="10287000" w="7153275">
                  <a:moveTo>
                    <a:pt x="715327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7153275" y="0"/>
                  </a:lnTo>
                  <a:lnTo>
                    <a:pt x="7153275" y="1028700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70"/>
            <p:cNvSpPr/>
            <p:nvPr/>
          </p:nvSpPr>
          <p:spPr>
            <a:xfrm>
              <a:off x="0" y="7698760"/>
              <a:ext cx="2552700" cy="2588259"/>
            </a:xfrm>
            <a:custGeom>
              <a:rect b="b" l="l" r="r" t="t"/>
              <a:pathLst>
                <a:path extrusionOk="0" h="2588259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2588239"/>
                  </a:lnTo>
                  <a:lnTo>
                    <a:pt x="0" y="2588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70"/>
            <p:cNvSpPr/>
            <p:nvPr/>
          </p:nvSpPr>
          <p:spPr>
            <a:xfrm>
              <a:off x="3519251" y="1415372"/>
              <a:ext cx="2463165" cy="2463165"/>
            </a:xfrm>
            <a:custGeom>
              <a:rect b="b" l="l" r="r" t="t"/>
              <a:pathLst>
                <a:path extrusionOk="0" h="2463165" w="2463165">
                  <a:moveTo>
                    <a:pt x="1231315" y="2462631"/>
                  </a:moveTo>
                  <a:lnTo>
                    <a:pt x="1185996" y="2461798"/>
                  </a:lnTo>
                  <a:lnTo>
                    <a:pt x="1140734" y="2459294"/>
                  </a:lnTo>
                  <a:lnTo>
                    <a:pt x="1095597" y="2455128"/>
                  </a:lnTo>
                  <a:lnTo>
                    <a:pt x="1050642" y="2449303"/>
                  </a:lnTo>
                  <a:lnTo>
                    <a:pt x="1005935" y="2441827"/>
                  </a:lnTo>
                  <a:lnTo>
                    <a:pt x="961533" y="2432713"/>
                  </a:lnTo>
                  <a:lnTo>
                    <a:pt x="917494" y="2421970"/>
                  </a:lnTo>
                  <a:lnTo>
                    <a:pt x="873884" y="2409611"/>
                  </a:lnTo>
                  <a:lnTo>
                    <a:pt x="830758" y="2395656"/>
                  </a:lnTo>
                  <a:lnTo>
                    <a:pt x="788170" y="2380126"/>
                  </a:lnTo>
                  <a:lnTo>
                    <a:pt x="746185" y="2363035"/>
                  </a:lnTo>
                  <a:lnTo>
                    <a:pt x="704859" y="2344410"/>
                  </a:lnTo>
                  <a:lnTo>
                    <a:pt x="664248" y="2324280"/>
                  </a:lnTo>
                  <a:lnTo>
                    <a:pt x="624402" y="2302667"/>
                  </a:lnTo>
                  <a:lnTo>
                    <a:pt x="585378" y="2279602"/>
                  </a:lnTo>
                  <a:lnTo>
                    <a:pt x="547231" y="2255115"/>
                  </a:lnTo>
                  <a:lnTo>
                    <a:pt x="510013" y="2229244"/>
                  </a:lnTo>
                  <a:lnTo>
                    <a:pt x="473771" y="2202019"/>
                  </a:lnTo>
                  <a:lnTo>
                    <a:pt x="438554" y="2173478"/>
                  </a:lnTo>
                  <a:lnTo>
                    <a:pt x="404414" y="2143661"/>
                  </a:lnTo>
                  <a:lnTo>
                    <a:pt x="371394" y="2112608"/>
                  </a:lnTo>
                  <a:lnTo>
                    <a:pt x="339538" y="2080358"/>
                  </a:lnTo>
                  <a:lnTo>
                    <a:pt x="308891" y="2046958"/>
                  </a:lnTo>
                  <a:lnTo>
                    <a:pt x="279495" y="2012452"/>
                  </a:lnTo>
                  <a:lnTo>
                    <a:pt x="251389" y="1976892"/>
                  </a:lnTo>
                  <a:lnTo>
                    <a:pt x="224610" y="1940317"/>
                  </a:lnTo>
                  <a:lnTo>
                    <a:pt x="199195" y="1902783"/>
                  </a:lnTo>
                  <a:lnTo>
                    <a:pt x="175180" y="1864340"/>
                  </a:lnTo>
                  <a:lnTo>
                    <a:pt x="152597" y="1825035"/>
                  </a:lnTo>
                  <a:lnTo>
                    <a:pt x="131474" y="1784928"/>
                  </a:lnTo>
                  <a:lnTo>
                    <a:pt x="111842" y="1744071"/>
                  </a:lnTo>
                  <a:lnTo>
                    <a:pt x="93728" y="1702520"/>
                  </a:lnTo>
                  <a:lnTo>
                    <a:pt x="77155" y="1660330"/>
                  </a:lnTo>
                  <a:lnTo>
                    <a:pt x="62146" y="1617555"/>
                  </a:lnTo>
                  <a:lnTo>
                    <a:pt x="48722" y="1574260"/>
                  </a:lnTo>
                  <a:lnTo>
                    <a:pt x="36901" y="1530500"/>
                  </a:lnTo>
                  <a:lnTo>
                    <a:pt x="26698" y="1486336"/>
                  </a:lnTo>
                  <a:lnTo>
                    <a:pt x="18127" y="1441825"/>
                  </a:lnTo>
                  <a:lnTo>
                    <a:pt x="11201" y="1397025"/>
                  </a:lnTo>
                  <a:lnTo>
                    <a:pt x="5929" y="1352004"/>
                  </a:lnTo>
                  <a:lnTo>
                    <a:pt x="2317" y="1306821"/>
                  </a:lnTo>
                  <a:lnTo>
                    <a:pt x="370" y="1261532"/>
                  </a:lnTo>
                  <a:lnTo>
                    <a:pt x="0" y="1231315"/>
                  </a:lnTo>
                  <a:lnTo>
                    <a:pt x="92" y="1216205"/>
                  </a:lnTo>
                  <a:lnTo>
                    <a:pt x="1483" y="1170897"/>
                  </a:lnTo>
                  <a:lnTo>
                    <a:pt x="4540" y="1125673"/>
                  </a:lnTo>
                  <a:lnTo>
                    <a:pt x="9260" y="1080590"/>
                  </a:lnTo>
                  <a:lnTo>
                    <a:pt x="15636" y="1035708"/>
                  </a:lnTo>
                  <a:lnTo>
                    <a:pt x="23659" y="991095"/>
                  </a:lnTo>
                  <a:lnTo>
                    <a:pt x="33319" y="946812"/>
                  </a:lnTo>
                  <a:lnTo>
                    <a:pt x="44603" y="902907"/>
                  </a:lnTo>
                  <a:lnTo>
                    <a:pt x="57495" y="859451"/>
                  </a:lnTo>
                  <a:lnTo>
                    <a:pt x="71977" y="816500"/>
                  </a:lnTo>
                  <a:lnTo>
                    <a:pt x="88031" y="774107"/>
                  </a:lnTo>
                  <a:lnTo>
                    <a:pt x="105634" y="732335"/>
                  </a:lnTo>
                  <a:lnTo>
                    <a:pt x="124764" y="691239"/>
                  </a:lnTo>
                  <a:lnTo>
                    <a:pt x="145392" y="650878"/>
                  </a:lnTo>
                  <a:lnTo>
                    <a:pt x="167491" y="611301"/>
                  </a:lnTo>
                  <a:lnTo>
                    <a:pt x="191034" y="572563"/>
                  </a:lnTo>
                  <a:lnTo>
                    <a:pt x="215986" y="534720"/>
                  </a:lnTo>
                  <a:lnTo>
                    <a:pt x="242313" y="497820"/>
                  </a:lnTo>
                  <a:lnTo>
                    <a:pt x="269981" y="461917"/>
                  </a:lnTo>
                  <a:lnTo>
                    <a:pt x="298952" y="427053"/>
                  </a:lnTo>
                  <a:lnTo>
                    <a:pt x="329187" y="393280"/>
                  </a:lnTo>
                  <a:lnTo>
                    <a:pt x="360644" y="360644"/>
                  </a:lnTo>
                  <a:lnTo>
                    <a:pt x="393280" y="329187"/>
                  </a:lnTo>
                  <a:lnTo>
                    <a:pt x="427053" y="298952"/>
                  </a:lnTo>
                  <a:lnTo>
                    <a:pt x="461917" y="269981"/>
                  </a:lnTo>
                  <a:lnTo>
                    <a:pt x="497820" y="242313"/>
                  </a:lnTo>
                  <a:lnTo>
                    <a:pt x="534720" y="215986"/>
                  </a:lnTo>
                  <a:lnTo>
                    <a:pt x="572563" y="191034"/>
                  </a:lnTo>
                  <a:lnTo>
                    <a:pt x="611301" y="167491"/>
                  </a:lnTo>
                  <a:lnTo>
                    <a:pt x="650878" y="145392"/>
                  </a:lnTo>
                  <a:lnTo>
                    <a:pt x="691239" y="124764"/>
                  </a:lnTo>
                  <a:lnTo>
                    <a:pt x="732335" y="105634"/>
                  </a:lnTo>
                  <a:lnTo>
                    <a:pt x="774107" y="88031"/>
                  </a:lnTo>
                  <a:lnTo>
                    <a:pt x="816500" y="71977"/>
                  </a:lnTo>
                  <a:lnTo>
                    <a:pt x="859451" y="57495"/>
                  </a:lnTo>
                  <a:lnTo>
                    <a:pt x="902907" y="44603"/>
                  </a:lnTo>
                  <a:lnTo>
                    <a:pt x="946812" y="33319"/>
                  </a:lnTo>
                  <a:lnTo>
                    <a:pt x="991095" y="23659"/>
                  </a:lnTo>
                  <a:lnTo>
                    <a:pt x="1035708" y="15636"/>
                  </a:lnTo>
                  <a:lnTo>
                    <a:pt x="1080590" y="9260"/>
                  </a:lnTo>
                  <a:lnTo>
                    <a:pt x="1125673" y="4540"/>
                  </a:lnTo>
                  <a:lnTo>
                    <a:pt x="1170897" y="1483"/>
                  </a:lnTo>
                  <a:lnTo>
                    <a:pt x="1216205" y="92"/>
                  </a:lnTo>
                  <a:lnTo>
                    <a:pt x="1231315" y="0"/>
                  </a:lnTo>
                  <a:lnTo>
                    <a:pt x="1246425" y="92"/>
                  </a:lnTo>
                  <a:lnTo>
                    <a:pt x="1291734" y="1483"/>
                  </a:lnTo>
                  <a:lnTo>
                    <a:pt x="1336958" y="4540"/>
                  </a:lnTo>
                  <a:lnTo>
                    <a:pt x="1382041" y="9260"/>
                  </a:lnTo>
                  <a:lnTo>
                    <a:pt x="1426922" y="15636"/>
                  </a:lnTo>
                  <a:lnTo>
                    <a:pt x="1471535" y="23659"/>
                  </a:lnTo>
                  <a:lnTo>
                    <a:pt x="1515819" y="33319"/>
                  </a:lnTo>
                  <a:lnTo>
                    <a:pt x="1559723" y="44603"/>
                  </a:lnTo>
                  <a:lnTo>
                    <a:pt x="1603180" y="57495"/>
                  </a:lnTo>
                  <a:lnTo>
                    <a:pt x="1646131" y="71977"/>
                  </a:lnTo>
                  <a:lnTo>
                    <a:pt x="1688524" y="88031"/>
                  </a:lnTo>
                  <a:lnTo>
                    <a:pt x="1730296" y="105634"/>
                  </a:lnTo>
                  <a:lnTo>
                    <a:pt x="1771391" y="124764"/>
                  </a:lnTo>
                  <a:lnTo>
                    <a:pt x="1811753" y="145392"/>
                  </a:lnTo>
                  <a:lnTo>
                    <a:pt x="1851329" y="167491"/>
                  </a:lnTo>
                  <a:lnTo>
                    <a:pt x="1890067" y="191034"/>
                  </a:lnTo>
                  <a:lnTo>
                    <a:pt x="1927911" y="215986"/>
                  </a:lnTo>
                  <a:lnTo>
                    <a:pt x="1964810" y="242313"/>
                  </a:lnTo>
                  <a:lnTo>
                    <a:pt x="2000714" y="269981"/>
                  </a:lnTo>
                  <a:lnTo>
                    <a:pt x="2035577" y="298952"/>
                  </a:lnTo>
                  <a:lnTo>
                    <a:pt x="2069351" y="329187"/>
                  </a:lnTo>
                  <a:lnTo>
                    <a:pt x="2101989" y="360644"/>
                  </a:lnTo>
                  <a:lnTo>
                    <a:pt x="2133444" y="393280"/>
                  </a:lnTo>
                  <a:lnTo>
                    <a:pt x="2163678" y="427053"/>
                  </a:lnTo>
                  <a:lnTo>
                    <a:pt x="2192651" y="461917"/>
                  </a:lnTo>
                  <a:lnTo>
                    <a:pt x="2220318" y="497820"/>
                  </a:lnTo>
                  <a:lnTo>
                    <a:pt x="2246643" y="534720"/>
                  </a:lnTo>
                  <a:lnTo>
                    <a:pt x="2271596" y="572563"/>
                  </a:lnTo>
                  <a:lnTo>
                    <a:pt x="2295138" y="611301"/>
                  </a:lnTo>
                  <a:lnTo>
                    <a:pt x="2317237" y="650878"/>
                  </a:lnTo>
                  <a:lnTo>
                    <a:pt x="2337866" y="691239"/>
                  </a:lnTo>
                  <a:lnTo>
                    <a:pt x="2356997" y="732335"/>
                  </a:lnTo>
                  <a:lnTo>
                    <a:pt x="2374599" y="774107"/>
                  </a:lnTo>
                  <a:lnTo>
                    <a:pt x="2390653" y="816500"/>
                  </a:lnTo>
                  <a:lnTo>
                    <a:pt x="2405135" y="859451"/>
                  </a:lnTo>
                  <a:lnTo>
                    <a:pt x="2418029" y="902907"/>
                  </a:lnTo>
                  <a:lnTo>
                    <a:pt x="2429312" y="946812"/>
                  </a:lnTo>
                  <a:lnTo>
                    <a:pt x="2438970" y="991095"/>
                  </a:lnTo>
                  <a:lnTo>
                    <a:pt x="2446995" y="1035708"/>
                  </a:lnTo>
                  <a:lnTo>
                    <a:pt x="2453370" y="1080590"/>
                  </a:lnTo>
                  <a:lnTo>
                    <a:pt x="2458090" y="1125673"/>
                  </a:lnTo>
                  <a:lnTo>
                    <a:pt x="2461149" y="1170897"/>
                  </a:lnTo>
                  <a:lnTo>
                    <a:pt x="2462539" y="1216205"/>
                  </a:lnTo>
                  <a:lnTo>
                    <a:pt x="2462631" y="1231315"/>
                  </a:lnTo>
                  <a:lnTo>
                    <a:pt x="2462539" y="1246425"/>
                  </a:lnTo>
                  <a:lnTo>
                    <a:pt x="2461149" y="1291734"/>
                  </a:lnTo>
                  <a:lnTo>
                    <a:pt x="2458090" y="1336958"/>
                  </a:lnTo>
                  <a:lnTo>
                    <a:pt x="2453370" y="1382041"/>
                  </a:lnTo>
                  <a:lnTo>
                    <a:pt x="2446995" y="1426922"/>
                  </a:lnTo>
                  <a:lnTo>
                    <a:pt x="2438970" y="1471535"/>
                  </a:lnTo>
                  <a:lnTo>
                    <a:pt x="2429312" y="1515819"/>
                  </a:lnTo>
                  <a:lnTo>
                    <a:pt x="2418029" y="1559723"/>
                  </a:lnTo>
                  <a:lnTo>
                    <a:pt x="2405135" y="1603180"/>
                  </a:lnTo>
                  <a:lnTo>
                    <a:pt x="2390653" y="1646131"/>
                  </a:lnTo>
                  <a:lnTo>
                    <a:pt x="2374601" y="1688524"/>
                  </a:lnTo>
                  <a:lnTo>
                    <a:pt x="2356997" y="1730296"/>
                  </a:lnTo>
                  <a:lnTo>
                    <a:pt x="2337866" y="1771391"/>
                  </a:lnTo>
                  <a:lnTo>
                    <a:pt x="2317237" y="1811753"/>
                  </a:lnTo>
                  <a:lnTo>
                    <a:pt x="2295138" y="1851329"/>
                  </a:lnTo>
                  <a:lnTo>
                    <a:pt x="2271596" y="1890067"/>
                  </a:lnTo>
                  <a:lnTo>
                    <a:pt x="2246643" y="1927911"/>
                  </a:lnTo>
                  <a:lnTo>
                    <a:pt x="2220318" y="1964810"/>
                  </a:lnTo>
                  <a:lnTo>
                    <a:pt x="2192651" y="2000714"/>
                  </a:lnTo>
                  <a:lnTo>
                    <a:pt x="2163678" y="2035577"/>
                  </a:lnTo>
                  <a:lnTo>
                    <a:pt x="2133444" y="2069351"/>
                  </a:lnTo>
                  <a:lnTo>
                    <a:pt x="2101989" y="2101989"/>
                  </a:lnTo>
                  <a:lnTo>
                    <a:pt x="2069351" y="2133444"/>
                  </a:lnTo>
                  <a:lnTo>
                    <a:pt x="2035577" y="2163678"/>
                  </a:lnTo>
                  <a:lnTo>
                    <a:pt x="2000714" y="2192651"/>
                  </a:lnTo>
                  <a:lnTo>
                    <a:pt x="1964810" y="2220318"/>
                  </a:lnTo>
                  <a:lnTo>
                    <a:pt x="1927911" y="2246643"/>
                  </a:lnTo>
                  <a:lnTo>
                    <a:pt x="1890067" y="2271596"/>
                  </a:lnTo>
                  <a:lnTo>
                    <a:pt x="1851329" y="2295138"/>
                  </a:lnTo>
                  <a:lnTo>
                    <a:pt x="1811753" y="2317237"/>
                  </a:lnTo>
                  <a:lnTo>
                    <a:pt x="1771391" y="2337866"/>
                  </a:lnTo>
                  <a:lnTo>
                    <a:pt x="1730296" y="2356997"/>
                  </a:lnTo>
                  <a:lnTo>
                    <a:pt x="1688524" y="2374599"/>
                  </a:lnTo>
                  <a:lnTo>
                    <a:pt x="1646131" y="2390653"/>
                  </a:lnTo>
                  <a:lnTo>
                    <a:pt x="1603180" y="2405135"/>
                  </a:lnTo>
                  <a:lnTo>
                    <a:pt x="1559723" y="2418029"/>
                  </a:lnTo>
                  <a:lnTo>
                    <a:pt x="1515819" y="2429312"/>
                  </a:lnTo>
                  <a:lnTo>
                    <a:pt x="1471535" y="2438970"/>
                  </a:lnTo>
                  <a:lnTo>
                    <a:pt x="1426922" y="2446995"/>
                  </a:lnTo>
                  <a:lnTo>
                    <a:pt x="1382041" y="2453370"/>
                  </a:lnTo>
                  <a:lnTo>
                    <a:pt x="1336958" y="2458090"/>
                  </a:lnTo>
                  <a:lnTo>
                    <a:pt x="1291734" y="2461149"/>
                  </a:lnTo>
                  <a:lnTo>
                    <a:pt x="1246425" y="2462539"/>
                  </a:lnTo>
                  <a:lnTo>
                    <a:pt x="1231315" y="2462631"/>
                  </a:lnTo>
                  <a:close/>
                </a:path>
              </a:pathLst>
            </a:custGeom>
            <a:solidFill>
              <a:srgbClr val="003B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5" name="Google Shape;655;p70"/>
          <p:cNvSpPr txBox="1"/>
          <p:nvPr>
            <p:ph type="title"/>
          </p:nvPr>
        </p:nvSpPr>
        <p:spPr>
          <a:xfrm>
            <a:off x="4465375" y="2309475"/>
            <a:ext cx="3712500" cy="8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500">
            <a:noAutofit/>
          </a:bodyPr>
          <a:lstStyle/>
          <a:p>
            <a:pPr indent="0" lvl="0" marL="12700" marR="0" rtl="0" algn="ctr">
              <a:lnSpc>
                <a:spcPct val="118918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262626"/>
                </a:solidFill>
              </a:rPr>
              <a:t>Appendix</a:t>
            </a:r>
            <a:endParaRPr sz="3600">
              <a:solidFill>
                <a:srgbClr val="262626"/>
              </a:solidFill>
            </a:endParaRPr>
          </a:p>
        </p:txBody>
      </p:sp>
      <p:sp>
        <p:nvSpPr>
          <p:cNvPr id="656" name="Google Shape;656;p7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son using MacBook Pro" id="661" name="Google Shape;661;p71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3944318" y="0"/>
            <a:ext cx="51996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2" name="Google Shape;662;p71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663" name="Google Shape;663;p71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71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71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6" name="Google Shape;666;p71"/>
          <p:cNvSpPr txBox="1"/>
          <p:nvPr>
            <p:ph type="title"/>
          </p:nvPr>
        </p:nvSpPr>
        <p:spPr>
          <a:xfrm>
            <a:off x="4272925" y="1772625"/>
            <a:ext cx="4745400" cy="1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noAutofit/>
          </a:bodyPr>
          <a:lstStyle/>
          <a:p>
            <a:pPr indent="0" lvl="0" marL="12700" marR="0" rtl="0" algn="ctr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200">
                <a:solidFill>
                  <a:srgbClr val="262626"/>
                </a:solidFill>
              </a:rPr>
              <a:t>Decision</a:t>
            </a:r>
            <a:endParaRPr sz="3200">
              <a:solidFill>
                <a:srgbClr val="262626"/>
              </a:solidFill>
            </a:endParaRPr>
          </a:p>
          <a:p>
            <a:pPr indent="0" lvl="0" marL="12700" marR="0" rtl="0" algn="ctr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200">
                <a:solidFill>
                  <a:srgbClr val="262626"/>
                </a:solidFill>
              </a:rPr>
              <a:t>Tree</a:t>
            </a:r>
            <a:endParaRPr sz="3200">
              <a:solidFill>
                <a:srgbClr val="262626"/>
              </a:solidFill>
            </a:endParaRPr>
          </a:p>
        </p:txBody>
      </p:sp>
      <p:sp>
        <p:nvSpPr>
          <p:cNvPr id="667" name="Google Shape;667;p71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2"/>
          <p:cNvSpPr txBox="1"/>
          <p:nvPr/>
        </p:nvSpPr>
        <p:spPr>
          <a:xfrm>
            <a:off x="628650" y="285750"/>
            <a:ext cx="73743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Trebuchet MS"/>
                <a:ea typeface="Trebuchet MS"/>
                <a:cs typeface="Trebuchet MS"/>
                <a:sym typeface="Trebuchet MS"/>
              </a:rPr>
              <a:t>Decision Tree</a:t>
            </a:r>
            <a:endParaRPr sz="4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74" name="Google Shape;67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127" y="1443273"/>
            <a:ext cx="3380598" cy="2218552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72"/>
          <p:cNvSpPr/>
          <p:nvPr/>
        </p:nvSpPr>
        <p:spPr>
          <a:xfrm>
            <a:off x="1080846" y="1577525"/>
            <a:ext cx="2637300" cy="7626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72"/>
          <p:cNvSpPr txBox="1"/>
          <p:nvPr/>
        </p:nvSpPr>
        <p:spPr>
          <a:xfrm>
            <a:off x="3274300" y="1433125"/>
            <a:ext cx="512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Root</a:t>
            </a:r>
            <a:endParaRPr b="1" sz="10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7" name="Google Shape;677;p72"/>
          <p:cNvSpPr/>
          <p:nvPr/>
        </p:nvSpPr>
        <p:spPr>
          <a:xfrm>
            <a:off x="717938" y="2843143"/>
            <a:ext cx="1742400" cy="755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72"/>
          <p:cNvSpPr txBox="1"/>
          <p:nvPr/>
        </p:nvSpPr>
        <p:spPr>
          <a:xfrm>
            <a:off x="361787" y="2698743"/>
            <a:ext cx="512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Leaf</a:t>
            </a:r>
            <a:endParaRPr b="1" sz="12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9" name="Google Shape;679;p72"/>
          <p:cNvSpPr txBox="1"/>
          <p:nvPr/>
        </p:nvSpPr>
        <p:spPr>
          <a:xfrm>
            <a:off x="5034205" y="857475"/>
            <a:ext cx="3567900" cy="343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Contoh “tree” dalam klasifikasi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rebuchet MS"/>
                <a:ea typeface="Trebuchet MS"/>
                <a:cs typeface="Trebuchet MS"/>
                <a:sym typeface="Trebuchet MS"/>
              </a:rPr>
              <a:t>Note: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rebuchet MS"/>
                <a:ea typeface="Trebuchet MS"/>
                <a:cs typeface="Trebuchet MS"/>
                <a:sym typeface="Trebuchet MS"/>
              </a:rPr>
              <a:t>Pada tree selanjutnya setelah slide ini, 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rebuchet MS"/>
                <a:ea typeface="Trebuchet MS"/>
                <a:cs typeface="Trebuchet MS"/>
                <a:sym typeface="Trebuchet MS"/>
              </a:rPr>
              <a:t>Link yang menuju sebelah </a:t>
            </a:r>
            <a:r>
              <a:rPr b="1" lang="en" sz="1400">
                <a:solidFill>
                  <a:srgbClr val="2E75B5"/>
                </a:solidFill>
                <a:latin typeface="Trebuchet MS"/>
                <a:ea typeface="Trebuchet MS"/>
                <a:cs typeface="Trebuchet MS"/>
                <a:sym typeface="Trebuchet MS"/>
              </a:rPr>
              <a:t>kiri bernilai TRUE,</a:t>
            </a:r>
            <a:r>
              <a:rPr lang="en" sz="1400">
                <a:solidFill>
                  <a:srgbClr val="2E75B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" sz="1400">
                <a:latin typeface="Trebuchet MS"/>
                <a:ea typeface="Trebuchet MS"/>
                <a:cs typeface="Trebuchet MS"/>
                <a:sym typeface="Trebuchet MS"/>
              </a:rPr>
              <a:t>sedangkan 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rebuchet MS"/>
                <a:ea typeface="Trebuchet MS"/>
                <a:cs typeface="Trebuchet MS"/>
                <a:sym typeface="Trebuchet MS"/>
              </a:rPr>
              <a:t>Link yang menuju sebelah </a:t>
            </a:r>
            <a:r>
              <a:rPr b="1" lang="en" sz="1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kanan bernilai FALSE</a:t>
            </a:r>
            <a:endParaRPr b="1" sz="14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92929"/>
                </a:solidFill>
                <a:highlight>
                  <a:schemeClr val="lt1"/>
                </a:highlight>
              </a:rPr>
              <a:t>Ada 2 metric untuk menentukan bagaimana split our data :</a:t>
            </a:r>
            <a:endParaRPr sz="1500">
              <a:solidFill>
                <a:srgbClr val="292929"/>
              </a:solidFill>
              <a:highlight>
                <a:schemeClr val="lt1"/>
              </a:highlight>
            </a:endParaRPr>
          </a:p>
          <a:p>
            <a:pPr indent="-209550" lvl="1" marL="457200" rtl="0" algn="l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Char char="○"/>
            </a:pPr>
            <a:r>
              <a:rPr b="1" lang="en" sz="1500">
                <a:solidFill>
                  <a:srgbClr val="292929"/>
                </a:solidFill>
                <a:highlight>
                  <a:schemeClr val="lt1"/>
                </a:highlight>
              </a:rPr>
              <a:t>Entropy</a:t>
            </a:r>
            <a:endParaRPr b="1" sz="1500">
              <a:solidFill>
                <a:srgbClr val="292929"/>
              </a:solidFill>
              <a:highlight>
                <a:schemeClr val="lt1"/>
              </a:highlight>
            </a:endParaRPr>
          </a:p>
          <a:p>
            <a:pPr indent="-209550" lvl="1" marL="457200" rtl="0" algn="l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Char char="○"/>
            </a:pPr>
            <a:r>
              <a:rPr b="1" lang="en" sz="1500">
                <a:solidFill>
                  <a:srgbClr val="292929"/>
                </a:solidFill>
                <a:highlight>
                  <a:schemeClr val="lt1"/>
                </a:highlight>
              </a:rPr>
              <a:t>Information Gain</a:t>
            </a:r>
            <a:endParaRPr b="1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0" name="Google Shape;680;p72"/>
          <p:cNvSpPr txBox="1"/>
          <p:nvPr/>
        </p:nvSpPr>
        <p:spPr>
          <a:xfrm>
            <a:off x="157400" y="2040622"/>
            <a:ext cx="512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Link</a:t>
            </a:r>
            <a:endParaRPr b="1" sz="12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81" name="Google Shape;681;p72"/>
          <p:cNvCxnSpPr/>
          <p:nvPr/>
        </p:nvCxnSpPr>
        <p:spPr>
          <a:xfrm rot="10800000">
            <a:off x="626434" y="2350228"/>
            <a:ext cx="776700" cy="24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82" name="Google Shape;682;p72"/>
          <p:cNvSpPr txBox="1"/>
          <p:nvPr/>
        </p:nvSpPr>
        <p:spPr>
          <a:xfrm>
            <a:off x="1434818" y="2344370"/>
            <a:ext cx="512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True</a:t>
            </a:r>
            <a:endParaRPr sz="11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3" name="Google Shape;683;p72"/>
          <p:cNvSpPr txBox="1"/>
          <p:nvPr/>
        </p:nvSpPr>
        <p:spPr>
          <a:xfrm>
            <a:off x="2865526" y="2344370"/>
            <a:ext cx="6579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False</a:t>
            </a:r>
            <a:endParaRPr sz="11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4" name="Google Shape;684;p72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3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73"/>
          <p:cNvSpPr txBox="1"/>
          <p:nvPr/>
        </p:nvSpPr>
        <p:spPr>
          <a:xfrm>
            <a:off x="817948" y="13648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1" name="Google Shape;691;p73"/>
          <p:cNvSpPr txBox="1"/>
          <p:nvPr/>
        </p:nvSpPr>
        <p:spPr>
          <a:xfrm>
            <a:off x="697175" y="1364825"/>
            <a:ext cx="4117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-2095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Decision Tree algorithm attempts to divide the data so it can achieve a ‘pure’ leaf with the least amount of ‘branch’</a:t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095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need 2 metrics to decide how to split our data:</a:t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095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Arial"/>
              <a:buChar char="○"/>
            </a:pPr>
            <a:r>
              <a:rPr b="1" i="0" lang="en" sz="1500" u="none" cap="none" strike="noStrike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Entropy</a:t>
            </a:r>
            <a:endParaRPr b="1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095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Arial"/>
              <a:buChar char="○"/>
            </a:pPr>
            <a:r>
              <a:rPr b="1" i="0" lang="en" sz="1500" u="none" cap="none" strike="noStrike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Information Gain</a:t>
            </a:r>
            <a:endParaRPr b="1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73"/>
          <p:cNvSpPr txBox="1"/>
          <p:nvPr/>
        </p:nvSpPr>
        <p:spPr>
          <a:xfrm>
            <a:off x="747750" y="795175"/>
            <a:ext cx="42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Decision Tree Work?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74"/>
          <p:cNvSpPr txBox="1"/>
          <p:nvPr/>
        </p:nvSpPr>
        <p:spPr>
          <a:xfrm>
            <a:off x="628650" y="285750"/>
            <a:ext cx="73743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Contoh Decision Tree dari data set yang ada</a:t>
            </a:r>
            <a:endParaRPr sz="4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99" name="Google Shape;69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56" y="1133193"/>
            <a:ext cx="3454013" cy="3364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6550" y="1588425"/>
            <a:ext cx="4687200" cy="21729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1" name="Google Shape;701;p74"/>
          <p:cNvCxnSpPr/>
          <p:nvPr/>
        </p:nvCxnSpPr>
        <p:spPr>
          <a:xfrm>
            <a:off x="4093856" y="2343544"/>
            <a:ext cx="67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2" name="Google Shape;702;p74"/>
          <p:cNvSpPr txBox="1"/>
          <p:nvPr/>
        </p:nvSpPr>
        <p:spPr>
          <a:xfrm>
            <a:off x="4117950" y="3664200"/>
            <a:ext cx="1163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Heart Disease: Yes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17 Orang Yes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3 Orang No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74"/>
          <p:cNvSpPr txBox="1"/>
          <p:nvPr/>
        </p:nvSpPr>
        <p:spPr>
          <a:xfrm>
            <a:off x="5318100" y="3664200"/>
            <a:ext cx="1163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Heart Disease: No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7 Orang Yes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22 Orang No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74"/>
          <p:cNvSpPr txBox="1"/>
          <p:nvPr/>
        </p:nvSpPr>
        <p:spPr>
          <a:xfrm>
            <a:off x="6632550" y="3664200"/>
            <a:ext cx="1163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Heart Disease: Yes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8 Orang Yes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0 Orang No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74"/>
          <p:cNvSpPr txBox="1"/>
          <p:nvPr/>
        </p:nvSpPr>
        <p:spPr>
          <a:xfrm>
            <a:off x="7775550" y="3664200"/>
            <a:ext cx="1163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Heart Disease: No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0 Orang Yes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30 Orang No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74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5"/>
          <p:cNvSpPr txBox="1"/>
          <p:nvPr/>
        </p:nvSpPr>
        <p:spPr>
          <a:xfrm>
            <a:off x="628650" y="285750"/>
            <a:ext cx="73743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Step 1. Cek bagaimana </a:t>
            </a:r>
            <a:r>
              <a:rPr b="1" lang="en" sz="20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variable Chest Pain</a:t>
            </a:r>
            <a:r>
              <a:rPr b="1"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saja dapat melakukan prediksi terhadap label heart disease</a:t>
            </a:r>
            <a:endParaRPr sz="3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13" name="Google Shape;713;p75"/>
          <p:cNvGrpSpPr/>
          <p:nvPr/>
        </p:nvGrpSpPr>
        <p:grpSpPr>
          <a:xfrm>
            <a:off x="700239" y="1104509"/>
            <a:ext cx="6941222" cy="3213584"/>
            <a:chOff x="510000" y="827750"/>
            <a:chExt cx="11146976" cy="5202500"/>
          </a:xfrm>
        </p:grpSpPr>
        <p:grpSp>
          <p:nvGrpSpPr>
            <p:cNvPr id="714" name="Google Shape;714;p75"/>
            <p:cNvGrpSpPr/>
            <p:nvPr/>
          </p:nvGrpSpPr>
          <p:grpSpPr>
            <a:xfrm>
              <a:off x="510000" y="827750"/>
              <a:ext cx="11146976" cy="5202500"/>
              <a:chOff x="510000" y="827750"/>
              <a:chExt cx="11146976" cy="5202500"/>
            </a:xfrm>
          </p:grpSpPr>
          <p:pic>
            <p:nvPicPr>
              <p:cNvPr id="715" name="Google Shape;715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35025" y="827750"/>
                <a:ext cx="11121951" cy="52025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16" name="Google Shape;716;p75"/>
              <p:cNvCxnSpPr/>
              <p:nvPr/>
            </p:nvCxnSpPr>
            <p:spPr>
              <a:xfrm>
                <a:off x="510000" y="5100350"/>
                <a:ext cx="0" cy="867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717" name="Google Shape;717;p75"/>
            <p:cNvSpPr/>
            <p:nvPr/>
          </p:nvSpPr>
          <p:spPr>
            <a:xfrm>
              <a:off x="6772400" y="4778450"/>
              <a:ext cx="4366800" cy="119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8" name="Google Shape;718;p75"/>
          <p:cNvSpPr txBox="1"/>
          <p:nvPr/>
        </p:nvSpPr>
        <p:spPr>
          <a:xfrm>
            <a:off x="4361513" y="3691238"/>
            <a:ext cx="39645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Lakukan pemetaan, jika chest pain bernilai </a:t>
            </a:r>
            <a:r>
              <a:rPr lang="en" sz="1400">
                <a:solidFill>
                  <a:srgbClr val="2E75B5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Yes, </a:t>
            </a:r>
            <a:r>
              <a:rPr lang="en" sz="1400"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berapa banyak yang mempunyai label heart disease dan tidak mempunyai heart disease. </a:t>
            </a:r>
            <a:endParaRPr sz="1400"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Lakukan hal yang sama ketika chest pain bernilai </a:t>
            </a: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No</a:t>
            </a:r>
            <a:r>
              <a:rPr lang="en" sz="1400"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400"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9" name="Google Shape;719;p75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6"/>
          <p:cNvSpPr txBox="1"/>
          <p:nvPr/>
        </p:nvSpPr>
        <p:spPr>
          <a:xfrm>
            <a:off x="628650" y="285750"/>
            <a:ext cx="73743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2. Lakukan hal yang sama dengan Blood Circulation dan Blocked Arteries</a:t>
            </a:r>
            <a:endParaRPr sz="30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26" name="Google Shape;72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513" y="842513"/>
            <a:ext cx="3415088" cy="4243838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76"/>
          <p:cNvSpPr txBox="1"/>
          <p:nvPr/>
        </p:nvSpPr>
        <p:spPr>
          <a:xfrm>
            <a:off x="4266019" y="921113"/>
            <a:ext cx="4229700" cy="4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rebuchet MS"/>
                <a:ea typeface="Trebuchet MS"/>
                <a:cs typeface="Trebuchet MS"/>
                <a:sym typeface="Trebuchet MS"/>
              </a:rPr>
              <a:t>Setiap variabel tidak dapat memberikan prediksi yang sempurna untuk melakukan prediksi label heart disease.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rebuchet MS"/>
                <a:ea typeface="Trebuchet MS"/>
                <a:cs typeface="Trebuchet MS"/>
                <a:sym typeface="Trebuchet MS"/>
              </a:rPr>
              <a:t>Karena tidak ada leaf yang menunjukkan bahwa dengan variabel tersebut dapat melakukan prediksi 100% YES heart disease atau 100% NO heart disease. Kasus ini dapat dikatakan bahwa variabel tersebut </a:t>
            </a:r>
            <a:r>
              <a:rPr b="1" lang="en" sz="17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impure.</a:t>
            </a:r>
            <a:endParaRPr b="1" sz="17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Untuk menentukan variabel mana yang bernilai lebih baik, kita dapat menghitung nilai </a:t>
            </a:r>
            <a:r>
              <a:rPr b="1" lang="en" sz="1700">
                <a:solidFill>
                  <a:srgbClr val="FF0000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impurity</a:t>
            </a:r>
            <a:r>
              <a:rPr lang="en" sz="1300"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, cara yang paling sederhana adalah dengan menggunakan </a:t>
            </a:r>
            <a:r>
              <a:rPr b="1" lang="en" sz="1700">
                <a:solidFill>
                  <a:srgbClr val="FF0000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Gini</a:t>
            </a:r>
            <a:r>
              <a:rPr lang="en" sz="1300"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algorithm. </a:t>
            </a:r>
            <a:endParaRPr sz="1300"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Semakin kecil nilai impurity maka semakin baik. Pendekatan ini menjadi salah satu penentuan feature importance.</a:t>
            </a:r>
            <a:endParaRPr sz="1300"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8" name="Google Shape;728;p76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7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77"/>
          <p:cNvSpPr/>
          <p:nvPr/>
        </p:nvSpPr>
        <p:spPr>
          <a:xfrm>
            <a:off x="273125" y="11325"/>
            <a:ext cx="8709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rebuchet MS"/>
                <a:ea typeface="Trebuchet MS"/>
                <a:cs typeface="Trebuchet MS"/>
                <a:sym typeface="Trebuchet MS"/>
              </a:rPr>
              <a:t>Cara Perhitungan Gini Impurity </a:t>
            </a:r>
            <a:endParaRPr b="1"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35" name="Google Shape;73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7925" y="533625"/>
            <a:ext cx="3885153" cy="4457474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77"/>
          <p:cNvSpPr/>
          <p:nvPr/>
        </p:nvSpPr>
        <p:spPr>
          <a:xfrm>
            <a:off x="5820750" y="4457850"/>
            <a:ext cx="13287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Source : </a:t>
            </a:r>
            <a:r>
              <a:rPr lang="en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5"/>
              </a:rPr>
              <a:t>Link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8"/>
          <p:cNvSpPr txBox="1"/>
          <p:nvPr/>
        </p:nvSpPr>
        <p:spPr>
          <a:xfrm>
            <a:off x="628650" y="285750"/>
            <a:ext cx="83040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Variabel yang punya impurity paling kecil akan jadi root/node, lakukan terus hingga menjadi sebuah tree seperti dibawah ini</a:t>
            </a:r>
            <a:endParaRPr sz="36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43" name="Google Shape;74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56" y="1437993"/>
            <a:ext cx="3454013" cy="3364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4150" y="1893225"/>
            <a:ext cx="4687200" cy="21729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5" name="Google Shape;745;p78"/>
          <p:cNvCxnSpPr/>
          <p:nvPr/>
        </p:nvCxnSpPr>
        <p:spPr>
          <a:xfrm>
            <a:off x="3941456" y="2724544"/>
            <a:ext cx="67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6" name="Google Shape;746;p78"/>
          <p:cNvSpPr txBox="1"/>
          <p:nvPr/>
        </p:nvSpPr>
        <p:spPr>
          <a:xfrm>
            <a:off x="3965550" y="3969000"/>
            <a:ext cx="1163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Heart Disease: Yes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17 Orang Yes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3 Orang No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78"/>
          <p:cNvSpPr txBox="1"/>
          <p:nvPr/>
        </p:nvSpPr>
        <p:spPr>
          <a:xfrm>
            <a:off x="5165700" y="3969000"/>
            <a:ext cx="1163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Heart Disease: No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7 Orang Yes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22 Orang No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78"/>
          <p:cNvSpPr txBox="1"/>
          <p:nvPr/>
        </p:nvSpPr>
        <p:spPr>
          <a:xfrm>
            <a:off x="6480150" y="3969000"/>
            <a:ext cx="1163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Heart Disease: Yes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8 Orang Yes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0 Orang No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78"/>
          <p:cNvSpPr txBox="1"/>
          <p:nvPr/>
        </p:nvSpPr>
        <p:spPr>
          <a:xfrm>
            <a:off x="7623150" y="3969000"/>
            <a:ext cx="1163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Heart Disease: No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0 Orang Yes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30 Orang No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78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9"/>
          <p:cNvSpPr txBox="1"/>
          <p:nvPr/>
        </p:nvSpPr>
        <p:spPr>
          <a:xfrm>
            <a:off x="2519419" y="181088"/>
            <a:ext cx="45933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E858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6" name="Google Shape;756;p79"/>
          <p:cNvSpPr txBox="1"/>
          <p:nvPr/>
        </p:nvSpPr>
        <p:spPr>
          <a:xfrm>
            <a:off x="822713" y="1310850"/>
            <a:ext cx="7498500" cy="25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" sz="7500">
                <a:solidFill>
                  <a:srgbClr val="FF9900"/>
                </a:solidFill>
                <a:latin typeface="Raleway"/>
                <a:ea typeface="Raleway"/>
                <a:cs typeface="Raleway"/>
                <a:sym typeface="Raleway"/>
              </a:rPr>
              <a:t>Bias-Variance </a:t>
            </a:r>
            <a:r>
              <a:rPr b="1" lang="en" sz="7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Tradeoff</a:t>
            </a:r>
            <a:endParaRPr b="1" sz="7500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0"/>
          <p:cNvSpPr txBox="1"/>
          <p:nvPr/>
        </p:nvSpPr>
        <p:spPr>
          <a:xfrm>
            <a:off x="2519419" y="181088"/>
            <a:ext cx="45933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E858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80"/>
          <p:cNvSpPr txBox="1"/>
          <p:nvPr/>
        </p:nvSpPr>
        <p:spPr>
          <a:xfrm>
            <a:off x="319800" y="309413"/>
            <a:ext cx="65562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Bias &amp; Variance</a:t>
            </a:r>
            <a:endParaRPr b="1" i="0" sz="2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3" name="Google Shape;763;p80"/>
          <p:cNvSpPr txBox="1"/>
          <p:nvPr/>
        </p:nvSpPr>
        <p:spPr>
          <a:xfrm>
            <a:off x="458531" y="1294256"/>
            <a:ext cx="5457900" cy="21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r>
              <a:rPr b="0" i="0" lang="en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is the difference between the average prediction of our model and the correct value which we are trying to predict.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r>
              <a:rPr b="0" i="0" lang="en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is the variability of model prediction for a given data point or a value which tells us spread of our data.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81"/>
          <p:cNvSpPr txBox="1"/>
          <p:nvPr/>
        </p:nvSpPr>
        <p:spPr>
          <a:xfrm>
            <a:off x="448675" y="324034"/>
            <a:ext cx="74280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Bias-Variance Tradeoff</a:t>
            </a:r>
            <a:endParaRPr b="0" i="0" sz="5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0" name="Google Shape;770;p81"/>
          <p:cNvSpPr txBox="1"/>
          <p:nvPr/>
        </p:nvSpPr>
        <p:spPr>
          <a:xfrm>
            <a:off x="582051" y="1384525"/>
            <a:ext cx="79341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937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Bias: Mengukur akurasi/kualitas dari algoritma. Bias yang tinggi artinya hasil prediksi kurang baik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Variance: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82"/>
          <p:cNvSpPr txBox="1"/>
          <p:nvPr/>
        </p:nvSpPr>
        <p:spPr>
          <a:xfrm>
            <a:off x="2519419" y="181088"/>
            <a:ext cx="45933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E858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6" name="Google Shape;776;p82"/>
          <p:cNvSpPr txBox="1"/>
          <p:nvPr/>
        </p:nvSpPr>
        <p:spPr>
          <a:xfrm>
            <a:off x="173213" y="317213"/>
            <a:ext cx="6116100" cy="16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Underfitting</a:t>
            </a:r>
            <a:endParaRPr b="1" i="0" sz="3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23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High bias, Low variance</a:t>
            </a:r>
            <a:endParaRPr b="1" sz="23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Underfitting occurs when a statistical model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cannot adequately capture the underlying structure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the data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model will tend to have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poor predictive performance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has a small amount of data train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informed by too few features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model is too simple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7" name="Google Shape;777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9720" y="888720"/>
            <a:ext cx="2099231" cy="21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82"/>
          <p:cNvPicPr preferRelativeResize="0"/>
          <p:nvPr/>
        </p:nvPicPr>
        <p:blipFill rotWithShape="1">
          <a:blip r:embed="rId4">
            <a:alphaModFix/>
          </a:blip>
          <a:srcRect b="2190" l="0" r="0" t="-2190"/>
          <a:stretch/>
        </p:blipFill>
        <p:spPr>
          <a:xfrm>
            <a:off x="6519713" y="2899088"/>
            <a:ext cx="2099231" cy="201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83"/>
          <p:cNvSpPr txBox="1"/>
          <p:nvPr/>
        </p:nvSpPr>
        <p:spPr>
          <a:xfrm>
            <a:off x="2519419" y="181088"/>
            <a:ext cx="45933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E858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4" name="Google Shape;784;p83"/>
          <p:cNvSpPr txBox="1"/>
          <p:nvPr/>
        </p:nvSpPr>
        <p:spPr>
          <a:xfrm>
            <a:off x="173213" y="317213"/>
            <a:ext cx="6116100" cy="16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Overfitting</a:t>
            </a:r>
            <a:endParaRPr b="1" i="0" sz="3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23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Low bias, High variance</a:t>
            </a:r>
            <a:endParaRPr b="1" sz="23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production of an analysis that corresponds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too closely or exactly to a particular set of data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may therefore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fail to fit additional data or predict future observations reliably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informed by too many features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Have a lot over noisy dataset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model is too complex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5" name="Google Shape;785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7787" y="1031663"/>
            <a:ext cx="2289975" cy="19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2516" y="2945513"/>
            <a:ext cx="2289975" cy="2082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4"/>
          <p:cNvSpPr txBox="1"/>
          <p:nvPr/>
        </p:nvSpPr>
        <p:spPr>
          <a:xfrm>
            <a:off x="2519419" y="181088"/>
            <a:ext cx="45933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E858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2" name="Google Shape;792;p84"/>
          <p:cNvSpPr txBox="1"/>
          <p:nvPr/>
        </p:nvSpPr>
        <p:spPr>
          <a:xfrm>
            <a:off x="230363" y="207713"/>
            <a:ext cx="5978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Good Fit in Machine Learning</a:t>
            </a:r>
            <a:endParaRPr b="1" i="0" sz="2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3" name="Google Shape;79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481" y="1755863"/>
            <a:ext cx="7234857" cy="2592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son using MacBook Pro" id="798" name="Google Shape;798;p85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3944318" y="0"/>
            <a:ext cx="51996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9" name="Google Shape;799;p85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800" name="Google Shape;800;p85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85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85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3" name="Google Shape;803;p85"/>
          <p:cNvSpPr txBox="1"/>
          <p:nvPr>
            <p:ph type="title"/>
          </p:nvPr>
        </p:nvSpPr>
        <p:spPr>
          <a:xfrm>
            <a:off x="4272925" y="930875"/>
            <a:ext cx="47454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noAutofit/>
          </a:bodyPr>
          <a:lstStyle/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200">
                <a:solidFill>
                  <a:srgbClr val="262626"/>
                </a:solidFill>
              </a:rPr>
              <a:t>Processing </a:t>
            </a:r>
            <a:endParaRPr sz="3200">
              <a:solidFill>
                <a:srgbClr val="262626"/>
              </a:solidFill>
            </a:endParaRPr>
          </a:p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200">
                <a:solidFill>
                  <a:srgbClr val="262626"/>
                </a:solidFill>
              </a:rPr>
              <a:t>Categorical Variable</a:t>
            </a:r>
            <a:endParaRPr sz="3200">
              <a:solidFill>
                <a:srgbClr val="262626"/>
              </a:solidFill>
            </a:endParaRPr>
          </a:p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200">
              <a:solidFill>
                <a:srgbClr val="262626"/>
              </a:solidFill>
            </a:endParaRPr>
          </a:p>
          <a:p>
            <a:pPr indent="-317500" lvl="0" marL="4572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itr"/>
              <a:buChar char="●"/>
            </a:pPr>
            <a:r>
              <a:rPr b="0" lang="en" sz="1400">
                <a:solidFill>
                  <a:srgbClr val="262626"/>
                </a:solidFill>
                <a:latin typeface="Mitr"/>
                <a:ea typeface="Mitr"/>
                <a:cs typeface="Mitr"/>
                <a:sym typeface="Mitr"/>
              </a:rPr>
              <a:t>proses mengubah feature categorical menjadi feature numeric</a:t>
            </a:r>
            <a:endParaRPr b="0" sz="1400">
              <a:solidFill>
                <a:srgbClr val="262626"/>
              </a:solidFill>
              <a:latin typeface="Mitr"/>
              <a:ea typeface="Mitr"/>
              <a:cs typeface="Mitr"/>
              <a:sym typeface="Mitr"/>
            </a:endParaRPr>
          </a:p>
          <a:p>
            <a:pPr indent="-317500" lvl="0" marL="4572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itr"/>
              <a:buChar char="●"/>
            </a:pPr>
            <a:r>
              <a:rPr b="0" lang="en" sz="1400">
                <a:solidFill>
                  <a:srgbClr val="262626"/>
                </a:solidFill>
                <a:latin typeface="Mitr"/>
                <a:ea typeface="Mitr"/>
                <a:cs typeface="Mitr"/>
                <a:sym typeface="Mitr"/>
              </a:rPr>
              <a:t>Tak semua model/algoritma ML dapat menggunakan feature categorical</a:t>
            </a:r>
            <a:endParaRPr b="0" sz="1400">
              <a:solidFill>
                <a:srgbClr val="262626"/>
              </a:solidFill>
              <a:latin typeface="Mitr"/>
              <a:ea typeface="Mitr"/>
              <a:cs typeface="Mitr"/>
              <a:sym typeface="Mitr"/>
            </a:endParaRPr>
          </a:p>
        </p:txBody>
      </p:sp>
      <p:sp>
        <p:nvSpPr>
          <p:cNvPr id="804" name="Google Shape;804;p8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86"/>
          <p:cNvSpPr txBox="1"/>
          <p:nvPr/>
        </p:nvSpPr>
        <p:spPr>
          <a:xfrm>
            <a:off x="665548" y="907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0" name="Google Shape;810;p86"/>
          <p:cNvSpPr txBox="1"/>
          <p:nvPr/>
        </p:nvSpPr>
        <p:spPr>
          <a:xfrm>
            <a:off x="1484085" y="3866975"/>
            <a:ext cx="1947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1" name="Google Shape;811;p86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86"/>
          <p:cNvSpPr txBox="1"/>
          <p:nvPr/>
        </p:nvSpPr>
        <p:spPr>
          <a:xfrm>
            <a:off x="544775" y="907625"/>
            <a:ext cx="4117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86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Georgia"/>
                <a:ea typeface="Georgia"/>
                <a:cs typeface="Georgia"/>
                <a:sym typeface="Georgia"/>
              </a:rPr>
              <a:t>Label Encoding (Naif)</a:t>
            </a:r>
            <a:endParaRPr b="1"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4" name="Google Shape;814;p86"/>
          <p:cNvSpPr/>
          <p:nvPr/>
        </p:nvSpPr>
        <p:spPr>
          <a:xfrm>
            <a:off x="988575" y="885975"/>
            <a:ext cx="69189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Label Encoding adalah perubahan </a:t>
            </a:r>
            <a:r>
              <a:rPr b="1" lang="en" sz="12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categorical menjadi numeric dengan memberikan angka yang berbeda bagi masing-masing nilai unik</a:t>
            </a:r>
            <a:endParaRPr b="1" sz="12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15" name="Google Shape;81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8250" y="1625625"/>
            <a:ext cx="6919001" cy="304655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6"/>
          <p:cNvSpPr/>
          <p:nvPr/>
        </p:nvSpPr>
        <p:spPr>
          <a:xfrm>
            <a:off x="6407926" y="2082513"/>
            <a:ext cx="746100" cy="237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7"/>
          <p:cNvSpPr txBox="1"/>
          <p:nvPr/>
        </p:nvSpPr>
        <p:spPr>
          <a:xfrm>
            <a:off x="665548" y="907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22" name="Google Shape;822;p87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7"/>
          <p:cNvSpPr txBox="1"/>
          <p:nvPr/>
        </p:nvSpPr>
        <p:spPr>
          <a:xfrm>
            <a:off x="544775" y="907625"/>
            <a:ext cx="4117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87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Georgia"/>
                <a:ea typeface="Georgia"/>
                <a:cs typeface="Georgia"/>
                <a:sym typeface="Georgia"/>
              </a:rPr>
              <a:t>Label Encoding (Naif)</a:t>
            </a:r>
            <a:endParaRPr b="1" sz="3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25" name="Google Shape;82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125" y="925350"/>
            <a:ext cx="4117799" cy="2044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325" y="3107230"/>
            <a:ext cx="5287389" cy="186892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87"/>
          <p:cNvSpPr/>
          <p:nvPr/>
        </p:nvSpPr>
        <p:spPr>
          <a:xfrm>
            <a:off x="2436375" y="2105175"/>
            <a:ext cx="7248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Cara 1</a:t>
            </a:r>
            <a:endParaRPr b="1" sz="12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28" name="Google Shape;828;p87"/>
          <p:cNvSpPr/>
          <p:nvPr/>
        </p:nvSpPr>
        <p:spPr>
          <a:xfrm>
            <a:off x="3274575" y="4086375"/>
            <a:ext cx="7248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Cara 1</a:t>
            </a:r>
            <a:endParaRPr b="1" sz="12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29" name="Google Shape;829;p87"/>
          <p:cNvSpPr/>
          <p:nvPr/>
        </p:nvSpPr>
        <p:spPr>
          <a:xfrm>
            <a:off x="5103375" y="1266975"/>
            <a:ext cx="36516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rebuchet MS"/>
                <a:ea typeface="Trebuchet MS"/>
                <a:cs typeface="Trebuchet MS"/>
                <a:sym typeface="Trebuchet MS"/>
              </a:rPr>
              <a:t>“Naif” - Terjadi urutan</a:t>
            </a:r>
            <a:endParaRPr b="1"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Misal Southampton = 2 dan Cherbourg 0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Konsep matematika 0 &gt; 2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Apakah </a:t>
            </a:r>
            <a:r>
              <a:rPr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Southampton lebih baik dari Cherbourg ?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8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88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Georgia"/>
                <a:ea typeface="Georgia"/>
                <a:cs typeface="Georgia"/>
                <a:sym typeface="Georgia"/>
              </a:rPr>
              <a:t>Ordinal Encoding</a:t>
            </a:r>
            <a:endParaRPr b="1"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6" name="Google Shape;836;p88"/>
          <p:cNvSpPr/>
          <p:nvPr/>
        </p:nvSpPr>
        <p:spPr>
          <a:xfrm>
            <a:off x="5103375" y="1952775"/>
            <a:ext cx="36516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rebuchet MS"/>
                <a:ea typeface="Trebuchet MS"/>
                <a:cs typeface="Trebuchet MS"/>
                <a:sym typeface="Trebuchet MS"/>
              </a:rPr>
              <a:t>Tidak “Naif” - karena ada urutan</a:t>
            </a:r>
            <a:endParaRPr b="1"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First </a:t>
            </a:r>
            <a:r>
              <a:rPr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Class</a:t>
            </a: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 &gt; Second </a:t>
            </a:r>
            <a:r>
              <a:rPr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Class </a:t>
            </a: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&gt; Third Class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37" name="Google Shape;837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1275" y="896925"/>
            <a:ext cx="3657600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89"/>
          <p:cNvSpPr txBox="1"/>
          <p:nvPr/>
        </p:nvSpPr>
        <p:spPr>
          <a:xfrm>
            <a:off x="665548" y="907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3" name="Google Shape;843;p89"/>
          <p:cNvSpPr txBox="1"/>
          <p:nvPr/>
        </p:nvSpPr>
        <p:spPr>
          <a:xfrm>
            <a:off x="1484085" y="3866975"/>
            <a:ext cx="1947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4" name="Google Shape;844;p89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89"/>
          <p:cNvSpPr txBox="1"/>
          <p:nvPr/>
        </p:nvSpPr>
        <p:spPr>
          <a:xfrm>
            <a:off x="544775" y="907625"/>
            <a:ext cx="4117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89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Georgia"/>
                <a:ea typeface="Georgia"/>
                <a:cs typeface="Georgia"/>
                <a:sym typeface="Georgia"/>
              </a:rPr>
              <a:t>One Hot Encoding</a:t>
            </a:r>
            <a:endParaRPr b="1"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7" name="Google Shape;847;p89"/>
          <p:cNvSpPr/>
          <p:nvPr/>
        </p:nvSpPr>
        <p:spPr>
          <a:xfrm>
            <a:off x="988575" y="885975"/>
            <a:ext cx="69189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One-hot encoding</a:t>
            </a: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 adalah perubahan feature categorical menjadi numeric dengan menjadikan masing-masing nilai unik feature tersendiri</a:t>
            </a:r>
            <a:endParaRPr b="1" sz="12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48" name="Google Shape;84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8250" y="1625625"/>
            <a:ext cx="6919001" cy="304655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89"/>
          <p:cNvSpPr/>
          <p:nvPr/>
        </p:nvSpPr>
        <p:spPr>
          <a:xfrm>
            <a:off x="6407926" y="2082513"/>
            <a:ext cx="746100" cy="237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90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90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Hot Encoding</a:t>
            </a:r>
            <a:endParaRPr b="1"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6" name="Google Shape;856;p90"/>
          <p:cNvSpPr/>
          <p:nvPr/>
        </p:nvSpPr>
        <p:spPr>
          <a:xfrm>
            <a:off x="5103375" y="1800375"/>
            <a:ext cx="3651600" cy="22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Data category berubah menjadi kolom-kolom baru sesuai </a:t>
            </a:r>
            <a:r>
              <a:rPr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dengan isi parameter prefix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One hot encoding merupakan metode yang sering dan umum</a:t>
            </a:r>
            <a:r>
              <a:rPr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digunakan pada feature categorical menjadi feature numeric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57" name="Google Shape;857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430325"/>
            <a:ext cx="4798575" cy="2703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4938" y="247700"/>
            <a:ext cx="4721635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91"/>
          <p:cNvSpPr/>
          <p:nvPr/>
        </p:nvSpPr>
        <p:spPr>
          <a:xfrm>
            <a:off x="196925" y="1992525"/>
            <a:ext cx="37764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curse of dimensionality</a:t>
            </a:r>
            <a:endParaRPr b="1"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4" name="Google Shape;864;p91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92"/>
          <p:cNvSpPr txBox="1"/>
          <p:nvPr/>
        </p:nvSpPr>
        <p:spPr>
          <a:xfrm>
            <a:off x="665548" y="907628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0" name="Google Shape;870;p92"/>
          <p:cNvSpPr txBox="1"/>
          <p:nvPr/>
        </p:nvSpPr>
        <p:spPr>
          <a:xfrm>
            <a:off x="1484085" y="3866975"/>
            <a:ext cx="1947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1" name="Google Shape;871;p92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92"/>
          <p:cNvSpPr txBox="1"/>
          <p:nvPr/>
        </p:nvSpPr>
        <p:spPr>
          <a:xfrm>
            <a:off x="544775" y="907625"/>
            <a:ext cx="4117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92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Georgia"/>
                <a:ea typeface="Georgia"/>
                <a:cs typeface="Georgia"/>
                <a:sym typeface="Georgia"/>
              </a:rPr>
              <a:t>Frequency Encoding</a:t>
            </a:r>
            <a:endParaRPr b="1"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4" name="Google Shape;874;p92"/>
          <p:cNvSpPr/>
          <p:nvPr/>
        </p:nvSpPr>
        <p:spPr>
          <a:xfrm>
            <a:off x="988575" y="885975"/>
            <a:ext cx="69189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Frequency Encoding </a:t>
            </a: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adalah perubahan feature categorical menjadi numeric dengan menjadikan frequency/percentage dari kemunculannya pada dataset</a:t>
            </a:r>
            <a:endParaRPr b="1" sz="12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75" name="Google Shape;87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8250" y="1625625"/>
            <a:ext cx="6919001" cy="304655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92"/>
          <p:cNvSpPr/>
          <p:nvPr/>
        </p:nvSpPr>
        <p:spPr>
          <a:xfrm>
            <a:off x="6407926" y="2082513"/>
            <a:ext cx="746100" cy="237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93"/>
          <p:cNvSpPr/>
          <p:nvPr/>
        </p:nvSpPr>
        <p:spPr>
          <a:xfrm>
            <a:off x="8548800" y="45627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93"/>
          <p:cNvSpPr/>
          <p:nvPr/>
        </p:nvSpPr>
        <p:spPr>
          <a:xfrm>
            <a:off x="273125" y="163725"/>
            <a:ext cx="6477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Frequency Encoding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3" name="Google Shape;883;p93"/>
          <p:cNvSpPr/>
          <p:nvPr/>
        </p:nvSpPr>
        <p:spPr>
          <a:xfrm>
            <a:off x="5331975" y="1800375"/>
            <a:ext cx="3651600" cy="22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Data category berubah menjadi kolom baru yaitu pct_embark_town, 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dimana value nya adalah persentase kemunculan data category pada dataset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84" name="Google Shape;88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973125"/>
            <a:ext cx="4798576" cy="3687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94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0" name="Google Shape;890;p94"/>
          <p:cNvSpPr txBox="1"/>
          <p:nvPr>
            <p:ph type="title"/>
          </p:nvPr>
        </p:nvSpPr>
        <p:spPr>
          <a:xfrm>
            <a:off x="1689369" y="769271"/>
            <a:ext cx="2466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Quiz</a:t>
            </a:r>
            <a:endParaRPr/>
          </a:p>
        </p:txBody>
      </p:sp>
      <p:sp>
        <p:nvSpPr>
          <p:cNvPr id="891" name="Google Shape;891;p94"/>
          <p:cNvSpPr/>
          <p:nvPr/>
        </p:nvSpPr>
        <p:spPr>
          <a:xfrm>
            <a:off x="812045" y="629598"/>
            <a:ext cx="1016100" cy="1016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2" name="Google Shape;892;p94"/>
          <p:cNvSpPr txBox="1"/>
          <p:nvPr/>
        </p:nvSpPr>
        <p:spPr>
          <a:xfrm>
            <a:off x="5545875" y="2437025"/>
            <a:ext cx="31521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Bagaimana merubah variable “product color” menjadi numerik jika memiliki 101 category?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93" name="Google Shape;89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5550" y="1602148"/>
            <a:ext cx="4583414" cy="31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94"/>
          <p:cNvSpPr/>
          <p:nvPr/>
        </p:nvSpPr>
        <p:spPr>
          <a:xfrm>
            <a:off x="4793400" y="1916725"/>
            <a:ext cx="594900" cy="967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94"/>
          <p:cNvSpPr/>
          <p:nvPr/>
        </p:nvSpPr>
        <p:spPr>
          <a:xfrm>
            <a:off x="1797525" y="4562800"/>
            <a:ext cx="522000" cy="20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95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1" name="Google Shape;901;p95"/>
          <p:cNvSpPr txBox="1"/>
          <p:nvPr>
            <p:ph type="title"/>
          </p:nvPr>
        </p:nvSpPr>
        <p:spPr>
          <a:xfrm>
            <a:off x="1689369" y="769271"/>
            <a:ext cx="2466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Quiz</a:t>
            </a:r>
            <a:endParaRPr/>
          </a:p>
        </p:txBody>
      </p:sp>
      <p:sp>
        <p:nvSpPr>
          <p:cNvPr id="902" name="Google Shape;902;p95"/>
          <p:cNvSpPr/>
          <p:nvPr/>
        </p:nvSpPr>
        <p:spPr>
          <a:xfrm>
            <a:off x="812045" y="629598"/>
            <a:ext cx="1016100" cy="1016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3" name="Google Shape;903;p95"/>
          <p:cNvSpPr txBox="1"/>
          <p:nvPr/>
        </p:nvSpPr>
        <p:spPr>
          <a:xfrm>
            <a:off x="6144800" y="2589425"/>
            <a:ext cx="24009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Bagaimana merubah variable “tags” menjadi numerik 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04" name="Google Shape;90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200" y="2042321"/>
            <a:ext cx="5475099" cy="1878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