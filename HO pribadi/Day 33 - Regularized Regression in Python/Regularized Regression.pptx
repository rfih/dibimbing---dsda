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y="5143500" cx="9144000"/>
  <p:notesSz cx="6858000" cy="9144000"/>
  <p:embeddedFontLst>
    <p:embeddedFont>
      <p:font typeface="Proxima Nova"/>
      <p:regular r:id="rId70"/>
      <p:bold r:id="rId71"/>
      <p:italic r:id="rId72"/>
      <p:boldItalic r:id="rId73"/>
    </p:embeddedFont>
    <p:embeddedFont>
      <p:font typeface="Montserrat"/>
      <p:regular r:id="rId74"/>
      <p:bold r:id="rId75"/>
      <p:italic r:id="rId76"/>
      <p:boldItalic r:id="rId77"/>
    </p:embeddedFont>
    <p:embeddedFont>
      <p:font typeface="Poppins"/>
      <p:regular r:id="rId78"/>
      <p:bold r:id="rId79"/>
      <p:italic r:id="rId80"/>
      <p:boldItalic r:id="rId81"/>
    </p:embeddedFont>
    <p:embeddedFont>
      <p:font typeface="Poppins Medium"/>
      <p:regular r:id="rId82"/>
      <p:bold r:id="rId83"/>
      <p:italic r:id="rId84"/>
      <p:boldItalic r:id="rId85"/>
    </p:embeddedFont>
    <p:embeddedFont>
      <p:font typeface="Courier Prime"/>
      <p:regular r:id="rId86"/>
      <p:bold r:id="rId87"/>
      <p:italic r:id="rId88"/>
      <p:boldItalic r:id="rId8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0" roundtripDataSignature="AMtx7mikZnPtK+SPU3t5cVp1Q/z+6A4/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PoppinsMedium-italic.fntdata"/><Relationship Id="rId83" Type="http://schemas.openxmlformats.org/officeDocument/2006/relationships/font" Target="fonts/PoppinsMedium-bold.fntdata"/><Relationship Id="rId42" Type="http://schemas.openxmlformats.org/officeDocument/2006/relationships/slide" Target="slides/slide36.xml"/><Relationship Id="rId86" Type="http://schemas.openxmlformats.org/officeDocument/2006/relationships/font" Target="fonts/CourierPrime-regular.fntdata"/><Relationship Id="rId41" Type="http://schemas.openxmlformats.org/officeDocument/2006/relationships/slide" Target="slides/slide35.xml"/><Relationship Id="rId85" Type="http://schemas.openxmlformats.org/officeDocument/2006/relationships/font" Target="fonts/PoppinsMedium-boldItalic.fntdata"/><Relationship Id="rId44" Type="http://schemas.openxmlformats.org/officeDocument/2006/relationships/slide" Target="slides/slide38.xml"/><Relationship Id="rId88" Type="http://schemas.openxmlformats.org/officeDocument/2006/relationships/font" Target="fonts/CourierPrime-italic.fntdata"/><Relationship Id="rId43" Type="http://schemas.openxmlformats.org/officeDocument/2006/relationships/slide" Target="slides/slide37.xml"/><Relationship Id="rId87" Type="http://schemas.openxmlformats.org/officeDocument/2006/relationships/font" Target="fonts/CourierPrime-bold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font" Target="fonts/CourierPrime-boldItalic.fntdata"/><Relationship Id="rId80" Type="http://schemas.openxmlformats.org/officeDocument/2006/relationships/font" Target="fonts/Poppins-italic.fntdata"/><Relationship Id="rId82" Type="http://schemas.openxmlformats.org/officeDocument/2006/relationships/font" Target="fonts/PoppinsMedium-regular.fntdata"/><Relationship Id="rId81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ProximaNova-boldItalic.fntdata"/><Relationship Id="rId72" Type="http://schemas.openxmlformats.org/officeDocument/2006/relationships/font" Target="fonts/ProximaNova-italic.fntdata"/><Relationship Id="rId31" Type="http://schemas.openxmlformats.org/officeDocument/2006/relationships/slide" Target="slides/slide25.xml"/><Relationship Id="rId75" Type="http://schemas.openxmlformats.org/officeDocument/2006/relationships/font" Target="fonts/Montserrat-bold.fntdata"/><Relationship Id="rId30" Type="http://schemas.openxmlformats.org/officeDocument/2006/relationships/slide" Target="slides/slide24.xml"/><Relationship Id="rId74" Type="http://schemas.openxmlformats.org/officeDocument/2006/relationships/font" Target="fonts/Montserrat-regular.fntdata"/><Relationship Id="rId33" Type="http://schemas.openxmlformats.org/officeDocument/2006/relationships/slide" Target="slides/slide27.xml"/><Relationship Id="rId77" Type="http://schemas.openxmlformats.org/officeDocument/2006/relationships/font" Target="fonts/Montserrat-boldItalic.fntdata"/><Relationship Id="rId32" Type="http://schemas.openxmlformats.org/officeDocument/2006/relationships/slide" Target="slides/slide26.xml"/><Relationship Id="rId76" Type="http://schemas.openxmlformats.org/officeDocument/2006/relationships/font" Target="fonts/Montserrat-italic.fntdata"/><Relationship Id="rId35" Type="http://schemas.openxmlformats.org/officeDocument/2006/relationships/slide" Target="slides/slide29.xml"/><Relationship Id="rId79" Type="http://schemas.openxmlformats.org/officeDocument/2006/relationships/font" Target="fonts/Poppins-bold.fntdata"/><Relationship Id="rId34" Type="http://schemas.openxmlformats.org/officeDocument/2006/relationships/slide" Target="slides/slide28.xml"/><Relationship Id="rId78" Type="http://schemas.openxmlformats.org/officeDocument/2006/relationships/font" Target="fonts/Poppins-regular.fntdata"/><Relationship Id="rId71" Type="http://schemas.openxmlformats.org/officeDocument/2006/relationships/font" Target="fonts/ProximaNova-bold.fntdata"/><Relationship Id="rId70" Type="http://schemas.openxmlformats.org/officeDocument/2006/relationships/font" Target="fonts/ProximaNova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0" Type="http://customschemas.google.com/relationships/presentationmetadata" Target="meta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mukulranjan/how-does-lasso-regression-l1-encourage-zero-coefficients-but-not-the-l2-20e4893cba5d" TargetMode="External"/><Relationship Id="rId3" Type="http://schemas.openxmlformats.org/officeDocument/2006/relationships/hyperlink" Target="https://medium.datadriveninvestor.com/linear-regression-35f8a65d83b9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70014df6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38" name="Google Shape;138;g3170014df67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90193d37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190193d3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190193d37e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68" name="Google Shape;16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90193d37e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190193d37e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bacd218da_0_4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2bacd218da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2bacd218da_0_40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2bacd218da_0_4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2bacd218da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2bacd218da_0_4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bacd218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2bacd218da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bacd218da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2bacd218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2bacd218da_0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2bacd218da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2bacd218d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2bacd218da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2bacd218da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2bacd218d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2bacd218da_0_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2bacd218da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2bacd218d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2bacd218da_0_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2bacd218da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2bacd218d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2bacd218da_0_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2bacd218da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2bacd218d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2bacd218da_0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bacd218d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2bacd218da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55" name="Google Shape;355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65" name="Google Shape;365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78" name="Google Shape;378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eb5537442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6eb553744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6eb5537442_0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5ceeaac96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5ceeaac96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5ceeaac969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5ceeaac969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2bacd218da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2bacd218da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2"/>
              </a:rPr>
              <a:t>https://medium.com/@mukulranjan/how-does-lasso-regression-l1-encourage-zero-coefficients-but-not-the-l2-20e4893cba5d</a:t>
            </a:r>
            <a:r>
              <a:rPr lang="id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https://medium.datadriveninvestor.com/linear-regression-35f8a65d83b9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6eb55374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6eb553744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2bacd218da_0_2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2bacd218da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2bacd218da_0_2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2bacd218da_0_2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32bacd218da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2bacd218da_0_2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78" name="Google Shape;478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83" name="Google Shape;483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10" name="Google Shape;510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20" name="Google Shape;520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29" name="Google Shape;529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38" name="Google Shape;538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50" name="Google Shape;550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62" name="Google Shape;562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74" name="Google Shape;574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86" name="Google Shape;586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95" name="Google Shape;595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08" name="Google Shape;608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45" name="Google Shape;645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53" name="Google Shape;653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65" name="Google Shape;665;p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73" name="Google Shape;673;p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83" name="Google Shape;683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95" name="Google Shape;695;p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190193d37e_0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g3190193d37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3190193d37e_0_8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190193d37e_0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g3190193d37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g3190193d37e_0_1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25" name="Google Shape;725;p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32" name="Google Shape;732;p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43" name="Google Shape;743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58" name="Google Shape;758;p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63" name="Google Shape;763;p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2" name="Google Shape;772;p3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82" name="Google Shape;782;p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93" name="Google Shape;793;p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04" name="Google Shape;804;p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5ceeaac96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14" name="Google Shape;814;g35ceeaac96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5ceeaac969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5ceeaac96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5ceeaac969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5ceeaac969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5ceeaac969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5ceeaac969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" name="Google Shape;12;p4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4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2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3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" name="Google Shape;21;p43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2" name="Google Shape;22;p4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3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" name="Google Shape;27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" name="Google Shape;3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4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5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bacd218da_0_42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ontserrat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32bacd218da_0_429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6" name="Google Shape;76;g32bacd218da_0_4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g32bacd218da_0_4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32bacd218da_0_4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bacd218da_0_435"/>
          <p:cNvSpPr txBox="1"/>
          <p:nvPr>
            <p:ph type="title"/>
          </p:nvPr>
        </p:nvSpPr>
        <p:spPr>
          <a:xfrm>
            <a:off x="181942" y="159973"/>
            <a:ext cx="788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32bacd218da_0_43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g32bacd218da_0_43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g32bacd218da_0_43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g32bacd218da_0_43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32bacd218da_0_4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bacd218da_0_442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g32bacd218da_0_442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g32bacd218da_0_442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g32bacd218da_0_442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g32bacd218da_0_442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g32bacd218da_0_44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g32bacd218da_0_44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32bacd218da_0_4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bacd218da_0_451"/>
          <p:cNvSpPr txBox="1"/>
          <p:nvPr>
            <p:ph type="title"/>
          </p:nvPr>
        </p:nvSpPr>
        <p:spPr>
          <a:xfrm>
            <a:off x="181942" y="159973"/>
            <a:ext cx="788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g32bacd218da_0_45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g32bacd218da_0_45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32bacd218da_0_4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bacd218da_0_45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g32bacd218da_0_45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32bacd218da_0_4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bacd218da_0_46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32bacd218da_0_46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g32bacd218da_0_460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g32bacd218da_0_46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g32bacd218da_0_46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32bacd218da_0_4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bacd218da_0_46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32bacd218da_0_467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g32bacd218da_0_467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g32bacd218da_0_46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g32bacd218da_0_46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32bacd218da_0_4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bacd218da_0_474"/>
          <p:cNvSpPr txBox="1"/>
          <p:nvPr>
            <p:ph type="title"/>
          </p:nvPr>
        </p:nvSpPr>
        <p:spPr>
          <a:xfrm>
            <a:off x="181942" y="159973"/>
            <a:ext cx="788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32bacd218da_0_47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g32bacd218da_0_47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g32bacd218da_0_47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32bacd218da_0_4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bacd218da_0_480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32bacd218da_0_480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g32bacd218da_0_4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g32bacd218da_0_4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g32bacd218da_0_4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bacd218da_0_486"/>
          <p:cNvSpPr txBox="1"/>
          <p:nvPr>
            <p:ph type="title"/>
          </p:nvPr>
        </p:nvSpPr>
        <p:spPr>
          <a:xfrm>
            <a:off x="181942" y="159973"/>
            <a:ext cx="788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g32bacd218da_0_48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g32bacd218da_0_48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g32bacd218da_0_48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g32bacd218da_0_48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2bacd218da_0_422"/>
          <p:cNvSpPr/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chemeClr val="lt1">
              <a:alpha val="8941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2bacd218da_0_42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g32bacd218da_0_4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g32bacd218da_0_4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g32bacd218da_0_4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72" name="Google Shape;72;g32bacd218da_0_422"/>
          <p:cNvSpPr txBox="1"/>
          <p:nvPr>
            <p:ph type="title"/>
          </p:nvPr>
        </p:nvSpPr>
        <p:spPr>
          <a:xfrm>
            <a:off x="181942" y="159973"/>
            <a:ext cx="788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ontserrat"/>
              <a:buNone/>
              <a:defRPr b="1" i="0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2.jpg"/><Relationship Id="rId4" Type="http://schemas.openxmlformats.org/officeDocument/2006/relationships/hyperlink" Target="https://www.linkedin.com/in/arif-romadhan19/" TargetMode="External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30.png"/><Relationship Id="rId7" Type="http://schemas.openxmlformats.org/officeDocument/2006/relationships/image" Target="../media/image21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9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4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9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4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png"/><Relationship Id="rId4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4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png"/><Relationship Id="rId4" Type="http://schemas.openxmlformats.org/officeDocument/2006/relationships/image" Target="../media/image10.png"/><Relationship Id="rId5" Type="http://schemas.openxmlformats.org/officeDocument/2006/relationships/image" Target="../media/image6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1.png"/><Relationship Id="rId4" Type="http://schemas.openxmlformats.org/officeDocument/2006/relationships/image" Target="../media/image10.png"/><Relationship Id="rId5" Type="http://schemas.openxmlformats.org/officeDocument/2006/relationships/image" Target="../media/image6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png"/><Relationship Id="rId4" Type="http://schemas.openxmlformats.org/officeDocument/2006/relationships/image" Target="../media/image6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png"/><Relationship Id="rId4" Type="http://schemas.openxmlformats.org/officeDocument/2006/relationships/image" Target="../media/image5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2.png"/><Relationship Id="rId4" Type="http://schemas.openxmlformats.org/officeDocument/2006/relationships/image" Target="../media/image1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61.png"/><Relationship Id="rId6" Type="http://schemas.openxmlformats.org/officeDocument/2006/relationships/image" Target="../media/image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3.png"/><Relationship Id="rId4" Type="http://schemas.openxmlformats.org/officeDocument/2006/relationships/image" Target="../media/image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.png"/><Relationship Id="rId4" Type="http://schemas.openxmlformats.org/officeDocument/2006/relationships/hyperlink" Target="https://github.com/pararawendy/dibimbing-materials/blob/main/boston.csv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9.png"/><Relationship Id="rId4" Type="http://schemas.openxmlformats.org/officeDocument/2006/relationships/image" Target="../media/image7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3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g3170014df67_0_75"/>
          <p:cNvGrpSpPr/>
          <p:nvPr/>
        </p:nvGrpSpPr>
        <p:grpSpPr>
          <a:xfrm>
            <a:off x="0" y="0"/>
            <a:ext cx="3867150" cy="5143500"/>
            <a:chOff x="0" y="0"/>
            <a:chExt cx="7734300" cy="10287000"/>
          </a:xfrm>
        </p:grpSpPr>
        <p:sp>
          <p:nvSpPr>
            <p:cNvPr id="141" name="Google Shape;141;g3170014df67_0_75"/>
            <p:cNvSpPr/>
            <p:nvPr/>
          </p:nvSpPr>
          <p:spPr>
            <a:xfrm>
              <a:off x="0" y="0"/>
              <a:ext cx="7734300" cy="10287000"/>
            </a:xfrm>
            <a:custGeom>
              <a:rect b="b" l="l" r="r" t="t"/>
              <a:pathLst>
                <a:path extrusionOk="0" h="10287000" w="773430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170014df67_0_75"/>
            <p:cNvSpPr/>
            <p:nvPr/>
          </p:nvSpPr>
          <p:spPr>
            <a:xfrm>
              <a:off x="0" y="360200"/>
              <a:ext cx="7734300" cy="9918700"/>
            </a:xfrm>
            <a:custGeom>
              <a:rect b="b" l="l" r="r" t="t"/>
              <a:pathLst>
                <a:path extrusionOk="0" h="9918700" w="773430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170014df67_0_75"/>
            <p:cNvSpPr/>
            <p:nvPr/>
          </p:nvSpPr>
          <p:spPr>
            <a:xfrm>
              <a:off x="1181100" y="3733799"/>
              <a:ext cx="6553200" cy="6553200"/>
            </a:xfrm>
            <a:custGeom>
              <a:rect b="b" l="l" r="r" t="t"/>
              <a:pathLst>
                <a:path extrusionOk="0" h="6553200" w="655320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g3170014df67_0_75"/>
          <p:cNvSpPr txBox="1"/>
          <p:nvPr>
            <p:ph type="title"/>
          </p:nvPr>
        </p:nvSpPr>
        <p:spPr>
          <a:xfrm>
            <a:off x="4565650" y="798925"/>
            <a:ext cx="36435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4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5" name="Google Shape;145;g3170014df67_0_75"/>
          <p:cNvSpPr txBox="1"/>
          <p:nvPr>
            <p:ph idx="1" type="body"/>
          </p:nvPr>
        </p:nvSpPr>
        <p:spPr>
          <a:xfrm>
            <a:off x="4222725" y="658950"/>
            <a:ext cx="48294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50">
            <a:spAutoFit/>
          </a:bodyPr>
          <a:lstStyle/>
          <a:p>
            <a:pPr indent="0" lvl="0" marL="1270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/>
              <a:t>Bootcamp</a:t>
            </a:r>
            <a:endParaRPr sz="4400"/>
          </a:p>
          <a:p>
            <a:pPr indent="0" lvl="0" marL="1270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/>
              <a:t>Dibimbing.id</a:t>
            </a:r>
            <a:endParaRPr sz="4400"/>
          </a:p>
          <a:p>
            <a:pPr indent="0" lvl="0" marL="12700" marR="558800" rtl="0" algn="l">
              <a:lnSpc>
                <a:spcPct val="115199"/>
              </a:lnSpc>
              <a:spcBef>
                <a:spcPts val="2400"/>
              </a:spcBef>
              <a:spcAft>
                <a:spcPts val="0"/>
              </a:spcAft>
              <a:buSzPts val="700"/>
              <a:buNone/>
            </a:pPr>
            <a:r>
              <a:rPr b="0" lang="id" sz="3900">
                <a:latin typeface="Trebuchet MS"/>
                <a:ea typeface="Trebuchet MS"/>
                <a:cs typeface="Trebuchet MS"/>
                <a:sym typeface="Trebuchet MS"/>
              </a:rPr>
              <a:t>Python: </a:t>
            </a:r>
            <a:endParaRPr b="0" sz="3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5880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b="0" lang="id" sz="3900">
                <a:latin typeface="Trebuchet MS"/>
                <a:ea typeface="Trebuchet MS"/>
                <a:cs typeface="Trebuchet MS"/>
                <a:sym typeface="Trebuchet MS"/>
              </a:rPr>
              <a:t>Regression with Regularization</a:t>
            </a:r>
            <a:endParaRPr sz="3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6" name="Google Shape;146;g3170014df67_0_75"/>
          <p:cNvSpPr/>
          <p:nvPr/>
        </p:nvSpPr>
        <p:spPr>
          <a:xfrm>
            <a:off x="8209056" y="54566"/>
            <a:ext cx="843000" cy="81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170014df67_0_75"/>
          <p:cNvSpPr txBox="1"/>
          <p:nvPr/>
        </p:nvSpPr>
        <p:spPr>
          <a:xfrm>
            <a:off x="-827775" y="608450"/>
            <a:ext cx="407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190193d37e_0_0"/>
          <p:cNvPicPr preferRelativeResize="0"/>
          <p:nvPr/>
        </p:nvPicPr>
        <p:blipFill rotWithShape="1">
          <a:blip r:embed="rId3">
            <a:alphaModFix/>
          </a:blip>
          <a:srcRect b="0" l="14887" r="14887" t="0"/>
          <a:stretch/>
        </p:blipFill>
        <p:spPr>
          <a:xfrm>
            <a:off x="951413" y="1375896"/>
            <a:ext cx="1443000" cy="1541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4" name="Google Shape;154;g3190193d37e_0_0"/>
          <p:cNvSpPr/>
          <p:nvPr/>
        </p:nvSpPr>
        <p:spPr>
          <a:xfrm>
            <a:off x="875227" y="3200400"/>
            <a:ext cx="183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Arif Romadhan</a:t>
            </a:r>
            <a:endParaRPr b="1" i="0" sz="14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g3190193d37e_0_0"/>
          <p:cNvSpPr/>
          <p:nvPr/>
        </p:nvSpPr>
        <p:spPr>
          <a:xfrm>
            <a:off x="120950" y="4155275"/>
            <a:ext cx="40362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id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Linkedin	: </a:t>
            </a:r>
            <a:r>
              <a:rPr lang="id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https://www.linkedin.com/in/arif-romadhan19/</a:t>
            </a:r>
            <a:endParaRPr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3190193d37e_0_0"/>
          <p:cNvSpPr/>
          <p:nvPr/>
        </p:nvSpPr>
        <p:spPr>
          <a:xfrm>
            <a:off x="5353125" y="154650"/>
            <a:ext cx="3700500" cy="4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id" sz="1400">
                <a:latin typeface="Montserrat"/>
                <a:ea typeface="Montserrat"/>
                <a:cs typeface="Montserrat"/>
                <a:sym typeface="Montserrat"/>
              </a:rPr>
              <a:t>PT Cakra Syntesis Indonesia 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id" sz="1400">
                <a:latin typeface="Montserrat"/>
                <a:ea typeface="Montserrat"/>
                <a:cs typeface="Montserrat"/>
                <a:sym typeface="Montserrat"/>
              </a:rPr>
              <a:t>Android Developer </a:t>
            </a:r>
            <a:r>
              <a:rPr b="0" i="0" lang="id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(201</a:t>
            </a:r>
            <a:r>
              <a:rPr lang="id" sz="1400"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id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Nawatech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Jr. ML Engineer (2017)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Bukalapak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(2018 - 2020)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Instructor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(Sept 2020 - Nov2020)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Instructor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(2021 - 2021)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Evermos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Sr. </a:t>
            </a:r>
            <a:r>
              <a:rPr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- Data </a:t>
            </a:r>
            <a:r>
              <a:rPr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Lead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(2021 - present)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Instructor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(2021- present)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7" name="Google Shape;157;g3190193d37e_0_0"/>
          <p:cNvPicPr preferRelativeResize="0"/>
          <p:nvPr/>
        </p:nvPicPr>
        <p:blipFill rotWithShape="1">
          <a:blip r:embed="rId5">
            <a:alphaModFix/>
          </a:blip>
          <a:srcRect b="12244" l="0" r="0" t="14079"/>
          <a:stretch/>
        </p:blipFill>
        <p:spPr>
          <a:xfrm>
            <a:off x="4671213" y="1619713"/>
            <a:ext cx="689694" cy="5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190193d37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37525" y="1095725"/>
            <a:ext cx="1443000" cy="384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190193d37e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1213" y="308525"/>
            <a:ext cx="689700" cy="68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190193d37e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92738" y="3613800"/>
            <a:ext cx="559802" cy="5598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190193d37e_0_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190193d37e_0_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01262" y="2228888"/>
            <a:ext cx="829615" cy="50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190193d37e_0_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76663" y="4366599"/>
            <a:ext cx="991964" cy="3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190193d37e_0_0"/>
          <p:cNvSpPr txBox="1"/>
          <p:nvPr/>
        </p:nvSpPr>
        <p:spPr>
          <a:xfrm>
            <a:off x="323850" y="381000"/>
            <a:ext cx="35742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id" sz="3600">
                <a:solidFill>
                  <a:srgbClr val="EF8A33"/>
                </a:solidFill>
                <a:latin typeface="Montserrat"/>
                <a:ea typeface="Montserrat"/>
                <a:cs typeface="Montserrat"/>
                <a:sym typeface="Montserrat"/>
              </a:rPr>
              <a:t>Trainer Bio</a:t>
            </a:r>
            <a:endParaRPr b="1" sz="3600">
              <a:solidFill>
                <a:srgbClr val="EF8A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" name="Google Shape;165;g3190193d37e_0_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91825" y="2838075"/>
            <a:ext cx="1288704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3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171" name="Google Shape;171;p3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3"/>
          <p:cNvSpPr txBox="1"/>
          <p:nvPr>
            <p:ph type="title"/>
          </p:nvPr>
        </p:nvSpPr>
        <p:spPr>
          <a:xfrm>
            <a:off x="4733574" y="1391613"/>
            <a:ext cx="2930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spAutoFit/>
          </a:bodyPr>
          <a:lstStyle/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200">
                <a:solidFill>
                  <a:srgbClr val="262626"/>
                </a:solidFill>
              </a:rPr>
              <a:t>Outline</a:t>
            </a:r>
            <a:endParaRPr sz="3200"/>
          </a:p>
        </p:txBody>
      </p:sp>
      <p:sp>
        <p:nvSpPr>
          <p:cNvPr id="175" name="Google Shape;175;p3"/>
          <p:cNvSpPr txBox="1"/>
          <p:nvPr/>
        </p:nvSpPr>
        <p:spPr>
          <a:xfrm>
            <a:off x="4733575" y="1978813"/>
            <a:ext cx="3590700" cy="17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-1968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●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Bias-Variance Trade-Off in ML Models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68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●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Regularization in Linear Regression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68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●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Ridge Regression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68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●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LASSO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68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●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Choosing the best regularization parameter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68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●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Assignment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4"/>
          <p:cNvGrpSpPr/>
          <p:nvPr/>
        </p:nvGrpSpPr>
        <p:grpSpPr>
          <a:xfrm>
            <a:off x="0" y="2"/>
            <a:ext cx="9144000" cy="2081215"/>
            <a:chOff x="0" y="5"/>
            <a:chExt cx="18288000" cy="4162430"/>
          </a:xfrm>
        </p:grpSpPr>
        <p:sp>
          <p:nvSpPr>
            <p:cNvPr id="182" name="Google Shape;182;p4"/>
            <p:cNvSpPr/>
            <p:nvPr/>
          </p:nvSpPr>
          <p:spPr>
            <a:xfrm>
              <a:off x="0" y="5"/>
              <a:ext cx="18288000" cy="4162425"/>
            </a:xfrm>
            <a:custGeom>
              <a:rect b="b" l="l" r="r" t="t"/>
              <a:pathLst>
                <a:path extrusionOk="0" h="4162425" w="1828800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14123883" y="10"/>
              <a:ext cx="4162425" cy="4162425"/>
            </a:xfrm>
            <a:custGeom>
              <a:rect b="b" l="l" r="r" t="t"/>
              <a:pathLst>
                <a:path extrusionOk="0" h="4162425" w="4162425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4"/>
          <p:cNvSpPr txBox="1"/>
          <p:nvPr>
            <p:ph type="title"/>
          </p:nvPr>
        </p:nvSpPr>
        <p:spPr>
          <a:xfrm>
            <a:off x="508000" y="640675"/>
            <a:ext cx="55050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latin typeface="Georgia"/>
                <a:ea typeface="Georgia"/>
                <a:cs typeface="Georgia"/>
                <a:sym typeface="Georgia"/>
              </a:rPr>
              <a:t>Bias &amp; Variance in ML Models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974575" y="2025713"/>
            <a:ext cx="1759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id" sz="9600" u="none" cap="none" strike="noStrike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i="0" sz="9600" u="none" cap="none" strike="noStrike">
              <a:solidFill>
                <a:srgbClr val="CCCCC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1389500" y="2690125"/>
            <a:ext cx="237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Bias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1242778" y="3338600"/>
            <a:ext cx="33291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</a:t>
            </a:r>
            <a:r>
              <a:rPr b="1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systematically deviates </a:t>
            </a: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from the true data pattern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i.e. discrepancy between average model  prediction and ground truth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1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bias</a:t>
            </a: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is usually associated with </a:t>
            </a:r>
            <a:r>
              <a:rPr b="1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underfitting</a:t>
            </a:r>
            <a:endParaRPr b="1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5084950" y="2025713"/>
            <a:ext cx="1759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id" sz="9600" u="none" cap="none" strike="noStrike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i="0" sz="9600" u="none" cap="none" strike="noStrike">
              <a:solidFill>
                <a:srgbClr val="CCCCC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5499875" y="2690125"/>
            <a:ext cx="313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Variance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5367423" y="3338600"/>
            <a:ext cx="34428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1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Variability in the model prediction</a:t>
            </a:r>
            <a:endParaRPr b="1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i.e. small change on the data, leads to significant change on the model output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1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variance</a:t>
            </a: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is usually associated with </a:t>
            </a:r>
            <a:r>
              <a:rPr b="1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overfitting</a:t>
            </a:r>
            <a:endParaRPr b="1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6775" y="7325"/>
            <a:ext cx="4565100" cy="5143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-1317650" y="3866675"/>
            <a:ext cx="2594100" cy="2309700"/>
          </a:xfrm>
          <a:prstGeom prst="frame">
            <a:avLst>
              <a:gd fmla="val 20769" name="adj1"/>
            </a:avLst>
          </a:prstGeom>
          <a:solidFill>
            <a:srgbClr val="FFD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789325" y="312350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id" sz="3400" u="none" cap="none" strike="noStrike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Underfitting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5361325" y="312350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id" sz="3400" u="none" cap="none" strike="noStrike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Overfitting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935700" y="2291750"/>
            <a:ext cx="7272600" cy="2771700"/>
          </a:xfrm>
          <a:prstGeom prst="roundRect">
            <a:avLst>
              <a:gd fmla="val 559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739125" y="957750"/>
            <a:ext cx="3684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Overly-simplified model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Indication: high error (evaluation metrics) on both train and test data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5293389" y="957750"/>
            <a:ext cx="3684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Overly-complex model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modeling the noise, instead of the true pattern of the data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Indication: </a:t>
            </a:r>
            <a:r>
              <a:rPr b="1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training error, </a:t>
            </a:r>
            <a:r>
              <a:rPr b="1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 error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3681" y="2365463"/>
            <a:ext cx="7234857" cy="2592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 txBox="1"/>
          <p:nvPr>
            <p:ph type="title"/>
          </p:nvPr>
        </p:nvSpPr>
        <p:spPr>
          <a:xfrm>
            <a:off x="508000" y="463575"/>
            <a:ext cx="84885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Bias &amp; Variance Illustration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508000" y="1149375"/>
            <a:ext cx="6381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Remember the concepts via dart board pictures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4991" y="1401975"/>
            <a:ext cx="3754008" cy="37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 txBox="1"/>
          <p:nvPr>
            <p:ph type="title"/>
          </p:nvPr>
        </p:nvSpPr>
        <p:spPr>
          <a:xfrm>
            <a:off x="508000" y="463575"/>
            <a:ext cx="84885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Bias-Variance Trade-Off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We want the sweet-spot between the two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102700" y="1532775"/>
            <a:ext cx="43038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sources of model error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80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endParaRPr b="0" i="0" sz="14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80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endParaRPr b="0" i="0" sz="1400" u="none" cap="none" strike="noStrike"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80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Irreducible error (inherent noise)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6625" y="1361799"/>
            <a:ext cx="4696948" cy="30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 txBox="1"/>
          <p:nvPr/>
        </p:nvSpPr>
        <p:spPr>
          <a:xfrm>
            <a:off x="4203500" y="4269975"/>
            <a:ext cx="14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model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7708700" y="4269975"/>
            <a:ext cx="14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model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7"/>
          <p:cNvCxnSpPr/>
          <p:nvPr/>
        </p:nvCxnSpPr>
        <p:spPr>
          <a:xfrm>
            <a:off x="5584400" y="4470075"/>
            <a:ext cx="2048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>
            <p:ph type="title"/>
          </p:nvPr>
        </p:nvSpPr>
        <p:spPr>
          <a:xfrm>
            <a:off x="508000" y="463575"/>
            <a:ext cx="84885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Bias-Variance Trade-Off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We want the sweet-spot between the two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102700" y="1532775"/>
            <a:ext cx="4303800" cy="3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sources of model error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80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endParaRPr b="0" i="0" sz="14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80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endParaRPr b="0" i="0" sz="1400" u="none" cap="none" strike="noStrike"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80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Irreducible error (inherent noise)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Therefore, we 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80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</a:t>
            </a:r>
            <a:r>
              <a:rPr b="0" i="0" lang="id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bias 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increasing </a:t>
            </a:r>
            <a:r>
              <a:rPr b="0" i="0" lang="id" sz="1400" u="none" cap="none" strike="noStrike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endParaRPr b="0" i="0" sz="1400" u="none" cap="none" strike="noStrike"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E.g. use more complex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80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</a:t>
            </a:r>
            <a:r>
              <a:rPr b="0" i="0" lang="id" sz="1400" u="none" cap="none" strike="noStrike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increasing </a:t>
            </a:r>
            <a:r>
              <a:rPr b="0" i="0" lang="id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endParaRPr b="0" i="0" sz="14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E.g. use simpler model, including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with regularization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ideal state is to find the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 between bias and variance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minimum model error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6625" y="1361799"/>
            <a:ext cx="4696948" cy="30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 txBox="1"/>
          <p:nvPr/>
        </p:nvSpPr>
        <p:spPr>
          <a:xfrm>
            <a:off x="4203500" y="4269975"/>
            <a:ext cx="14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model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7708700" y="4269975"/>
            <a:ext cx="14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model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8"/>
          <p:cNvCxnSpPr/>
          <p:nvPr/>
        </p:nvCxnSpPr>
        <p:spPr>
          <a:xfrm>
            <a:off x="5584400" y="4470075"/>
            <a:ext cx="2048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90193d37e_0_246"/>
          <p:cNvSpPr txBox="1"/>
          <p:nvPr>
            <p:ph type="title"/>
          </p:nvPr>
        </p:nvSpPr>
        <p:spPr>
          <a:xfrm>
            <a:off x="4491879" y="356866"/>
            <a:ext cx="4294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g3190193d37e_0_2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457200"/>
            <a:ext cx="4187079" cy="419237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190193d37e_0_246"/>
          <p:cNvSpPr/>
          <p:nvPr/>
        </p:nvSpPr>
        <p:spPr>
          <a:xfrm>
            <a:off x="5242250" y="1334250"/>
            <a:ext cx="3397200" cy="22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00"/>
              <a:t>General Impact di setiap kasus</a:t>
            </a:r>
            <a:endParaRPr b="1" sz="1700"/>
          </a:p>
        </p:txBody>
      </p:sp>
      <p:sp>
        <p:nvSpPr>
          <p:cNvPr id="244" name="Google Shape;244;g3190193d37e_0_246"/>
          <p:cNvSpPr/>
          <p:nvPr/>
        </p:nvSpPr>
        <p:spPr>
          <a:xfrm>
            <a:off x="858475" y="4248350"/>
            <a:ext cx="4294200" cy="46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190193d37e_0_24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9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2bacd218da_0_409"/>
          <p:cNvSpPr txBox="1"/>
          <p:nvPr/>
        </p:nvSpPr>
        <p:spPr>
          <a:xfrm>
            <a:off x="628650" y="457200"/>
            <a:ext cx="73743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chemeClr val="dk1"/>
                </a:solidFill>
              </a:rPr>
              <a:t>Simple</a:t>
            </a:r>
            <a:r>
              <a:rPr b="1" lang="id" sz="2900">
                <a:solidFill>
                  <a:schemeClr val="dk1"/>
                </a:solidFill>
              </a:rPr>
              <a:t> Linear Regression</a:t>
            </a:r>
            <a:endParaRPr sz="4200">
              <a:solidFill>
                <a:schemeClr val="dk1"/>
              </a:solidFill>
            </a:endParaRPr>
          </a:p>
        </p:txBody>
      </p:sp>
      <p:grpSp>
        <p:nvGrpSpPr>
          <p:cNvPr id="258" name="Google Shape;258;g32bacd218da_0_409"/>
          <p:cNvGrpSpPr/>
          <p:nvPr/>
        </p:nvGrpSpPr>
        <p:grpSpPr>
          <a:xfrm>
            <a:off x="691199" y="1814981"/>
            <a:ext cx="4810103" cy="2424095"/>
            <a:chOff x="3604437" y="962305"/>
            <a:chExt cx="5214769" cy="2592060"/>
          </a:xfrm>
        </p:grpSpPr>
        <p:pic>
          <p:nvPicPr>
            <p:cNvPr id="259" name="Google Shape;259;g32bacd218da_0_4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74115" y="962305"/>
              <a:ext cx="3797084" cy="25920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g32bacd218da_0_409"/>
            <p:cNvSpPr txBox="1"/>
            <p:nvPr/>
          </p:nvSpPr>
          <p:spPr>
            <a:xfrm>
              <a:off x="8060506" y="1504472"/>
              <a:ext cx="758700" cy="430800"/>
            </a:xfrm>
            <a:prstGeom prst="rect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id" sz="800" u="none" cap="none" strike="noStrik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Slope 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id" sz="800" u="none" cap="none" strike="noStrik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= 0.1098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32bacd218da_0_409"/>
            <p:cNvSpPr txBox="1"/>
            <p:nvPr/>
          </p:nvSpPr>
          <p:spPr>
            <a:xfrm>
              <a:off x="3604437" y="2691302"/>
              <a:ext cx="869700" cy="430800"/>
            </a:xfrm>
            <a:prstGeom prst="rect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id" sz="800" u="none" cap="none" strike="noStrik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Intercept 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id" sz="800" u="none" cap="none" strike="noStrik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= 98.2483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2" name="Google Shape;262;g32bacd218da_0_409"/>
            <p:cNvCxnSpPr/>
            <p:nvPr/>
          </p:nvCxnSpPr>
          <p:spPr>
            <a:xfrm flipH="1" rot="10800000">
              <a:off x="4474115" y="2738885"/>
              <a:ext cx="608100" cy="163800"/>
            </a:xfrm>
            <a:prstGeom prst="bentConnector3">
              <a:avLst>
                <a:gd fmla="val 372710" name="adj1"/>
              </a:avLst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3" name="Google Shape;263;g32bacd218da_0_409"/>
            <p:cNvCxnSpPr/>
            <p:nvPr/>
          </p:nvCxnSpPr>
          <p:spPr>
            <a:xfrm rot="10800000">
              <a:off x="7776095" y="1233258"/>
              <a:ext cx="284700" cy="25530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264" name="Google Shape;264;g32bacd218da_0_4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8242" y="1560656"/>
            <a:ext cx="2835094" cy="757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2bacd218da_0_4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8253" y="2658788"/>
            <a:ext cx="2944864" cy="75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2bacd218da_0_492"/>
          <p:cNvSpPr txBox="1"/>
          <p:nvPr/>
        </p:nvSpPr>
        <p:spPr>
          <a:xfrm>
            <a:off x="628650" y="457200"/>
            <a:ext cx="73743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chemeClr val="dk1"/>
                </a:solidFill>
              </a:rPr>
              <a:t>Multivariate Linear Regression</a:t>
            </a:r>
            <a:endParaRPr b="1" sz="2900">
              <a:solidFill>
                <a:schemeClr val="dk1"/>
              </a:solidFill>
            </a:endParaRPr>
          </a:p>
        </p:txBody>
      </p:sp>
      <p:grpSp>
        <p:nvGrpSpPr>
          <p:cNvPr id="272" name="Google Shape;272;g32bacd218da_0_492"/>
          <p:cNvGrpSpPr/>
          <p:nvPr/>
        </p:nvGrpSpPr>
        <p:grpSpPr>
          <a:xfrm>
            <a:off x="649799" y="1243051"/>
            <a:ext cx="5748281" cy="3295405"/>
            <a:chOff x="942599" y="1505001"/>
            <a:chExt cx="7664375" cy="4393873"/>
          </a:xfrm>
        </p:grpSpPr>
        <p:pic>
          <p:nvPicPr>
            <p:cNvPr id="273" name="Google Shape;273;g32bacd218da_0_4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2599" y="1505001"/>
              <a:ext cx="7664375" cy="43938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g32bacd218da_0_492"/>
            <p:cNvSpPr/>
            <p:nvPr/>
          </p:nvSpPr>
          <p:spPr>
            <a:xfrm>
              <a:off x="1031225" y="2250200"/>
              <a:ext cx="2589000" cy="81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g32bacd218da_0_492"/>
          <p:cNvSpPr txBox="1"/>
          <p:nvPr/>
        </p:nvSpPr>
        <p:spPr>
          <a:xfrm>
            <a:off x="752756" y="1419113"/>
            <a:ext cx="18696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>
                <a:latin typeface="Montserrat"/>
                <a:ea typeface="Montserrat"/>
                <a:cs typeface="Montserrat"/>
                <a:sym typeface="Montserrat"/>
              </a:rPr>
              <a:t>Data point tersebar diatas atau dibawah plane yang terbentuk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g32bacd218da_0_492"/>
          <p:cNvSpPr txBox="1"/>
          <p:nvPr/>
        </p:nvSpPr>
        <p:spPr>
          <a:xfrm>
            <a:off x="6583331" y="1096106"/>
            <a:ext cx="2344500" cy="122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>
                <a:highlight>
                  <a:srgbClr val="F4CCCC"/>
                </a:highlight>
                <a:latin typeface="Montserrat"/>
                <a:ea typeface="Montserrat"/>
                <a:cs typeface="Montserrat"/>
                <a:sym typeface="Montserrat"/>
              </a:rPr>
              <a:t>Kalau di 2D, kita mengenal istilah garis, di lebih dari 2D, kita menggunakan istilah </a:t>
            </a:r>
            <a:r>
              <a:rPr i="1" lang="id" sz="1400">
                <a:highlight>
                  <a:srgbClr val="F4CCCC"/>
                </a:highlight>
                <a:latin typeface="Montserrat"/>
                <a:ea typeface="Montserrat"/>
                <a:cs typeface="Montserrat"/>
                <a:sym typeface="Montserrat"/>
              </a:rPr>
              <a:t>plane</a:t>
            </a:r>
            <a:endParaRPr b="1" i="1" sz="1400">
              <a:highlight>
                <a:srgbClr val="F4CCCC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7" name="Google Shape;277;g32bacd218da_0_4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7994" y="4119487"/>
            <a:ext cx="4721288" cy="102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bacd218da_0_1"/>
          <p:cNvSpPr txBox="1"/>
          <p:nvPr/>
        </p:nvSpPr>
        <p:spPr>
          <a:xfrm>
            <a:off x="3444386" y="1846385"/>
            <a:ext cx="2314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2bacd218da_0_1"/>
          <p:cNvSpPr txBox="1"/>
          <p:nvPr/>
        </p:nvSpPr>
        <p:spPr>
          <a:xfrm>
            <a:off x="648375" y="1505344"/>
            <a:ext cx="7924200" cy="19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5700">
                <a:solidFill>
                  <a:schemeClr val="dk1"/>
                </a:solidFill>
              </a:rPr>
              <a:t>Sebuah kasus:</a:t>
            </a:r>
            <a:endParaRPr b="1" sz="5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2900">
                <a:solidFill>
                  <a:schemeClr val="dk1"/>
                </a:solidFill>
              </a:rPr>
              <a:t>Bagaimana jika kita hanya mempunyai sedikit data untuk training?</a:t>
            </a:r>
            <a:endParaRPr b="1" sz="2900">
              <a:solidFill>
                <a:schemeClr val="dk1"/>
              </a:solidFill>
            </a:endParaRPr>
          </a:p>
        </p:txBody>
      </p:sp>
      <p:sp>
        <p:nvSpPr>
          <p:cNvPr id="284" name="Google Shape;284;g32bacd218da_0_1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2bacd218da_0_6"/>
          <p:cNvSpPr txBox="1"/>
          <p:nvPr/>
        </p:nvSpPr>
        <p:spPr>
          <a:xfrm>
            <a:off x="628650" y="572200"/>
            <a:ext cx="81615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300">
                <a:solidFill>
                  <a:schemeClr val="dk1"/>
                </a:solidFill>
              </a:rPr>
              <a:t>Untuk mengingat, ini adalah hasil dari Linear Regresi</a:t>
            </a:r>
            <a:endParaRPr b="1" sz="3500">
              <a:solidFill>
                <a:srgbClr val="3E858A"/>
              </a:solidFill>
            </a:endParaRPr>
          </a:p>
        </p:txBody>
      </p:sp>
      <p:pic>
        <p:nvPicPr>
          <p:cNvPr id="291" name="Google Shape;291;g32bacd218da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097" y="1574981"/>
            <a:ext cx="4490907" cy="315418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32bacd218da_0_6"/>
          <p:cNvSpPr txBox="1"/>
          <p:nvPr/>
        </p:nvSpPr>
        <p:spPr>
          <a:xfrm>
            <a:off x="3024413" y="4677863"/>
            <a:ext cx="1195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Weight </a:t>
            </a:r>
            <a:endParaRPr sz="1100"/>
          </a:p>
        </p:txBody>
      </p:sp>
      <p:sp>
        <p:nvSpPr>
          <p:cNvPr id="293" name="Google Shape;293;g32bacd218da_0_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bacd218da_0_13"/>
          <p:cNvSpPr txBox="1"/>
          <p:nvPr/>
        </p:nvSpPr>
        <p:spPr>
          <a:xfrm>
            <a:off x="628650" y="572194"/>
            <a:ext cx="73743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300">
                <a:solidFill>
                  <a:schemeClr val="dk1"/>
                </a:solidFill>
              </a:rPr>
              <a:t>Nah, bagaimana jika kita hanya mempunyai 2 data point saja untuk membuat garis linear?</a:t>
            </a:r>
            <a:endParaRPr b="1" sz="3500">
              <a:solidFill>
                <a:srgbClr val="3E858A"/>
              </a:solidFill>
            </a:endParaRPr>
          </a:p>
        </p:txBody>
      </p:sp>
      <p:pic>
        <p:nvPicPr>
          <p:cNvPr id="300" name="Google Shape;300;g32bacd218da_0_13"/>
          <p:cNvPicPr preferRelativeResize="0"/>
          <p:nvPr/>
        </p:nvPicPr>
        <p:blipFill rotWithShape="1">
          <a:blip r:embed="rId3">
            <a:alphaModFix/>
          </a:blip>
          <a:srcRect b="5033" l="0" r="0" t="0"/>
          <a:stretch/>
        </p:blipFill>
        <p:spPr>
          <a:xfrm>
            <a:off x="1532400" y="1636464"/>
            <a:ext cx="4250251" cy="328201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2bacd218da_0_13"/>
          <p:cNvSpPr txBox="1"/>
          <p:nvPr/>
        </p:nvSpPr>
        <p:spPr>
          <a:xfrm>
            <a:off x="3367313" y="4792163"/>
            <a:ext cx="1195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Weight </a:t>
            </a:r>
            <a:endParaRPr sz="1100"/>
          </a:p>
        </p:txBody>
      </p:sp>
      <p:sp>
        <p:nvSpPr>
          <p:cNvPr id="302" name="Google Shape;302;g32bacd218da_0_1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2bacd218da_0_20"/>
          <p:cNvSpPr txBox="1"/>
          <p:nvPr/>
        </p:nvSpPr>
        <p:spPr>
          <a:xfrm>
            <a:off x="628650" y="572194"/>
            <a:ext cx="73743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300">
                <a:solidFill>
                  <a:schemeClr val="dk1"/>
                </a:solidFill>
              </a:rPr>
              <a:t>Nah, bagaimana jika kita hanya mempunyai 2 data point saja untuk membuat garis linear?</a:t>
            </a:r>
            <a:endParaRPr b="1" sz="3500">
              <a:solidFill>
                <a:srgbClr val="3E858A"/>
              </a:solidFill>
            </a:endParaRPr>
          </a:p>
        </p:txBody>
      </p:sp>
      <p:grpSp>
        <p:nvGrpSpPr>
          <p:cNvPr id="309" name="Google Shape;309;g32bacd218da_0_20"/>
          <p:cNvGrpSpPr/>
          <p:nvPr/>
        </p:nvGrpSpPr>
        <p:grpSpPr>
          <a:xfrm>
            <a:off x="1505100" y="1616044"/>
            <a:ext cx="5258700" cy="3035831"/>
            <a:chOff x="2006800" y="2154725"/>
            <a:chExt cx="7011600" cy="4047775"/>
          </a:xfrm>
        </p:grpSpPr>
        <p:pic>
          <p:nvPicPr>
            <p:cNvPr id="310" name="Google Shape;310;g32bacd218da_0_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06800" y="2154725"/>
              <a:ext cx="7011600" cy="4047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g32bacd218da_0_20"/>
            <p:cNvSpPr/>
            <p:nvPr/>
          </p:nvSpPr>
          <p:spPr>
            <a:xfrm>
              <a:off x="5231400" y="3296800"/>
              <a:ext cx="3759300" cy="136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g32bacd218da_0_20"/>
          <p:cNvSpPr txBox="1"/>
          <p:nvPr/>
        </p:nvSpPr>
        <p:spPr>
          <a:xfrm>
            <a:off x="4037852" y="2333473"/>
            <a:ext cx="3264300" cy="14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id" sz="1500">
                <a:solidFill>
                  <a:srgbClr val="FF0000"/>
                </a:solidFill>
              </a:rPr>
              <a:t>Garis linear yang baru</a:t>
            </a:r>
            <a:r>
              <a:rPr lang="id" sz="1500">
                <a:solidFill>
                  <a:schemeClr val="dk1"/>
                </a:solidFill>
              </a:rPr>
              <a:t> overlap pada kedua data point yang ada. sehingga total jaraknya = 0.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" sz="1500">
                <a:solidFill>
                  <a:schemeClr val="dk1"/>
                </a:solidFill>
              </a:rPr>
              <a:t>sounds good in the first place, huh?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13" name="Google Shape;313;g32bacd218da_0_20"/>
          <p:cNvSpPr txBox="1"/>
          <p:nvPr/>
        </p:nvSpPr>
        <p:spPr>
          <a:xfrm>
            <a:off x="3138713" y="4563563"/>
            <a:ext cx="1195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Weight </a:t>
            </a:r>
            <a:endParaRPr sz="1100"/>
          </a:p>
        </p:txBody>
      </p:sp>
      <p:sp>
        <p:nvSpPr>
          <p:cNvPr id="314" name="Google Shape;314;g32bacd218da_0_2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g32bacd218da_0_40"/>
          <p:cNvPicPr preferRelativeResize="0"/>
          <p:nvPr/>
        </p:nvPicPr>
        <p:blipFill rotWithShape="1">
          <a:blip r:embed="rId3">
            <a:alphaModFix/>
          </a:blip>
          <a:srcRect b="2438" l="0" r="0" t="19399"/>
          <a:stretch/>
        </p:blipFill>
        <p:spPr>
          <a:xfrm>
            <a:off x="1511681" y="1523138"/>
            <a:ext cx="3799537" cy="260503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2bacd218da_0_40"/>
          <p:cNvSpPr txBox="1"/>
          <p:nvPr/>
        </p:nvSpPr>
        <p:spPr>
          <a:xfrm>
            <a:off x="4494188" y="2569266"/>
            <a:ext cx="2795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/>
              <a:t>Total jarak antara </a:t>
            </a:r>
            <a:r>
              <a:rPr b="1" lang="id" sz="1400">
                <a:solidFill>
                  <a:srgbClr val="FF0000"/>
                </a:solidFill>
              </a:rPr>
              <a:t>2 data point</a:t>
            </a:r>
            <a:r>
              <a:rPr lang="id" sz="1400"/>
              <a:t> pada </a:t>
            </a:r>
            <a:r>
              <a:rPr b="1" lang="id" sz="1400">
                <a:solidFill>
                  <a:srgbClr val="FF0000"/>
                </a:solidFill>
              </a:rPr>
              <a:t>data training</a:t>
            </a:r>
            <a:r>
              <a:rPr lang="id" sz="1400"/>
              <a:t> sangat kecil, pada kasus ini adalah 0</a:t>
            </a:r>
            <a:endParaRPr sz="1400"/>
          </a:p>
        </p:txBody>
      </p:sp>
      <p:sp>
        <p:nvSpPr>
          <p:cNvPr id="322" name="Google Shape;322;g32bacd218da_0_40"/>
          <p:cNvSpPr txBox="1"/>
          <p:nvPr/>
        </p:nvSpPr>
        <p:spPr>
          <a:xfrm>
            <a:off x="1395206" y="395738"/>
            <a:ext cx="43353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/>
              <a:t>Jika </a:t>
            </a:r>
            <a:r>
              <a:rPr b="1" lang="id" sz="1400">
                <a:solidFill>
                  <a:srgbClr val="FF0000"/>
                </a:solidFill>
              </a:rPr>
              <a:t>data point merah</a:t>
            </a:r>
            <a:r>
              <a:rPr lang="id" sz="1400"/>
              <a:t> adalah </a:t>
            </a:r>
            <a:r>
              <a:rPr b="1" lang="id" sz="1400">
                <a:solidFill>
                  <a:srgbClr val="FF0000"/>
                </a:solidFill>
              </a:rPr>
              <a:t>data training</a:t>
            </a:r>
            <a:r>
              <a:rPr lang="id" sz="1400"/>
              <a:t>, dan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rgbClr val="6AA84F"/>
                </a:solidFill>
              </a:rPr>
              <a:t>data point hijau</a:t>
            </a:r>
            <a:r>
              <a:rPr lang="id" sz="1400"/>
              <a:t> adalah </a:t>
            </a:r>
            <a:r>
              <a:rPr b="1" lang="id" sz="1400">
                <a:solidFill>
                  <a:srgbClr val="6AA84F"/>
                </a:solidFill>
              </a:rPr>
              <a:t>data testing</a:t>
            </a:r>
            <a:r>
              <a:rPr lang="id" sz="1400"/>
              <a:t>,</a:t>
            </a:r>
            <a:endParaRPr sz="1400"/>
          </a:p>
        </p:txBody>
      </p:sp>
      <p:sp>
        <p:nvSpPr>
          <p:cNvPr id="323" name="Google Shape;323;g32bacd218da_0_40"/>
          <p:cNvSpPr txBox="1"/>
          <p:nvPr/>
        </p:nvSpPr>
        <p:spPr>
          <a:xfrm>
            <a:off x="2910113" y="4106363"/>
            <a:ext cx="1195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Weight </a:t>
            </a:r>
            <a:endParaRPr sz="1100"/>
          </a:p>
        </p:txBody>
      </p:sp>
      <p:sp>
        <p:nvSpPr>
          <p:cNvPr id="324" name="Google Shape;324;g32bacd218da_0_4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2bacd218da_0_48"/>
          <p:cNvSpPr txBox="1"/>
          <p:nvPr/>
        </p:nvSpPr>
        <p:spPr>
          <a:xfrm>
            <a:off x="1395206" y="395738"/>
            <a:ext cx="43353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/>
              <a:t>Jika </a:t>
            </a:r>
            <a:r>
              <a:rPr b="1" lang="id" sz="1400">
                <a:solidFill>
                  <a:srgbClr val="FF0000"/>
                </a:solidFill>
              </a:rPr>
              <a:t>data point merah</a:t>
            </a:r>
            <a:r>
              <a:rPr lang="id" sz="1400"/>
              <a:t> adalah </a:t>
            </a:r>
            <a:r>
              <a:rPr b="1" lang="id" sz="1400">
                <a:solidFill>
                  <a:srgbClr val="FF0000"/>
                </a:solidFill>
              </a:rPr>
              <a:t>data training</a:t>
            </a:r>
            <a:r>
              <a:rPr lang="id" sz="1400"/>
              <a:t>, dan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rgbClr val="6AA84F"/>
                </a:solidFill>
              </a:rPr>
              <a:t>data point hijau</a:t>
            </a:r>
            <a:r>
              <a:rPr lang="id" sz="1400"/>
              <a:t> adalah </a:t>
            </a:r>
            <a:r>
              <a:rPr b="1" lang="id" sz="1400">
                <a:solidFill>
                  <a:srgbClr val="6AA84F"/>
                </a:solidFill>
              </a:rPr>
              <a:t>data testing</a:t>
            </a:r>
            <a:r>
              <a:rPr lang="id" sz="1400"/>
              <a:t>,</a:t>
            </a:r>
            <a:endParaRPr sz="1400"/>
          </a:p>
        </p:txBody>
      </p:sp>
      <p:pic>
        <p:nvPicPr>
          <p:cNvPr id="331" name="Google Shape;331;g32bacd218da_0_48"/>
          <p:cNvPicPr preferRelativeResize="0"/>
          <p:nvPr/>
        </p:nvPicPr>
        <p:blipFill rotWithShape="1">
          <a:blip r:embed="rId3">
            <a:alphaModFix/>
          </a:blip>
          <a:srcRect b="2014" l="0" r="0" t="19597"/>
          <a:stretch/>
        </p:blipFill>
        <p:spPr>
          <a:xfrm>
            <a:off x="1164450" y="1466100"/>
            <a:ext cx="3998606" cy="294823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2bacd218da_0_48"/>
          <p:cNvSpPr txBox="1"/>
          <p:nvPr/>
        </p:nvSpPr>
        <p:spPr>
          <a:xfrm>
            <a:off x="4516538" y="2566397"/>
            <a:ext cx="2795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>
                <a:highlight>
                  <a:srgbClr val="FFFFFF"/>
                </a:highlight>
              </a:rPr>
              <a:t>Namun, total jarak pada </a:t>
            </a:r>
            <a:r>
              <a:rPr b="1" lang="id" sz="1400">
                <a:solidFill>
                  <a:srgbClr val="6AA84F"/>
                </a:solidFill>
                <a:highlight>
                  <a:srgbClr val="FFFFFF"/>
                </a:highlight>
              </a:rPr>
              <a:t>data testing</a:t>
            </a:r>
            <a:r>
              <a:rPr lang="id" sz="1400">
                <a:highlight>
                  <a:srgbClr val="FFFFFF"/>
                </a:highlight>
              </a:rPr>
              <a:t> terlihat cukup besar, benar?</a:t>
            </a:r>
            <a:endParaRPr sz="1400">
              <a:highlight>
                <a:srgbClr val="FFFFFF"/>
              </a:highlight>
            </a:endParaRPr>
          </a:p>
        </p:txBody>
      </p:sp>
      <p:sp>
        <p:nvSpPr>
          <p:cNvPr id="333" name="Google Shape;333;g32bacd218da_0_48"/>
          <p:cNvSpPr txBox="1"/>
          <p:nvPr/>
        </p:nvSpPr>
        <p:spPr>
          <a:xfrm>
            <a:off x="2738663" y="4392113"/>
            <a:ext cx="1195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Weight </a:t>
            </a:r>
            <a:endParaRPr sz="11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2bacd218da_0_30"/>
          <p:cNvSpPr txBox="1"/>
          <p:nvPr/>
        </p:nvSpPr>
        <p:spPr>
          <a:xfrm>
            <a:off x="628650" y="572194"/>
            <a:ext cx="73743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300">
                <a:solidFill>
                  <a:schemeClr val="dk1"/>
                </a:solidFill>
              </a:rPr>
              <a:t>Bandingkan dengan garis linear yang awal </a:t>
            </a:r>
            <a:endParaRPr b="1" sz="2300"/>
          </a:p>
        </p:txBody>
      </p:sp>
      <p:grpSp>
        <p:nvGrpSpPr>
          <p:cNvPr id="340" name="Google Shape;340;g32bacd218da_0_30"/>
          <p:cNvGrpSpPr/>
          <p:nvPr/>
        </p:nvGrpSpPr>
        <p:grpSpPr>
          <a:xfrm>
            <a:off x="1370250" y="1542825"/>
            <a:ext cx="5318324" cy="3185700"/>
            <a:chOff x="1827000" y="2057100"/>
            <a:chExt cx="7091099" cy="4247601"/>
          </a:xfrm>
        </p:grpSpPr>
        <p:pic>
          <p:nvPicPr>
            <p:cNvPr id="341" name="Google Shape;341;g32bacd218da_0_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27000" y="2057100"/>
              <a:ext cx="7091099" cy="4247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g32bacd218da_0_30"/>
            <p:cNvSpPr/>
            <p:nvPr/>
          </p:nvSpPr>
          <p:spPr>
            <a:xfrm>
              <a:off x="5713950" y="4376575"/>
              <a:ext cx="3204000" cy="106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" name="Google Shape;343;g32bacd218da_0_30"/>
          <p:cNvSpPr txBox="1"/>
          <p:nvPr/>
        </p:nvSpPr>
        <p:spPr>
          <a:xfrm>
            <a:off x="4209825" y="3320456"/>
            <a:ext cx="43065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rgbClr val="6AA84F"/>
                </a:solidFill>
                <a:highlight>
                  <a:srgbClr val="FFFFFF"/>
                </a:highlight>
              </a:rPr>
              <a:t>Data point yang berwarna hijau</a:t>
            </a:r>
            <a:r>
              <a:rPr lang="id" sz="1400">
                <a:highlight>
                  <a:srgbClr val="FFFFFF"/>
                </a:highlight>
              </a:rPr>
              <a:t> adalah </a:t>
            </a:r>
            <a:r>
              <a:rPr b="1" lang="id" sz="1400">
                <a:solidFill>
                  <a:srgbClr val="6AA84F"/>
                </a:solidFill>
                <a:highlight>
                  <a:srgbClr val="FFFFFF"/>
                </a:highlight>
              </a:rPr>
              <a:t>data asli</a:t>
            </a:r>
            <a:r>
              <a:rPr lang="id" sz="1400">
                <a:highlight>
                  <a:srgbClr val="FFFFFF"/>
                </a:highlight>
              </a:rPr>
              <a:t> seperti sebelumnya. Untuk membandingkan dengan hasil sebelumnya, </a:t>
            </a:r>
            <a:r>
              <a:rPr b="1" lang="id" sz="1400">
                <a:highlight>
                  <a:srgbClr val="FFFFFF"/>
                </a:highlight>
              </a:rPr>
              <a:t>garis hitam</a:t>
            </a:r>
            <a:r>
              <a:rPr lang="id" sz="1400">
                <a:highlight>
                  <a:srgbClr val="FFFFFF"/>
                </a:highlight>
              </a:rPr>
              <a:t> menandakan hasil linear regression pada data asli</a:t>
            </a:r>
            <a:endParaRPr sz="1400">
              <a:highlight>
                <a:srgbClr val="FFFFFF"/>
              </a:highlight>
            </a:endParaRPr>
          </a:p>
        </p:txBody>
      </p:sp>
      <p:sp>
        <p:nvSpPr>
          <p:cNvPr id="344" name="Google Shape;344;g32bacd218da_0_30"/>
          <p:cNvSpPr txBox="1"/>
          <p:nvPr/>
        </p:nvSpPr>
        <p:spPr>
          <a:xfrm>
            <a:off x="3138713" y="4677863"/>
            <a:ext cx="1195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Weight </a:t>
            </a:r>
            <a:endParaRPr sz="1100"/>
          </a:p>
        </p:txBody>
      </p:sp>
      <p:sp>
        <p:nvSpPr>
          <p:cNvPr id="345" name="Google Shape;345;g32bacd218da_0_3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2bacd218da_0_134"/>
          <p:cNvSpPr txBox="1"/>
          <p:nvPr/>
        </p:nvSpPr>
        <p:spPr>
          <a:xfrm>
            <a:off x="3444386" y="1846385"/>
            <a:ext cx="2314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2bacd218da_0_134"/>
          <p:cNvSpPr txBox="1"/>
          <p:nvPr/>
        </p:nvSpPr>
        <p:spPr>
          <a:xfrm>
            <a:off x="648375" y="1733944"/>
            <a:ext cx="7924200" cy="19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d" sz="2100">
                <a:solidFill>
                  <a:schemeClr val="dk1"/>
                </a:solidFill>
              </a:rPr>
              <a:t>Untuk mengatasi hal tersebut, kita dapat menggunakan </a:t>
            </a:r>
            <a:r>
              <a:rPr b="1" lang="id" sz="2100">
                <a:solidFill>
                  <a:srgbClr val="48C4B6"/>
                </a:solidFill>
              </a:rPr>
              <a:t>regularization. </a:t>
            </a:r>
            <a:endParaRPr b="1" sz="2100">
              <a:solidFill>
                <a:srgbClr val="48C4B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d" sz="2100">
                <a:solidFill>
                  <a:schemeClr val="dk1"/>
                </a:solidFill>
              </a:rPr>
              <a:t>Ada beberapa metode, yang akan dibahas pada materi ini adalah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2100">
                <a:solidFill>
                  <a:srgbClr val="48C4B6"/>
                </a:solidFill>
              </a:rPr>
              <a:t>Ridge &amp; Lasso</a:t>
            </a:r>
            <a:endParaRPr b="1" sz="2100">
              <a:solidFill>
                <a:srgbClr val="48C4B6"/>
              </a:solidFill>
            </a:endParaRPr>
          </a:p>
        </p:txBody>
      </p:sp>
      <p:sp>
        <p:nvSpPr>
          <p:cNvPr id="352" name="Google Shape;352;g32bacd218da_0_134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10"/>
          <p:cNvGrpSpPr/>
          <p:nvPr/>
        </p:nvGrpSpPr>
        <p:grpSpPr>
          <a:xfrm>
            <a:off x="0" y="2"/>
            <a:ext cx="9144000" cy="2081215"/>
            <a:chOff x="0" y="5"/>
            <a:chExt cx="18288000" cy="4162430"/>
          </a:xfrm>
        </p:grpSpPr>
        <p:sp>
          <p:nvSpPr>
            <p:cNvPr id="358" name="Google Shape;358;p10"/>
            <p:cNvSpPr/>
            <p:nvPr/>
          </p:nvSpPr>
          <p:spPr>
            <a:xfrm>
              <a:off x="0" y="5"/>
              <a:ext cx="18288000" cy="4162425"/>
            </a:xfrm>
            <a:custGeom>
              <a:rect b="b" l="l" r="r" t="t"/>
              <a:pathLst>
                <a:path extrusionOk="0" h="4162425" w="1828800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0"/>
            <p:cNvSpPr/>
            <p:nvPr/>
          </p:nvSpPr>
          <p:spPr>
            <a:xfrm>
              <a:off x="14123883" y="10"/>
              <a:ext cx="4162425" cy="4162425"/>
            </a:xfrm>
            <a:custGeom>
              <a:rect b="b" l="l" r="r" t="t"/>
              <a:pathLst>
                <a:path extrusionOk="0" h="4162425" w="4162425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0" name="Google Shape;360;p10"/>
          <p:cNvSpPr txBox="1"/>
          <p:nvPr>
            <p:ph type="title"/>
          </p:nvPr>
        </p:nvSpPr>
        <p:spPr>
          <a:xfrm>
            <a:off x="508000" y="640675"/>
            <a:ext cx="62919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latin typeface="Georgia"/>
                <a:ea typeface="Georgia"/>
                <a:cs typeface="Georgia"/>
                <a:sym typeface="Georgia"/>
              </a:rPr>
              <a:t>Regularization in Linear Regression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260250" y="2153550"/>
            <a:ext cx="6900900" cy="24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Regularization (penalization):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the model more regular/simple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shrinking the model coefficients towards zero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I.e. coefficients with smaller absolute values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reduce model variance, by (slightly) increasing the model bias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Ultimately,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address overfitting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1"/>
          <p:cNvSpPr txBox="1"/>
          <p:nvPr>
            <p:ph type="title"/>
          </p:nvPr>
        </p:nvSpPr>
        <p:spPr>
          <a:xfrm>
            <a:off x="508000" y="463563"/>
            <a:ext cx="6244200" cy="15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Objective/Loss Function</a:t>
            </a:r>
            <a:endParaRPr sz="3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3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3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8" name="Google Shape;368;p11"/>
          <p:cNvSpPr txBox="1"/>
          <p:nvPr/>
        </p:nvSpPr>
        <p:spPr>
          <a:xfrm>
            <a:off x="508000" y="1149375"/>
            <a:ext cx="663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The magnitude we want to minimize when training the model </a:t>
            </a:r>
            <a:endParaRPr b="0" i="0" sz="16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1"/>
          <p:cNvSpPr txBox="1"/>
          <p:nvPr/>
        </p:nvSpPr>
        <p:spPr>
          <a:xfrm>
            <a:off x="421525" y="1532775"/>
            <a:ext cx="36648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Residual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delta between the real target variable 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the predicted target variable 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hat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Predicted values = regression line</a:t>
            </a:r>
            <a:b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 the model to minimize: </a:t>
            </a:r>
            <a:r>
              <a:rPr b="1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Residual sum of squares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11"/>
          <p:cNvPicPr preferRelativeResize="0"/>
          <p:nvPr/>
        </p:nvPicPr>
        <p:blipFill rotWithShape="1">
          <a:blip r:embed="rId4">
            <a:alphaModFix/>
          </a:blip>
          <a:srcRect b="0" l="0" r="0" t="24817"/>
          <a:stretch/>
        </p:blipFill>
        <p:spPr>
          <a:xfrm>
            <a:off x="4268525" y="1500426"/>
            <a:ext cx="4810975" cy="21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1"/>
          <p:cNvSpPr txBox="1"/>
          <p:nvPr/>
        </p:nvSpPr>
        <p:spPr>
          <a:xfrm>
            <a:off x="4603600" y="3655175"/>
            <a:ext cx="394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d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 points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our data points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black line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regression line (our prediction values)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11"/>
          <p:cNvPicPr preferRelativeResize="0"/>
          <p:nvPr/>
        </p:nvPicPr>
        <p:blipFill rotWithShape="1">
          <a:blip r:embed="rId4">
            <a:alphaModFix/>
          </a:blip>
          <a:srcRect b="78206" l="0" r="40926" t="0"/>
          <a:stretch/>
        </p:blipFill>
        <p:spPr>
          <a:xfrm>
            <a:off x="909134" y="3667569"/>
            <a:ext cx="2841974" cy="6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1"/>
          <p:cNvSpPr/>
          <p:nvPr/>
        </p:nvSpPr>
        <p:spPr>
          <a:xfrm>
            <a:off x="983600" y="3729425"/>
            <a:ext cx="2767500" cy="682800"/>
          </a:xfrm>
          <a:prstGeom prst="rect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6519350" y="165150"/>
            <a:ext cx="2492400" cy="682800"/>
          </a:xfrm>
          <a:prstGeom prst="rect">
            <a:avLst/>
          </a:prstGeom>
          <a:solidFill>
            <a:srgbClr val="EEECE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id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 b="0" i="1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6775" y="7325"/>
            <a:ext cx="4565100" cy="5143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-1317650" y="3866675"/>
            <a:ext cx="2594100" cy="2309700"/>
          </a:xfrm>
          <a:prstGeom prst="frame">
            <a:avLst>
              <a:gd fmla="val 20769" name="adj1"/>
            </a:avLst>
          </a:prstGeom>
          <a:solidFill>
            <a:srgbClr val="FFD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 txBox="1"/>
          <p:nvPr/>
        </p:nvSpPr>
        <p:spPr>
          <a:xfrm>
            <a:off x="789325" y="159950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id" sz="3400" u="none" cap="none" strike="noStrike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Ridge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5361325" y="159950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id" sz="3400" u="none" cap="none" strike="noStrike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LASSO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 txBox="1"/>
          <p:nvPr/>
        </p:nvSpPr>
        <p:spPr>
          <a:xfrm>
            <a:off x="421525" y="846975"/>
            <a:ext cx="3939600" cy="3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 with modified loss function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lambda is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non-negative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regularization parameter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Larger == heavier regularization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== ordinary linear regression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 to the model coefficients (beta)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Beta will become smaller (larger lambda == smaller beta)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Yet they all </a:t>
            </a:r>
            <a:r>
              <a:rPr b="1" i="0" lang="id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never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 exactly zero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0" y="1399600"/>
            <a:ext cx="4609500" cy="70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5138" y="1428268"/>
            <a:ext cx="2492375" cy="650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2"/>
          <p:cNvSpPr txBox="1"/>
          <p:nvPr/>
        </p:nvSpPr>
        <p:spPr>
          <a:xfrm>
            <a:off x="5069725" y="846975"/>
            <a:ext cx="3939600" cy="4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 with modified loss function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 is non-negative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regularization parameter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Larger == heavier regularization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== ordinary linear regression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 to the </a:t>
            </a: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coefficients (beta)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Beta will become smaller (larger lambda == smaller beta)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of them will be </a:t>
            </a:r>
            <a:r>
              <a:rPr b="1" i="0" lang="id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exactly zero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(eliminated from the model)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8450" y="1408468"/>
            <a:ext cx="2703047" cy="650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2"/>
          <p:cNvSpPr txBox="1"/>
          <p:nvPr/>
        </p:nvSpPr>
        <p:spPr>
          <a:xfrm>
            <a:off x="4555073" y="4853908"/>
            <a:ext cx="372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id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LASSO: </a:t>
            </a:r>
            <a:r>
              <a:rPr b="0" i="0" lang="id" sz="10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Least Absolute Shrinkage and Selection Operator</a:t>
            </a:r>
            <a:endParaRPr b="0" i="1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3333116" y="1451029"/>
            <a:ext cx="364200" cy="466500"/>
          </a:xfrm>
          <a:prstGeom prst="rect">
            <a:avLst/>
          </a:prstGeom>
          <a:noFill/>
          <a:ln cap="flat" cmpd="sng" w="190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8068901" y="1428275"/>
            <a:ext cx="480300" cy="466500"/>
          </a:xfrm>
          <a:prstGeom prst="rect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eb5537442_0_6"/>
          <p:cNvSpPr txBox="1"/>
          <p:nvPr/>
        </p:nvSpPr>
        <p:spPr>
          <a:xfrm>
            <a:off x="628650" y="457200"/>
            <a:ext cx="73743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chemeClr val="dk1"/>
                </a:solidFill>
              </a:rPr>
              <a:t>Multivariate Linear Regression</a:t>
            </a:r>
            <a:endParaRPr b="1" sz="2900">
              <a:solidFill>
                <a:schemeClr val="dk1"/>
              </a:solidFill>
            </a:endParaRPr>
          </a:p>
        </p:txBody>
      </p:sp>
      <p:grpSp>
        <p:nvGrpSpPr>
          <p:cNvPr id="399" name="Google Shape;399;g36eb5537442_0_6"/>
          <p:cNvGrpSpPr/>
          <p:nvPr/>
        </p:nvGrpSpPr>
        <p:grpSpPr>
          <a:xfrm>
            <a:off x="649799" y="1243051"/>
            <a:ext cx="5748281" cy="3295405"/>
            <a:chOff x="942599" y="1505001"/>
            <a:chExt cx="7664375" cy="4393873"/>
          </a:xfrm>
        </p:grpSpPr>
        <p:pic>
          <p:nvPicPr>
            <p:cNvPr id="400" name="Google Shape;400;g36eb5537442_0_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2599" y="1505001"/>
              <a:ext cx="7664375" cy="43938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g36eb5537442_0_6"/>
            <p:cNvSpPr/>
            <p:nvPr/>
          </p:nvSpPr>
          <p:spPr>
            <a:xfrm>
              <a:off x="1031225" y="2250200"/>
              <a:ext cx="2589000" cy="81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2" name="Google Shape;402;g36eb5537442_0_6"/>
          <p:cNvSpPr txBox="1"/>
          <p:nvPr/>
        </p:nvSpPr>
        <p:spPr>
          <a:xfrm>
            <a:off x="752756" y="1419113"/>
            <a:ext cx="18696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>
                <a:latin typeface="Montserrat"/>
                <a:ea typeface="Montserrat"/>
                <a:cs typeface="Montserrat"/>
                <a:sym typeface="Montserrat"/>
              </a:rPr>
              <a:t>Data point tersebar diatas atau dibawah plane yang terbentuk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g36eb5537442_0_6"/>
          <p:cNvSpPr txBox="1"/>
          <p:nvPr/>
        </p:nvSpPr>
        <p:spPr>
          <a:xfrm>
            <a:off x="6583331" y="1096106"/>
            <a:ext cx="2344500" cy="122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>
                <a:highlight>
                  <a:srgbClr val="F4CCCC"/>
                </a:highlight>
                <a:latin typeface="Montserrat"/>
                <a:ea typeface="Montserrat"/>
                <a:cs typeface="Montserrat"/>
                <a:sym typeface="Montserrat"/>
              </a:rPr>
              <a:t>Kalau di 2D, kita mengenal istilah garis, di lebih dari 2D, kita menggunakan istilah </a:t>
            </a:r>
            <a:r>
              <a:rPr i="1" lang="id" sz="1400">
                <a:highlight>
                  <a:srgbClr val="F4CCCC"/>
                </a:highlight>
                <a:latin typeface="Montserrat"/>
                <a:ea typeface="Montserrat"/>
                <a:cs typeface="Montserrat"/>
                <a:sym typeface="Montserrat"/>
              </a:rPr>
              <a:t>plane</a:t>
            </a:r>
            <a:endParaRPr b="1" i="1" sz="1400">
              <a:highlight>
                <a:srgbClr val="F4CCCC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4" name="Google Shape;404;g36eb5537442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7994" y="4119487"/>
            <a:ext cx="4721288" cy="102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5ceeaac969_0_15"/>
          <p:cNvSpPr txBox="1"/>
          <p:nvPr>
            <p:ph type="title"/>
          </p:nvPr>
        </p:nvSpPr>
        <p:spPr>
          <a:xfrm>
            <a:off x="4491879" y="356866"/>
            <a:ext cx="4294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5ceeaac969_0_15"/>
          <p:cNvSpPr/>
          <p:nvPr/>
        </p:nvSpPr>
        <p:spPr>
          <a:xfrm>
            <a:off x="551950" y="402525"/>
            <a:ext cx="8091000" cy="43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latin typeface="Georgia"/>
                <a:ea typeface="Georgia"/>
                <a:cs typeface="Georgia"/>
                <a:sym typeface="Georgia"/>
              </a:rPr>
              <a:t>Linear Regression</a:t>
            </a:r>
            <a:endParaRPr sz="13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latin typeface="Georgia"/>
                <a:ea typeface="Georgia"/>
                <a:cs typeface="Georgia"/>
                <a:sym typeface="Georgia"/>
              </a:rPr>
              <a:t>Ridge </a:t>
            </a:r>
            <a:r>
              <a:rPr lang="id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Regression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Lasso Regression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11" name="Google Shape;411;g35ceeaac969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763" y="2210225"/>
            <a:ext cx="2376225" cy="72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35ceeaac969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5675" y="3339425"/>
            <a:ext cx="2358085" cy="72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35ceeaac969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5300" y="1346013"/>
            <a:ext cx="1889543" cy="6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35ceeaac969_0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8525" y="2346425"/>
            <a:ext cx="1830700" cy="5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35ceeaac969_0_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0475" y="3415625"/>
            <a:ext cx="1974900" cy="45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35ceeaac969_0_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60000" y="1412638"/>
            <a:ext cx="1324249" cy="45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35ceeaac969_0_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86100" y="2401525"/>
            <a:ext cx="1324249" cy="45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g35ceeaac969_0_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62300" y="3390400"/>
            <a:ext cx="1324249" cy="45812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5ceeaac969_0_15"/>
          <p:cNvSpPr/>
          <p:nvPr/>
        </p:nvSpPr>
        <p:spPr>
          <a:xfrm>
            <a:off x="525850" y="776175"/>
            <a:ext cx="14445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latin typeface="Georgia"/>
                <a:ea typeface="Georgia"/>
                <a:cs typeface="Georgia"/>
                <a:sym typeface="Georgia"/>
              </a:rPr>
              <a:t>Metode</a:t>
            </a:r>
            <a:endParaRPr sz="13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0" name="Google Shape;420;g35ceeaac969_0_15"/>
          <p:cNvSpPr/>
          <p:nvPr/>
        </p:nvSpPr>
        <p:spPr>
          <a:xfrm>
            <a:off x="2659450" y="776175"/>
            <a:ext cx="14445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latin typeface="Georgia"/>
                <a:ea typeface="Georgia"/>
                <a:cs typeface="Georgia"/>
                <a:sym typeface="Georgia"/>
              </a:rPr>
              <a:t>Cost Function</a:t>
            </a:r>
            <a:endParaRPr sz="13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1" name="Google Shape;421;g35ceeaac969_0_15"/>
          <p:cNvSpPr/>
          <p:nvPr/>
        </p:nvSpPr>
        <p:spPr>
          <a:xfrm>
            <a:off x="4945450" y="776175"/>
            <a:ext cx="14445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latin typeface="Georgia"/>
                <a:ea typeface="Georgia"/>
                <a:cs typeface="Georgia"/>
                <a:sym typeface="Georgia"/>
              </a:rPr>
              <a:t>Slope</a:t>
            </a:r>
            <a:endParaRPr sz="13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2" name="Google Shape;422;g35ceeaac969_0_15"/>
          <p:cNvSpPr/>
          <p:nvPr/>
        </p:nvSpPr>
        <p:spPr>
          <a:xfrm>
            <a:off x="6774250" y="776175"/>
            <a:ext cx="14445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latin typeface="Georgia"/>
                <a:ea typeface="Georgia"/>
                <a:cs typeface="Georgia"/>
                <a:sym typeface="Georgia"/>
              </a:rPr>
              <a:t>Intercept</a:t>
            </a:r>
            <a:endParaRPr sz="13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23" name="Google Shape;423;g35ceeaac969_0_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92400" y="1321800"/>
            <a:ext cx="1644943" cy="6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5ceeaac969_0_15"/>
          <p:cNvSpPr/>
          <p:nvPr/>
        </p:nvSpPr>
        <p:spPr>
          <a:xfrm>
            <a:off x="1853225" y="1905500"/>
            <a:ext cx="4994400" cy="301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B1 = 2, L =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B1 - L = 2-2 =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B1 = 2, L =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2-1 = 1 =&gt; max(1,0) =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>
                <a:solidFill>
                  <a:schemeClr val="dk1"/>
                </a:solidFill>
              </a:rPr>
              <a:t>B1 = 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sign(b1) =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sign(b1) *max(1,0)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= 1*1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>
                <a:solidFill>
                  <a:schemeClr val="dk1"/>
                </a:solidFill>
              </a:rPr>
              <a:t>=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5ceeaac969_1_53"/>
          <p:cNvSpPr txBox="1"/>
          <p:nvPr>
            <p:ph type="title"/>
          </p:nvPr>
        </p:nvSpPr>
        <p:spPr>
          <a:xfrm>
            <a:off x="4491879" y="356866"/>
            <a:ext cx="4294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5ceeaac969_1_53"/>
          <p:cNvSpPr/>
          <p:nvPr/>
        </p:nvSpPr>
        <p:spPr>
          <a:xfrm>
            <a:off x="551950" y="402525"/>
            <a:ext cx="8091000" cy="43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latin typeface="Georgia"/>
                <a:ea typeface="Georgia"/>
                <a:cs typeface="Georgia"/>
                <a:sym typeface="Georgia"/>
              </a:rPr>
              <a:t>Linear Regression</a:t>
            </a:r>
            <a:endParaRPr sz="13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latin typeface="Georgia"/>
                <a:ea typeface="Georgia"/>
                <a:cs typeface="Georgia"/>
                <a:sym typeface="Georgia"/>
              </a:rPr>
              <a:t>Ridge </a:t>
            </a:r>
            <a:r>
              <a:rPr lang="id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Regression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Lasso Regression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31" name="Google Shape;431;g35ceeaac969_1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763" y="2210225"/>
            <a:ext cx="2376225" cy="72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g35ceeaac969_1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5675" y="3339425"/>
            <a:ext cx="2358085" cy="72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35ceeaac969_1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5300" y="1346013"/>
            <a:ext cx="1889543" cy="6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g35ceeaac969_1_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8525" y="2346425"/>
            <a:ext cx="1830700" cy="5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g35ceeaac969_1_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0475" y="3415625"/>
            <a:ext cx="1974900" cy="45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g35ceeaac969_1_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60000" y="1412638"/>
            <a:ext cx="1324249" cy="45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g35ceeaac969_1_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86100" y="2401525"/>
            <a:ext cx="1324249" cy="45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g35ceeaac969_1_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62300" y="3390400"/>
            <a:ext cx="1324249" cy="458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g35ceeaac969_1_53"/>
          <p:cNvSpPr/>
          <p:nvPr/>
        </p:nvSpPr>
        <p:spPr>
          <a:xfrm>
            <a:off x="525850" y="776175"/>
            <a:ext cx="14445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latin typeface="Georgia"/>
                <a:ea typeface="Georgia"/>
                <a:cs typeface="Georgia"/>
                <a:sym typeface="Georgia"/>
              </a:rPr>
              <a:t>Metode</a:t>
            </a:r>
            <a:endParaRPr sz="13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0" name="Google Shape;440;g35ceeaac969_1_53"/>
          <p:cNvSpPr/>
          <p:nvPr/>
        </p:nvSpPr>
        <p:spPr>
          <a:xfrm>
            <a:off x="2659450" y="776175"/>
            <a:ext cx="14445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latin typeface="Georgia"/>
                <a:ea typeface="Georgia"/>
                <a:cs typeface="Georgia"/>
                <a:sym typeface="Georgia"/>
              </a:rPr>
              <a:t>Cost Function</a:t>
            </a:r>
            <a:endParaRPr sz="13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1" name="Google Shape;441;g35ceeaac969_1_53"/>
          <p:cNvSpPr/>
          <p:nvPr/>
        </p:nvSpPr>
        <p:spPr>
          <a:xfrm>
            <a:off x="4945450" y="776175"/>
            <a:ext cx="14445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latin typeface="Georgia"/>
                <a:ea typeface="Georgia"/>
                <a:cs typeface="Georgia"/>
                <a:sym typeface="Georgia"/>
              </a:rPr>
              <a:t>Slope</a:t>
            </a:r>
            <a:endParaRPr sz="13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2" name="Google Shape;442;g35ceeaac969_1_53"/>
          <p:cNvSpPr/>
          <p:nvPr/>
        </p:nvSpPr>
        <p:spPr>
          <a:xfrm>
            <a:off x="6774250" y="776175"/>
            <a:ext cx="14445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latin typeface="Georgia"/>
                <a:ea typeface="Georgia"/>
                <a:cs typeface="Georgia"/>
                <a:sym typeface="Georgia"/>
              </a:rPr>
              <a:t>Intercept</a:t>
            </a:r>
            <a:endParaRPr sz="13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43" name="Google Shape;443;g35ceeaac969_1_5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92400" y="1321800"/>
            <a:ext cx="1644943" cy="63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2bacd218da_0_300"/>
          <p:cNvSpPr txBox="1"/>
          <p:nvPr>
            <p:ph type="title"/>
          </p:nvPr>
        </p:nvSpPr>
        <p:spPr>
          <a:xfrm>
            <a:off x="4491879" y="356866"/>
            <a:ext cx="4294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9" name="Google Shape;449;g32bacd218da_0_3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825" y="1047741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32bacd218da_0_300"/>
          <p:cNvSpPr txBox="1"/>
          <p:nvPr/>
        </p:nvSpPr>
        <p:spPr>
          <a:xfrm>
            <a:off x="5691825" y="2940800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id" sz="3400" u="none" cap="none" strike="noStrike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Ridge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2bacd218da_0_300"/>
          <p:cNvSpPr txBox="1"/>
          <p:nvPr/>
        </p:nvSpPr>
        <p:spPr>
          <a:xfrm>
            <a:off x="5552575" y="1671425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id" sz="3400" u="none" cap="none" strike="noStrike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LASSO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2bacd218da_0_300"/>
          <p:cNvSpPr txBox="1"/>
          <p:nvPr>
            <p:ph type="title"/>
          </p:nvPr>
        </p:nvSpPr>
        <p:spPr>
          <a:xfrm>
            <a:off x="431800" y="311175"/>
            <a:ext cx="72255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Notasi lain pada formula</a:t>
            </a:r>
            <a:endParaRPr sz="3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6eb5537442_0_0"/>
          <p:cNvSpPr txBox="1"/>
          <p:nvPr/>
        </p:nvSpPr>
        <p:spPr>
          <a:xfrm>
            <a:off x="3444386" y="1846385"/>
            <a:ext cx="2314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6eb5537442_0_0"/>
          <p:cNvSpPr txBox="1"/>
          <p:nvPr/>
        </p:nvSpPr>
        <p:spPr>
          <a:xfrm>
            <a:off x="648375" y="1505344"/>
            <a:ext cx="7924200" cy="19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5700">
                <a:solidFill>
                  <a:schemeClr val="dk1"/>
                </a:solidFill>
              </a:rPr>
              <a:t>Sebuah kasus:</a:t>
            </a:r>
            <a:endParaRPr b="1" sz="5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d" sz="2900">
                <a:solidFill>
                  <a:schemeClr val="dk1"/>
                </a:solidFill>
              </a:rPr>
              <a:t>Bagaimana mendapatkan nilai alpha/lambda yang optimal?</a:t>
            </a:r>
            <a:endParaRPr b="1" sz="2900">
              <a:solidFill>
                <a:schemeClr val="dk1"/>
              </a:solidFill>
            </a:endParaRPr>
          </a:p>
        </p:txBody>
      </p:sp>
      <p:sp>
        <p:nvSpPr>
          <p:cNvPr id="459" name="Google Shape;459;g36eb5537442_0_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bacd218da_0_215"/>
          <p:cNvSpPr txBox="1"/>
          <p:nvPr/>
        </p:nvSpPr>
        <p:spPr>
          <a:xfrm>
            <a:off x="628650" y="285750"/>
            <a:ext cx="73743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700">
                <a:solidFill>
                  <a:schemeClr val="dk1"/>
                </a:solidFill>
              </a:rPr>
              <a:t>Hyperparameter mempengaruhi hasil</a:t>
            </a:r>
            <a:endParaRPr sz="4100">
              <a:solidFill>
                <a:schemeClr val="dk1"/>
              </a:solidFill>
            </a:endParaRPr>
          </a:p>
        </p:txBody>
      </p:sp>
      <p:pic>
        <p:nvPicPr>
          <p:cNvPr id="466" name="Google Shape;466;g32bacd218da_0_2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031" y="1471275"/>
            <a:ext cx="6283387" cy="2872406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2bacd218da_0_21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2bacd218da_0_221"/>
          <p:cNvSpPr txBox="1"/>
          <p:nvPr/>
        </p:nvSpPr>
        <p:spPr>
          <a:xfrm>
            <a:off x="628650" y="285750"/>
            <a:ext cx="73743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700">
                <a:solidFill>
                  <a:schemeClr val="dk1"/>
                </a:solidFill>
              </a:rPr>
              <a:t>Solusi Umum: Grid Search</a:t>
            </a:r>
            <a:endParaRPr sz="4100">
              <a:solidFill>
                <a:schemeClr val="dk1"/>
              </a:solidFill>
            </a:endParaRPr>
          </a:p>
        </p:txBody>
      </p:sp>
      <p:pic>
        <p:nvPicPr>
          <p:cNvPr id="474" name="Google Shape;474;g32bacd218da_0_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501" y="1071244"/>
            <a:ext cx="7558541" cy="3781744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2bacd218da_0_221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4"/>
          <p:cNvSpPr txBox="1"/>
          <p:nvPr/>
        </p:nvSpPr>
        <p:spPr>
          <a:xfrm>
            <a:off x="4984363" y="390265"/>
            <a:ext cx="2527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Split the data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0" y="0"/>
            <a:ext cx="3961765" cy="5143500"/>
          </a:xfrm>
          <a:custGeom>
            <a:rect b="b" l="l" r="r" t="t"/>
            <a:pathLst>
              <a:path extrusionOk="0" h="10287000" w="7923530">
                <a:moveTo>
                  <a:pt x="566853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5209055" y="0"/>
                </a:lnTo>
                <a:lnTo>
                  <a:pt x="5217529" y="6124"/>
                </a:lnTo>
                <a:lnTo>
                  <a:pt x="5260930" y="38040"/>
                </a:lnTo>
                <a:lnTo>
                  <a:pt x="5304069" y="70310"/>
                </a:lnTo>
                <a:lnTo>
                  <a:pt x="5346938" y="102927"/>
                </a:lnTo>
                <a:lnTo>
                  <a:pt x="5389536" y="135891"/>
                </a:lnTo>
                <a:lnTo>
                  <a:pt x="5431862" y="169203"/>
                </a:lnTo>
                <a:lnTo>
                  <a:pt x="5473915" y="202862"/>
                </a:lnTo>
                <a:lnTo>
                  <a:pt x="5515692" y="236869"/>
                </a:lnTo>
                <a:lnTo>
                  <a:pt x="5557200" y="271217"/>
                </a:lnTo>
                <a:lnTo>
                  <a:pt x="5598419" y="305898"/>
                </a:lnTo>
                <a:lnTo>
                  <a:pt x="5639350" y="340913"/>
                </a:lnTo>
                <a:lnTo>
                  <a:pt x="5679993" y="376261"/>
                </a:lnTo>
                <a:lnTo>
                  <a:pt x="5720349" y="411943"/>
                </a:lnTo>
                <a:lnTo>
                  <a:pt x="5760420" y="447959"/>
                </a:lnTo>
                <a:lnTo>
                  <a:pt x="5800185" y="484301"/>
                </a:lnTo>
                <a:lnTo>
                  <a:pt x="5839650" y="520962"/>
                </a:lnTo>
                <a:lnTo>
                  <a:pt x="5878813" y="557943"/>
                </a:lnTo>
                <a:lnTo>
                  <a:pt x="5917674" y="595244"/>
                </a:lnTo>
                <a:lnTo>
                  <a:pt x="5956230" y="632863"/>
                </a:lnTo>
                <a:lnTo>
                  <a:pt x="5994480" y="670802"/>
                </a:lnTo>
                <a:lnTo>
                  <a:pt x="6032417" y="709052"/>
                </a:lnTo>
                <a:lnTo>
                  <a:pt x="6070035" y="747607"/>
                </a:lnTo>
                <a:lnTo>
                  <a:pt x="6107333" y="786465"/>
                </a:lnTo>
                <a:lnTo>
                  <a:pt x="6144313" y="825627"/>
                </a:lnTo>
                <a:lnTo>
                  <a:pt x="6180976" y="865093"/>
                </a:lnTo>
                <a:lnTo>
                  <a:pt x="6217321" y="904863"/>
                </a:lnTo>
                <a:lnTo>
                  <a:pt x="6253331" y="944928"/>
                </a:lnTo>
                <a:lnTo>
                  <a:pt x="6289011" y="985281"/>
                </a:lnTo>
                <a:lnTo>
                  <a:pt x="6324360" y="1025922"/>
                </a:lnTo>
                <a:lnTo>
                  <a:pt x="6359378" y="1066851"/>
                </a:lnTo>
                <a:lnTo>
                  <a:pt x="6394063" y="1108069"/>
                </a:lnTo>
                <a:lnTo>
                  <a:pt x="6428416" y="1149575"/>
                </a:lnTo>
                <a:lnTo>
                  <a:pt x="6462417" y="1191359"/>
                </a:lnTo>
                <a:lnTo>
                  <a:pt x="6496075" y="1233414"/>
                </a:lnTo>
                <a:lnTo>
                  <a:pt x="6529387" y="1275741"/>
                </a:lnTo>
                <a:lnTo>
                  <a:pt x="6562353" y="1318338"/>
                </a:lnTo>
                <a:lnTo>
                  <a:pt x="6594970" y="1361206"/>
                </a:lnTo>
                <a:lnTo>
                  <a:pt x="6627237" y="1404344"/>
                </a:lnTo>
                <a:lnTo>
                  <a:pt x="6659149" y="1447746"/>
                </a:lnTo>
                <a:lnTo>
                  <a:pt x="6690702" y="1491404"/>
                </a:lnTo>
                <a:lnTo>
                  <a:pt x="6721894" y="1535317"/>
                </a:lnTo>
                <a:lnTo>
                  <a:pt x="6752726" y="1579483"/>
                </a:lnTo>
                <a:lnTo>
                  <a:pt x="6783199" y="1623898"/>
                </a:lnTo>
                <a:lnTo>
                  <a:pt x="6813311" y="1668562"/>
                </a:lnTo>
                <a:lnTo>
                  <a:pt x="6843059" y="1713480"/>
                </a:lnTo>
                <a:lnTo>
                  <a:pt x="6872437" y="1758635"/>
                </a:lnTo>
                <a:lnTo>
                  <a:pt x="6901443" y="1804025"/>
                </a:lnTo>
                <a:lnTo>
                  <a:pt x="6930076" y="1849650"/>
                </a:lnTo>
                <a:lnTo>
                  <a:pt x="6958334" y="1895509"/>
                </a:lnTo>
                <a:lnTo>
                  <a:pt x="6986217" y="1941602"/>
                </a:lnTo>
                <a:lnTo>
                  <a:pt x="7013721" y="1987930"/>
                </a:lnTo>
                <a:lnTo>
                  <a:pt x="7040846" y="2034470"/>
                </a:lnTo>
                <a:lnTo>
                  <a:pt x="7067589" y="2081226"/>
                </a:lnTo>
                <a:lnTo>
                  <a:pt x="7093948" y="2128200"/>
                </a:lnTo>
                <a:lnTo>
                  <a:pt x="7119921" y="2175392"/>
                </a:lnTo>
                <a:lnTo>
                  <a:pt x="7145505" y="2222807"/>
                </a:lnTo>
                <a:lnTo>
                  <a:pt x="7170710" y="2270420"/>
                </a:lnTo>
                <a:lnTo>
                  <a:pt x="7195520" y="2318234"/>
                </a:lnTo>
                <a:lnTo>
                  <a:pt x="7219935" y="2366247"/>
                </a:lnTo>
                <a:lnTo>
                  <a:pt x="7243955" y="2414457"/>
                </a:lnTo>
                <a:lnTo>
                  <a:pt x="7267579" y="2462864"/>
                </a:lnTo>
                <a:lnTo>
                  <a:pt x="7290809" y="2511465"/>
                </a:lnTo>
                <a:lnTo>
                  <a:pt x="7313650" y="2560264"/>
                </a:lnTo>
                <a:lnTo>
                  <a:pt x="7336085" y="2609239"/>
                </a:lnTo>
                <a:lnTo>
                  <a:pt x="7358114" y="2658391"/>
                </a:lnTo>
                <a:lnTo>
                  <a:pt x="7379740" y="2707722"/>
                </a:lnTo>
                <a:lnTo>
                  <a:pt x="7400963" y="2757230"/>
                </a:lnTo>
                <a:lnTo>
                  <a:pt x="7421785" y="2806918"/>
                </a:lnTo>
                <a:lnTo>
                  <a:pt x="7442192" y="2856775"/>
                </a:lnTo>
                <a:lnTo>
                  <a:pt x="7462192" y="2906791"/>
                </a:lnTo>
                <a:lnTo>
                  <a:pt x="7481785" y="2956966"/>
                </a:lnTo>
                <a:lnTo>
                  <a:pt x="7500967" y="3007301"/>
                </a:lnTo>
                <a:lnTo>
                  <a:pt x="7519736" y="3057797"/>
                </a:lnTo>
                <a:lnTo>
                  <a:pt x="7538091" y="3108455"/>
                </a:lnTo>
                <a:lnTo>
                  <a:pt x="7556029" y="3159251"/>
                </a:lnTo>
                <a:lnTo>
                  <a:pt x="7573550" y="3210187"/>
                </a:lnTo>
                <a:lnTo>
                  <a:pt x="7590654" y="3261262"/>
                </a:lnTo>
                <a:lnTo>
                  <a:pt x="7607341" y="3312475"/>
                </a:lnTo>
                <a:lnTo>
                  <a:pt x="7623611" y="3363826"/>
                </a:lnTo>
                <a:lnTo>
                  <a:pt x="7639464" y="3415313"/>
                </a:lnTo>
                <a:lnTo>
                  <a:pt x="7654895" y="3466928"/>
                </a:lnTo>
                <a:lnTo>
                  <a:pt x="7669901" y="3518661"/>
                </a:lnTo>
                <a:lnTo>
                  <a:pt x="7684481" y="3570513"/>
                </a:lnTo>
                <a:lnTo>
                  <a:pt x="7698635" y="3622483"/>
                </a:lnTo>
                <a:lnTo>
                  <a:pt x="7712364" y="3674572"/>
                </a:lnTo>
                <a:lnTo>
                  <a:pt x="7725666" y="3726779"/>
                </a:lnTo>
                <a:lnTo>
                  <a:pt x="7738541" y="3779094"/>
                </a:lnTo>
                <a:lnTo>
                  <a:pt x="7750985" y="3831505"/>
                </a:lnTo>
                <a:lnTo>
                  <a:pt x="7763000" y="3884011"/>
                </a:lnTo>
                <a:lnTo>
                  <a:pt x="7774584" y="3936611"/>
                </a:lnTo>
                <a:lnTo>
                  <a:pt x="7785738" y="3989304"/>
                </a:lnTo>
                <a:lnTo>
                  <a:pt x="7796461" y="4042091"/>
                </a:lnTo>
                <a:lnTo>
                  <a:pt x="7806755" y="4094974"/>
                </a:lnTo>
                <a:lnTo>
                  <a:pt x="7816616" y="4147932"/>
                </a:lnTo>
                <a:lnTo>
                  <a:pt x="7826045" y="4200965"/>
                </a:lnTo>
                <a:lnTo>
                  <a:pt x="7835039" y="4254072"/>
                </a:lnTo>
                <a:lnTo>
                  <a:pt x="7843597" y="4307254"/>
                </a:lnTo>
                <a:lnTo>
                  <a:pt x="7851717" y="4360511"/>
                </a:lnTo>
                <a:lnTo>
                  <a:pt x="7859401" y="4413842"/>
                </a:lnTo>
                <a:lnTo>
                  <a:pt x="7866650" y="4467223"/>
                </a:lnTo>
                <a:lnTo>
                  <a:pt x="7873462" y="4520655"/>
                </a:lnTo>
                <a:lnTo>
                  <a:pt x="7879838" y="4574140"/>
                </a:lnTo>
                <a:lnTo>
                  <a:pt x="7885776" y="4627680"/>
                </a:lnTo>
                <a:lnTo>
                  <a:pt x="7891276" y="4681274"/>
                </a:lnTo>
                <a:lnTo>
                  <a:pt x="7896337" y="4734904"/>
                </a:lnTo>
                <a:lnTo>
                  <a:pt x="7900959" y="4788570"/>
                </a:lnTo>
                <a:lnTo>
                  <a:pt x="7905143" y="4842272"/>
                </a:lnTo>
                <a:lnTo>
                  <a:pt x="7908887" y="4896006"/>
                </a:lnTo>
                <a:lnTo>
                  <a:pt x="7912192" y="4949772"/>
                </a:lnTo>
                <a:lnTo>
                  <a:pt x="7915059" y="5003565"/>
                </a:lnTo>
                <a:lnTo>
                  <a:pt x="7917484" y="5057390"/>
                </a:lnTo>
                <a:lnTo>
                  <a:pt x="7919467" y="5111224"/>
                </a:lnTo>
                <a:lnTo>
                  <a:pt x="7921008" y="5165067"/>
                </a:lnTo>
                <a:lnTo>
                  <a:pt x="7922107" y="5218918"/>
                </a:lnTo>
                <a:lnTo>
                  <a:pt x="7922767" y="5272778"/>
                </a:lnTo>
                <a:lnTo>
                  <a:pt x="7922986" y="5326647"/>
                </a:lnTo>
                <a:lnTo>
                  <a:pt x="7922767" y="5380516"/>
                </a:lnTo>
                <a:lnTo>
                  <a:pt x="7922107" y="5434376"/>
                </a:lnTo>
                <a:lnTo>
                  <a:pt x="7921008" y="5488227"/>
                </a:lnTo>
                <a:lnTo>
                  <a:pt x="7919467" y="5542069"/>
                </a:lnTo>
                <a:lnTo>
                  <a:pt x="7917484" y="5595903"/>
                </a:lnTo>
                <a:lnTo>
                  <a:pt x="7915059" y="5649728"/>
                </a:lnTo>
                <a:lnTo>
                  <a:pt x="7912192" y="5703522"/>
                </a:lnTo>
                <a:lnTo>
                  <a:pt x="7908887" y="5757287"/>
                </a:lnTo>
                <a:lnTo>
                  <a:pt x="7905143" y="5811022"/>
                </a:lnTo>
                <a:lnTo>
                  <a:pt x="7900959" y="5864723"/>
                </a:lnTo>
                <a:lnTo>
                  <a:pt x="7896337" y="5918390"/>
                </a:lnTo>
                <a:lnTo>
                  <a:pt x="7891276" y="5972019"/>
                </a:lnTo>
                <a:lnTo>
                  <a:pt x="7885776" y="6025614"/>
                </a:lnTo>
                <a:lnTo>
                  <a:pt x="7879838" y="6079153"/>
                </a:lnTo>
                <a:lnTo>
                  <a:pt x="7873462" y="6132638"/>
                </a:lnTo>
                <a:lnTo>
                  <a:pt x="7866650" y="6186070"/>
                </a:lnTo>
                <a:lnTo>
                  <a:pt x="7859401" y="6239451"/>
                </a:lnTo>
                <a:lnTo>
                  <a:pt x="7851717" y="6292783"/>
                </a:lnTo>
                <a:lnTo>
                  <a:pt x="7843597" y="6346039"/>
                </a:lnTo>
                <a:lnTo>
                  <a:pt x="7835039" y="6399221"/>
                </a:lnTo>
                <a:lnTo>
                  <a:pt x="7826045" y="6452328"/>
                </a:lnTo>
                <a:lnTo>
                  <a:pt x="7816616" y="6505361"/>
                </a:lnTo>
                <a:lnTo>
                  <a:pt x="7806755" y="6558319"/>
                </a:lnTo>
                <a:lnTo>
                  <a:pt x="7796461" y="6611202"/>
                </a:lnTo>
                <a:lnTo>
                  <a:pt x="7785738" y="6663989"/>
                </a:lnTo>
                <a:lnTo>
                  <a:pt x="7774584" y="6716683"/>
                </a:lnTo>
                <a:lnTo>
                  <a:pt x="7763000" y="6769283"/>
                </a:lnTo>
                <a:lnTo>
                  <a:pt x="7750985" y="6821789"/>
                </a:lnTo>
                <a:lnTo>
                  <a:pt x="7738541" y="6874199"/>
                </a:lnTo>
                <a:lnTo>
                  <a:pt x="7725666" y="6926514"/>
                </a:lnTo>
                <a:lnTo>
                  <a:pt x="7712364" y="6978722"/>
                </a:lnTo>
                <a:lnTo>
                  <a:pt x="7698635" y="7030810"/>
                </a:lnTo>
                <a:lnTo>
                  <a:pt x="7684481" y="7082781"/>
                </a:lnTo>
                <a:lnTo>
                  <a:pt x="7669901" y="7134633"/>
                </a:lnTo>
                <a:lnTo>
                  <a:pt x="7654895" y="7186366"/>
                </a:lnTo>
                <a:lnTo>
                  <a:pt x="7639464" y="7237981"/>
                </a:lnTo>
                <a:lnTo>
                  <a:pt x="7623611" y="7289468"/>
                </a:lnTo>
                <a:lnTo>
                  <a:pt x="7607341" y="7340819"/>
                </a:lnTo>
                <a:lnTo>
                  <a:pt x="7590654" y="7392032"/>
                </a:lnTo>
                <a:lnTo>
                  <a:pt x="7573550" y="7443106"/>
                </a:lnTo>
                <a:lnTo>
                  <a:pt x="7556029" y="7494042"/>
                </a:lnTo>
                <a:lnTo>
                  <a:pt x="7538091" y="7544838"/>
                </a:lnTo>
                <a:lnTo>
                  <a:pt x="7519738" y="7595496"/>
                </a:lnTo>
                <a:lnTo>
                  <a:pt x="7500973" y="7645992"/>
                </a:lnTo>
                <a:lnTo>
                  <a:pt x="7481795" y="7696328"/>
                </a:lnTo>
                <a:lnTo>
                  <a:pt x="7462204" y="7746503"/>
                </a:lnTo>
                <a:lnTo>
                  <a:pt x="7442201" y="7796518"/>
                </a:lnTo>
                <a:lnTo>
                  <a:pt x="7421785" y="7846375"/>
                </a:lnTo>
                <a:lnTo>
                  <a:pt x="7400963" y="7896063"/>
                </a:lnTo>
                <a:lnTo>
                  <a:pt x="7379740" y="7945572"/>
                </a:lnTo>
                <a:lnTo>
                  <a:pt x="7358114" y="7994902"/>
                </a:lnTo>
                <a:lnTo>
                  <a:pt x="7336085" y="8044054"/>
                </a:lnTo>
                <a:lnTo>
                  <a:pt x="7313650" y="8093030"/>
                </a:lnTo>
                <a:lnTo>
                  <a:pt x="7290809" y="8141829"/>
                </a:lnTo>
                <a:lnTo>
                  <a:pt x="7267579" y="8190430"/>
                </a:lnTo>
                <a:lnTo>
                  <a:pt x="7243955" y="8238836"/>
                </a:lnTo>
                <a:lnTo>
                  <a:pt x="7219935" y="8287047"/>
                </a:lnTo>
                <a:lnTo>
                  <a:pt x="7195520" y="8335060"/>
                </a:lnTo>
                <a:lnTo>
                  <a:pt x="7170710" y="8382874"/>
                </a:lnTo>
                <a:lnTo>
                  <a:pt x="7145505" y="8430487"/>
                </a:lnTo>
                <a:lnTo>
                  <a:pt x="7119921" y="8477892"/>
                </a:lnTo>
                <a:lnTo>
                  <a:pt x="7093948" y="8525082"/>
                </a:lnTo>
                <a:lnTo>
                  <a:pt x="7067589" y="8572057"/>
                </a:lnTo>
                <a:lnTo>
                  <a:pt x="7040846" y="8618817"/>
                </a:lnTo>
                <a:lnTo>
                  <a:pt x="7013721" y="8665362"/>
                </a:lnTo>
                <a:lnTo>
                  <a:pt x="6986217" y="8711692"/>
                </a:lnTo>
                <a:lnTo>
                  <a:pt x="6958334" y="8757784"/>
                </a:lnTo>
                <a:lnTo>
                  <a:pt x="6930076" y="8803644"/>
                </a:lnTo>
                <a:lnTo>
                  <a:pt x="6901443" y="8849269"/>
                </a:lnTo>
                <a:lnTo>
                  <a:pt x="6872437" y="8894659"/>
                </a:lnTo>
                <a:lnTo>
                  <a:pt x="6843059" y="8939814"/>
                </a:lnTo>
                <a:lnTo>
                  <a:pt x="6813311" y="8984732"/>
                </a:lnTo>
                <a:lnTo>
                  <a:pt x="6783199" y="9029395"/>
                </a:lnTo>
                <a:lnTo>
                  <a:pt x="6752726" y="9073811"/>
                </a:lnTo>
                <a:lnTo>
                  <a:pt x="6721894" y="9117976"/>
                </a:lnTo>
                <a:lnTo>
                  <a:pt x="6690702" y="9161889"/>
                </a:lnTo>
                <a:lnTo>
                  <a:pt x="6659149" y="9205548"/>
                </a:lnTo>
                <a:lnTo>
                  <a:pt x="6627237" y="9248949"/>
                </a:lnTo>
                <a:lnTo>
                  <a:pt x="6594970" y="9292087"/>
                </a:lnTo>
                <a:lnTo>
                  <a:pt x="6562353" y="9334956"/>
                </a:lnTo>
                <a:lnTo>
                  <a:pt x="6529387" y="9377555"/>
                </a:lnTo>
                <a:lnTo>
                  <a:pt x="6496075" y="9419881"/>
                </a:lnTo>
                <a:lnTo>
                  <a:pt x="6462417" y="9461934"/>
                </a:lnTo>
                <a:lnTo>
                  <a:pt x="6428416" y="9503711"/>
                </a:lnTo>
                <a:lnTo>
                  <a:pt x="6394063" y="9545219"/>
                </a:lnTo>
                <a:lnTo>
                  <a:pt x="6359378" y="9586438"/>
                </a:lnTo>
                <a:lnTo>
                  <a:pt x="6324360" y="9627369"/>
                </a:lnTo>
                <a:lnTo>
                  <a:pt x="6289011" y="9668012"/>
                </a:lnTo>
                <a:lnTo>
                  <a:pt x="6253331" y="9708368"/>
                </a:lnTo>
                <a:lnTo>
                  <a:pt x="6217321" y="9748438"/>
                </a:lnTo>
                <a:lnTo>
                  <a:pt x="6180976" y="9788203"/>
                </a:lnTo>
                <a:lnTo>
                  <a:pt x="6144313" y="9827668"/>
                </a:lnTo>
                <a:lnTo>
                  <a:pt x="6107333" y="9866832"/>
                </a:lnTo>
                <a:lnTo>
                  <a:pt x="6070035" y="9905692"/>
                </a:lnTo>
                <a:lnTo>
                  <a:pt x="6032417" y="9944249"/>
                </a:lnTo>
                <a:lnTo>
                  <a:pt x="5994480" y="9982499"/>
                </a:lnTo>
                <a:lnTo>
                  <a:pt x="5956230" y="10020436"/>
                </a:lnTo>
                <a:lnTo>
                  <a:pt x="5917674" y="10058054"/>
                </a:lnTo>
                <a:lnTo>
                  <a:pt x="5878813" y="10095352"/>
                </a:lnTo>
                <a:lnTo>
                  <a:pt x="5839650" y="10132332"/>
                </a:lnTo>
                <a:lnTo>
                  <a:pt x="5800185" y="10168994"/>
                </a:lnTo>
                <a:lnTo>
                  <a:pt x="5760420" y="10205340"/>
                </a:lnTo>
                <a:lnTo>
                  <a:pt x="5720349" y="10241350"/>
                </a:lnTo>
                <a:lnTo>
                  <a:pt x="5679993" y="10277030"/>
                </a:lnTo>
                <a:lnTo>
                  <a:pt x="5668530" y="10287000"/>
                </a:lnTo>
                <a:close/>
              </a:path>
            </a:pathLst>
          </a:custGeom>
          <a:solidFill>
            <a:srgbClr val="48C4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4"/>
          <p:cNvSpPr txBox="1"/>
          <p:nvPr/>
        </p:nvSpPr>
        <p:spPr>
          <a:xfrm>
            <a:off x="279060" y="1998403"/>
            <a:ext cx="2971200" cy="14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id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Modeling Flow:</a:t>
            </a:r>
            <a:endParaRPr b="1" i="0" sz="2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id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Regularized Regression</a:t>
            </a:r>
            <a:endParaRPr b="1" i="0" sz="2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4157907" y="389390"/>
            <a:ext cx="408622" cy="408622"/>
          </a:xfrm>
          <a:custGeom>
            <a:rect b="b" l="l" r="r" t="t"/>
            <a:pathLst>
              <a:path extrusionOk="0" h="817244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4"/>
          <p:cNvSpPr txBox="1"/>
          <p:nvPr/>
        </p:nvSpPr>
        <p:spPr>
          <a:xfrm>
            <a:off x="4309099" y="423935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4157907" y="2072295"/>
            <a:ext cx="408622" cy="408622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4"/>
          <p:cNvSpPr txBox="1"/>
          <p:nvPr/>
        </p:nvSpPr>
        <p:spPr>
          <a:xfrm>
            <a:off x="4291079" y="2106842"/>
            <a:ext cx="142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8549183" y="44866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4"/>
          <p:cNvSpPr txBox="1"/>
          <p:nvPr/>
        </p:nvSpPr>
        <p:spPr>
          <a:xfrm>
            <a:off x="4984363" y="2066909"/>
            <a:ext cx="2527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Fit the model on training data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4157907" y="2970393"/>
            <a:ext cx="408622" cy="408623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4"/>
          <p:cNvSpPr txBox="1"/>
          <p:nvPr/>
        </p:nvSpPr>
        <p:spPr>
          <a:xfrm>
            <a:off x="4762650" y="566168"/>
            <a:ext cx="403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 : 20 is fine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4"/>
          <p:cNvSpPr txBox="1"/>
          <p:nvPr/>
        </p:nvSpPr>
        <p:spPr>
          <a:xfrm>
            <a:off x="4762650" y="2246933"/>
            <a:ext cx="4030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and fit Lasso() or Ridge()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include retained features from step 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4"/>
          <p:cNvSpPr txBox="1"/>
          <p:nvPr/>
        </p:nvSpPr>
        <p:spPr>
          <a:xfrm>
            <a:off x="4204257" y="2976497"/>
            <a:ext cx="31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8" name="Google Shape;498;p14"/>
          <p:cNvSpPr txBox="1"/>
          <p:nvPr/>
        </p:nvSpPr>
        <p:spPr>
          <a:xfrm>
            <a:off x="4984377" y="4050954"/>
            <a:ext cx="29712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Evaluate the model on test data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4157907" y="4020890"/>
            <a:ext cx="408622" cy="408622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4"/>
          <p:cNvSpPr txBox="1"/>
          <p:nvPr/>
        </p:nvSpPr>
        <p:spPr>
          <a:xfrm>
            <a:off x="4762650" y="4230971"/>
            <a:ext cx="4030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4"/>
          <p:cNvSpPr txBox="1"/>
          <p:nvPr/>
        </p:nvSpPr>
        <p:spPr>
          <a:xfrm>
            <a:off x="4204257" y="4026994"/>
            <a:ext cx="31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2" name="Google Shape;502;p14"/>
          <p:cNvSpPr txBox="1"/>
          <p:nvPr/>
        </p:nvSpPr>
        <p:spPr>
          <a:xfrm>
            <a:off x="4984377" y="2924257"/>
            <a:ext cx="29712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Model diagnostic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3" name="Google Shape;503;p14"/>
          <p:cNvSpPr txBox="1"/>
          <p:nvPr/>
        </p:nvSpPr>
        <p:spPr>
          <a:xfrm>
            <a:off x="4762650" y="3104275"/>
            <a:ext cx="4236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Residual plot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R2 score on training data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●"/>
            </a:pPr>
            <a:r>
              <a:rPr b="0" i="1" lang="id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need QQ-plot</a:t>
            </a:r>
            <a:endParaRPr b="0" i="1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○"/>
            </a:pPr>
            <a:r>
              <a:rPr b="0" i="1" lang="id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assuming normally distributed residuals</a:t>
            </a:r>
            <a:endParaRPr b="0" i="1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4"/>
          <p:cNvSpPr txBox="1"/>
          <p:nvPr/>
        </p:nvSpPr>
        <p:spPr>
          <a:xfrm>
            <a:off x="4984378" y="1187959"/>
            <a:ext cx="30909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Multicollinearity check 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4157907" y="1234095"/>
            <a:ext cx="408622" cy="408622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4"/>
          <p:cNvSpPr txBox="1"/>
          <p:nvPr/>
        </p:nvSpPr>
        <p:spPr>
          <a:xfrm>
            <a:off x="4291079" y="1268642"/>
            <a:ext cx="142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7" name="Google Shape;507;p14"/>
          <p:cNvSpPr txBox="1"/>
          <p:nvPr/>
        </p:nvSpPr>
        <p:spPr>
          <a:xfrm>
            <a:off x="4762650" y="1385561"/>
            <a:ext cx="4030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VIF score for each feature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Correlation analysis to drop redundant feature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15"/>
          <p:cNvGrpSpPr/>
          <p:nvPr/>
        </p:nvGrpSpPr>
        <p:grpSpPr>
          <a:xfrm>
            <a:off x="4938582" y="3999"/>
            <a:ext cx="4205664" cy="5139728"/>
            <a:chOff x="9877164" y="7997"/>
            <a:chExt cx="8411328" cy="10279456"/>
          </a:xfrm>
        </p:grpSpPr>
        <p:sp>
          <p:nvSpPr>
            <p:cNvPr id="513" name="Google Shape;513;p15"/>
            <p:cNvSpPr/>
            <p:nvPr/>
          </p:nvSpPr>
          <p:spPr>
            <a:xfrm>
              <a:off x="12985608" y="305253"/>
              <a:ext cx="5302884" cy="9982200"/>
            </a:xfrm>
            <a:custGeom>
              <a:rect b="b" l="l" r="r" t="t"/>
              <a:pathLst>
                <a:path extrusionOk="0" h="9982200" w="5302884">
                  <a:moveTo>
                    <a:pt x="0" y="0"/>
                  </a:moveTo>
                  <a:lnTo>
                    <a:pt x="5302392" y="0"/>
                  </a:lnTo>
                  <a:lnTo>
                    <a:pt x="5302392" y="9981742"/>
                  </a:lnTo>
                  <a:lnTo>
                    <a:pt x="0" y="9981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B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9877164" y="7997"/>
              <a:ext cx="8411210" cy="9487535"/>
            </a:xfrm>
            <a:custGeom>
              <a:rect b="b" l="l" r="r" t="t"/>
              <a:pathLst>
                <a:path extrusionOk="0" h="9487535" w="8411210">
                  <a:moveTo>
                    <a:pt x="0" y="0"/>
                  </a:moveTo>
                  <a:lnTo>
                    <a:pt x="8410774" y="0"/>
                  </a:lnTo>
                  <a:lnTo>
                    <a:pt x="8410774" y="9487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5" name="Google Shape;515;p15"/>
          <p:cNvSpPr txBox="1"/>
          <p:nvPr>
            <p:ph type="title"/>
          </p:nvPr>
        </p:nvSpPr>
        <p:spPr>
          <a:xfrm>
            <a:off x="770682" y="1162825"/>
            <a:ext cx="44853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000">
                <a:solidFill>
                  <a:srgbClr val="262626"/>
                </a:solidFill>
              </a:rPr>
              <a:t>The Data Used</a:t>
            </a:r>
            <a:endParaRPr sz="3000"/>
          </a:p>
        </p:txBody>
      </p:sp>
      <p:sp>
        <p:nvSpPr>
          <p:cNvPr id="516" name="Google Shape;516;p15"/>
          <p:cNvSpPr/>
          <p:nvPr/>
        </p:nvSpPr>
        <p:spPr>
          <a:xfrm>
            <a:off x="0" y="45628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5"/>
          <p:cNvSpPr txBox="1"/>
          <p:nvPr/>
        </p:nvSpPr>
        <p:spPr>
          <a:xfrm>
            <a:off x="641257" y="1913775"/>
            <a:ext cx="5293200" cy="28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rest of the lecture, we will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regression_data.csv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 is about university admit probability, based on several applicant’s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 score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TOEFL score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University ranking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 letter quality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letter strength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experience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6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Split the Data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6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Using train_test_split() function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25" name="Google Shape;5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2013675"/>
            <a:ext cx="6768474" cy="206582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6"/>
          <p:cNvSpPr txBox="1"/>
          <p:nvPr/>
        </p:nvSpPr>
        <p:spPr>
          <a:xfrm>
            <a:off x="421525" y="1532775"/>
            <a:ext cx="7202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Recall, we want to predict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admit_prob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Multicollinearity (1/2)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2" name="Google Shape;532;p17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Variance Inflation Factor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7"/>
          <p:cNvSpPr txBox="1"/>
          <p:nvPr/>
        </p:nvSpPr>
        <p:spPr>
          <a:xfrm>
            <a:off x="421525" y="1532775"/>
            <a:ext cx="7792200" cy="3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Multicollinearity: when two or more features/predictors are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highly correlated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each other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can cause coefficients of estimates become </a:t>
            </a:r>
            <a:r>
              <a:rPr b="0" i="0" lang="id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unreliable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i.e.  little change in the training data leads to completely different learned coefficients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detect this by computing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Variance Inflation Factor (VIF) 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feature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 high level: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VIF feature j will be high if j can be predicted using the rest of other features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Vice versa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VIF == 1 → No multicollinearity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VIF between 4 and 10 → Moderate multicollinearity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VIF &gt; 10 →  Severe multicollinearity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475" y="3128749"/>
            <a:ext cx="2184300" cy="71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8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Multicollinearity (2/2)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1" name="Google Shape;541;p18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Using statsmodels library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1556475"/>
            <a:ext cx="6617850" cy="188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7775" y="2314350"/>
            <a:ext cx="2814524" cy="24083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545" name="Google Shape;545;p18"/>
          <p:cNvSpPr/>
          <p:nvPr/>
        </p:nvSpPr>
        <p:spPr>
          <a:xfrm>
            <a:off x="5340975" y="2313175"/>
            <a:ext cx="2792700" cy="2416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7381450" y="2595247"/>
            <a:ext cx="808800" cy="25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7381450" y="4108869"/>
            <a:ext cx="808800" cy="25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9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Feature Correlation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3" name="Google Shape;553;p19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To prevent multicollinearity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4" name="Google Shape;554;p19"/>
          <p:cNvSpPr txBox="1"/>
          <p:nvPr/>
        </p:nvSpPr>
        <p:spPr>
          <a:xfrm>
            <a:off x="421525" y="1532775"/>
            <a:ext cx="3650100" cy="3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draw a correlation heatmap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sns.heatmap()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found that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gre_score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toefl_score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gpa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highly correlated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decide to </a:t>
            </a:r>
            <a:r>
              <a:rPr b="1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 only </a:t>
            </a:r>
            <a:r>
              <a:rPr b="1" i="0" lang="id" sz="12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gpa</a:t>
            </a: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represent these three features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it is the most correlated with the target variable</a:t>
            </a:r>
            <a:b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Threshold: abs(corr) &gt;= 0.8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0532" y="994875"/>
            <a:ext cx="4581269" cy="4148626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19"/>
          <p:cNvSpPr/>
          <p:nvPr/>
        </p:nvSpPr>
        <p:spPr>
          <a:xfrm>
            <a:off x="5821300" y="994877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7542075" y="1401977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7542075" y="994865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9"/>
          <p:cNvSpPr/>
          <p:nvPr/>
        </p:nvSpPr>
        <p:spPr>
          <a:xfrm>
            <a:off x="8408137" y="2834187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8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0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Training the Model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5" name="Google Shape;565;p20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Excluding </a:t>
            </a:r>
            <a:r>
              <a:rPr b="0" i="0" lang="id" sz="1600" u="none" cap="none" strike="noStrike">
                <a:solidFill>
                  <a:srgbClr val="262626"/>
                </a:solidFill>
                <a:latin typeface="Courier Prime"/>
                <a:ea typeface="Courier Prime"/>
                <a:cs typeface="Courier Prime"/>
                <a:sym typeface="Courier Prime"/>
              </a:rPr>
              <a:t>gre_score</a:t>
            </a: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b="0" i="0" lang="id" sz="1600" u="none" cap="none" strike="noStrike">
                <a:solidFill>
                  <a:srgbClr val="262626"/>
                </a:solidFill>
                <a:latin typeface="Courier Prime"/>
                <a:ea typeface="Courier Prime"/>
                <a:cs typeface="Courier Prime"/>
                <a:sym typeface="Courier Prime"/>
              </a:rPr>
              <a:t>toefl_score</a:t>
            </a:r>
            <a:endParaRPr b="0" i="0" sz="16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7" name="Google Shape;5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1516772"/>
            <a:ext cx="6909326" cy="4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000" y="2054774"/>
            <a:ext cx="3864449" cy="205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9" name="Google Shape;569;p20"/>
          <p:cNvCxnSpPr/>
          <p:nvPr/>
        </p:nvCxnSpPr>
        <p:spPr>
          <a:xfrm>
            <a:off x="2971375" y="3422725"/>
            <a:ext cx="213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570" name="Google Shape;570;p20"/>
          <p:cNvSpPr txBox="1"/>
          <p:nvPr/>
        </p:nvSpPr>
        <p:spPr>
          <a:xfrm>
            <a:off x="5038106" y="3244084"/>
            <a:ext cx="145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one is </a:t>
            </a:r>
            <a:r>
              <a:rPr b="1" i="1" lang="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1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0"/>
          <p:cNvSpPr txBox="1"/>
          <p:nvPr/>
        </p:nvSpPr>
        <p:spPr>
          <a:xfrm>
            <a:off x="450372" y="4259600"/>
            <a:ext cx="473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lasso, only need to change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Ridge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Lasso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5475" y="2056250"/>
            <a:ext cx="3188189" cy="22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1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Comparing the Coefficients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8" name="Google Shape;578;p21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6872275" y="2950634"/>
            <a:ext cx="966600" cy="1356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1"/>
          <p:cNvSpPr txBox="1"/>
          <p:nvPr/>
        </p:nvSpPr>
        <p:spPr>
          <a:xfrm>
            <a:off x="7998725" y="3320821"/>
            <a:ext cx="84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d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exactly zero</a:t>
            </a:r>
            <a:endParaRPr b="0" i="1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1" name="Google Shape;58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125" y="2040575"/>
            <a:ext cx="3188175" cy="22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21"/>
          <p:cNvSpPr txBox="1"/>
          <p:nvPr/>
        </p:nvSpPr>
        <p:spPr>
          <a:xfrm>
            <a:off x="573588" y="1560925"/>
            <a:ext cx="298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d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Ridge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1"/>
          <p:cNvSpPr txBox="1"/>
          <p:nvPr/>
        </p:nvSpPr>
        <p:spPr>
          <a:xfrm>
            <a:off x="4497588" y="1560925"/>
            <a:ext cx="298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d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Lasso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2"/>
          <p:cNvSpPr txBox="1"/>
          <p:nvPr/>
        </p:nvSpPr>
        <p:spPr>
          <a:xfrm>
            <a:off x="673177" y="2015950"/>
            <a:ext cx="45378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Open today’s Jupyter notebook on your Google Colab!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Make sure you have uploaded the required CSV files to your google drive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Remember the file path!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9" name="Google Shape;589;p22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0" name="Google Shape;59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7750" y="1650725"/>
            <a:ext cx="3463329" cy="18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2"/>
          <p:cNvSpPr txBox="1"/>
          <p:nvPr>
            <p:ph type="title"/>
          </p:nvPr>
        </p:nvSpPr>
        <p:spPr>
          <a:xfrm>
            <a:off x="1689375" y="804325"/>
            <a:ext cx="64026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Hands-On</a:t>
            </a:r>
            <a:endParaRPr sz="4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92" name="Google Shape;59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048" y="629600"/>
            <a:ext cx="1016200" cy="10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5475" y="2056250"/>
            <a:ext cx="3188189" cy="22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3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Comparing the Coefficients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9" name="Google Shape;599;p2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6872275" y="2950634"/>
            <a:ext cx="966600" cy="1356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3"/>
          <p:cNvSpPr txBox="1"/>
          <p:nvPr/>
        </p:nvSpPr>
        <p:spPr>
          <a:xfrm>
            <a:off x="7998725" y="3320821"/>
            <a:ext cx="84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d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exactly zero</a:t>
            </a:r>
            <a:endParaRPr b="0" i="1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2" name="Google Shape;60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125" y="2040575"/>
            <a:ext cx="3188175" cy="22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3"/>
          <p:cNvSpPr txBox="1"/>
          <p:nvPr/>
        </p:nvSpPr>
        <p:spPr>
          <a:xfrm>
            <a:off x="573588" y="1560925"/>
            <a:ext cx="298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d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Ridge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3"/>
          <p:cNvSpPr txBox="1"/>
          <p:nvPr/>
        </p:nvSpPr>
        <p:spPr>
          <a:xfrm>
            <a:off x="4497588" y="1560925"/>
            <a:ext cx="298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d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Lasso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3"/>
          <p:cNvSpPr txBox="1"/>
          <p:nvPr/>
        </p:nvSpPr>
        <p:spPr>
          <a:xfrm>
            <a:off x="584200" y="4273563"/>
            <a:ext cx="46833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id" sz="20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But... </a:t>
            </a:r>
            <a:endParaRPr b="1" i="1" sz="20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id" sz="20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select the best lambda?</a:t>
            </a:r>
            <a:endParaRPr b="1" i="1" sz="20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4"/>
          <p:cNvSpPr/>
          <p:nvPr/>
        </p:nvSpPr>
        <p:spPr>
          <a:xfrm>
            <a:off x="0" y="0"/>
            <a:ext cx="3961765" cy="5143500"/>
          </a:xfrm>
          <a:custGeom>
            <a:rect b="b" l="l" r="r" t="t"/>
            <a:pathLst>
              <a:path extrusionOk="0" h="10287000" w="7923530">
                <a:moveTo>
                  <a:pt x="566853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5209055" y="0"/>
                </a:lnTo>
                <a:lnTo>
                  <a:pt x="5217529" y="6124"/>
                </a:lnTo>
                <a:lnTo>
                  <a:pt x="5260930" y="38040"/>
                </a:lnTo>
                <a:lnTo>
                  <a:pt x="5304069" y="70310"/>
                </a:lnTo>
                <a:lnTo>
                  <a:pt x="5346938" y="102927"/>
                </a:lnTo>
                <a:lnTo>
                  <a:pt x="5389536" y="135891"/>
                </a:lnTo>
                <a:lnTo>
                  <a:pt x="5431862" y="169203"/>
                </a:lnTo>
                <a:lnTo>
                  <a:pt x="5473915" y="202862"/>
                </a:lnTo>
                <a:lnTo>
                  <a:pt x="5515692" y="236869"/>
                </a:lnTo>
                <a:lnTo>
                  <a:pt x="5557200" y="271217"/>
                </a:lnTo>
                <a:lnTo>
                  <a:pt x="5598419" y="305898"/>
                </a:lnTo>
                <a:lnTo>
                  <a:pt x="5639350" y="340913"/>
                </a:lnTo>
                <a:lnTo>
                  <a:pt x="5679993" y="376261"/>
                </a:lnTo>
                <a:lnTo>
                  <a:pt x="5720349" y="411943"/>
                </a:lnTo>
                <a:lnTo>
                  <a:pt x="5760420" y="447959"/>
                </a:lnTo>
                <a:lnTo>
                  <a:pt x="5800185" y="484301"/>
                </a:lnTo>
                <a:lnTo>
                  <a:pt x="5839650" y="520962"/>
                </a:lnTo>
                <a:lnTo>
                  <a:pt x="5878813" y="557943"/>
                </a:lnTo>
                <a:lnTo>
                  <a:pt x="5917674" y="595244"/>
                </a:lnTo>
                <a:lnTo>
                  <a:pt x="5956230" y="632863"/>
                </a:lnTo>
                <a:lnTo>
                  <a:pt x="5994480" y="670802"/>
                </a:lnTo>
                <a:lnTo>
                  <a:pt x="6032417" y="709052"/>
                </a:lnTo>
                <a:lnTo>
                  <a:pt x="6070035" y="747607"/>
                </a:lnTo>
                <a:lnTo>
                  <a:pt x="6107333" y="786465"/>
                </a:lnTo>
                <a:lnTo>
                  <a:pt x="6144313" y="825627"/>
                </a:lnTo>
                <a:lnTo>
                  <a:pt x="6180976" y="865093"/>
                </a:lnTo>
                <a:lnTo>
                  <a:pt x="6217321" y="904863"/>
                </a:lnTo>
                <a:lnTo>
                  <a:pt x="6253331" y="944928"/>
                </a:lnTo>
                <a:lnTo>
                  <a:pt x="6289011" y="985281"/>
                </a:lnTo>
                <a:lnTo>
                  <a:pt x="6324360" y="1025922"/>
                </a:lnTo>
                <a:lnTo>
                  <a:pt x="6359378" y="1066851"/>
                </a:lnTo>
                <a:lnTo>
                  <a:pt x="6394063" y="1108069"/>
                </a:lnTo>
                <a:lnTo>
                  <a:pt x="6428416" y="1149575"/>
                </a:lnTo>
                <a:lnTo>
                  <a:pt x="6462417" y="1191359"/>
                </a:lnTo>
                <a:lnTo>
                  <a:pt x="6496075" y="1233414"/>
                </a:lnTo>
                <a:lnTo>
                  <a:pt x="6529387" y="1275741"/>
                </a:lnTo>
                <a:lnTo>
                  <a:pt x="6562353" y="1318338"/>
                </a:lnTo>
                <a:lnTo>
                  <a:pt x="6594970" y="1361206"/>
                </a:lnTo>
                <a:lnTo>
                  <a:pt x="6627237" y="1404344"/>
                </a:lnTo>
                <a:lnTo>
                  <a:pt x="6659149" y="1447746"/>
                </a:lnTo>
                <a:lnTo>
                  <a:pt x="6690702" y="1491404"/>
                </a:lnTo>
                <a:lnTo>
                  <a:pt x="6721894" y="1535317"/>
                </a:lnTo>
                <a:lnTo>
                  <a:pt x="6752726" y="1579483"/>
                </a:lnTo>
                <a:lnTo>
                  <a:pt x="6783199" y="1623898"/>
                </a:lnTo>
                <a:lnTo>
                  <a:pt x="6813311" y="1668562"/>
                </a:lnTo>
                <a:lnTo>
                  <a:pt x="6843059" y="1713480"/>
                </a:lnTo>
                <a:lnTo>
                  <a:pt x="6872437" y="1758635"/>
                </a:lnTo>
                <a:lnTo>
                  <a:pt x="6901443" y="1804025"/>
                </a:lnTo>
                <a:lnTo>
                  <a:pt x="6930076" y="1849650"/>
                </a:lnTo>
                <a:lnTo>
                  <a:pt x="6958334" y="1895509"/>
                </a:lnTo>
                <a:lnTo>
                  <a:pt x="6986217" y="1941602"/>
                </a:lnTo>
                <a:lnTo>
                  <a:pt x="7013721" y="1987930"/>
                </a:lnTo>
                <a:lnTo>
                  <a:pt x="7040846" y="2034470"/>
                </a:lnTo>
                <a:lnTo>
                  <a:pt x="7067589" y="2081226"/>
                </a:lnTo>
                <a:lnTo>
                  <a:pt x="7093948" y="2128200"/>
                </a:lnTo>
                <a:lnTo>
                  <a:pt x="7119921" y="2175392"/>
                </a:lnTo>
                <a:lnTo>
                  <a:pt x="7145505" y="2222807"/>
                </a:lnTo>
                <a:lnTo>
                  <a:pt x="7170710" y="2270420"/>
                </a:lnTo>
                <a:lnTo>
                  <a:pt x="7195520" y="2318234"/>
                </a:lnTo>
                <a:lnTo>
                  <a:pt x="7219935" y="2366247"/>
                </a:lnTo>
                <a:lnTo>
                  <a:pt x="7243955" y="2414457"/>
                </a:lnTo>
                <a:lnTo>
                  <a:pt x="7267579" y="2462864"/>
                </a:lnTo>
                <a:lnTo>
                  <a:pt x="7290809" y="2511465"/>
                </a:lnTo>
                <a:lnTo>
                  <a:pt x="7313650" y="2560264"/>
                </a:lnTo>
                <a:lnTo>
                  <a:pt x="7336085" y="2609239"/>
                </a:lnTo>
                <a:lnTo>
                  <a:pt x="7358114" y="2658391"/>
                </a:lnTo>
                <a:lnTo>
                  <a:pt x="7379740" y="2707722"/>
                </a:lnTo>
                <a:lnTo>
                  <a:pt x="7400963" y="2757230"/>
                </a:lnTo>
                <a:lnTo>
                  <a:pt x="7421785" y="2806918"/>
                </a:lnTo>
                <a:lnTo>
                  <a:pt x="7442192" y="2856775"/>
                </a:lnTo>
                <a:lnTo>
                  <a:pt x="7462192" y="2906791"/>
                </a:lnTo>
                <a:lnTo>
                  <a:pt x="7481785" y="2956966"/>
                </a:lnTo>
                <a:lnTo>
                  <a:pt x="7500967" y="3007301"/>
                </a:lnTo>
                <a:lnTo>
                  <a:pt x="7519736" y="3057797"/>
                </a:lnTo>
                <a:lnTo>
                  <a:pt x="7538091" y="3108455"/>
                </a:lnTo>
                <a:lnTo>
                  <a:pt x="7556029" y="3159251"/>
                </a:lnTo>
                <a:lnTo>
                  <a:pt x="7573550" y="3210187"/>
                </a:lnTo>
                <a:lnTo>
                  <a:pt x="7590654" y="3261262"/>
                </a:lnTo>
                <a:lnTo>
                  <a:pt x="7607341" y="3312475"/>
                </a:lnTo>
                <a:lnTo>
                  <a:pt x="7623611" y="3363826"/>
                </a:lnTo>
                <a:lnTo>
                  <a:pt x="7639464" y="3415313"/>
                </a:lnTo>
                <a:lnTo>
                  <a:pt x="7654895" y="3466928"/>
                </a:lnTo>
                <a:lnTo>
                  <a:pt x="7669901" y="3518661"/>
                </a:lnTo>
                <a:lnTo>
                  <a:pt x="7684481" y="3570513"/>
                </a:lnTo>
                <a:lnTo>
                  <a:pt x="7698635" y="3622483"/>
                </a:lnTo>
                <a:lnTo>
                  <a:pt x="7712364" y="3674572"/>
                </a:lnTo>
                <a:lnTo>
                  <a:pt x="7725666" y="3726779"/>
                </a:lnTo>
                <a:lnTo>
                  <a:pt x="7738541" y="3779094"/>
                </a:lnTo>
                <a:lnTo>
                  <a:pt x="7750985" y="3831505"/>
                </a:lnTo>
                <a:lnTo>
                  <a:pt x="7763000" y="3884011"/>
                </a:lnTo>
                <a:lnTo>
                  <a:pt x="7774584" y="3936611"/>
                </a:lnTo>
                <a:lnTo>
                  <a:pt x="7785738" y="3989304"/>
                </a:lnTo>
                <a:lnTo>
                  <a:pt x="7796461" y="4042091"/>
                </a:lnTo>
                <a:lnTo>
                  <a:pt x="7806755" y="4094974"/>
                </a:lnTo>
                <a:lnTo>
                  <a:pt x="7816616" y="4147932"/>
                </a:lnTo>
                <a:lnTo>
                  <a:pt x="7826045" y="4200965"/>
                </a:lnTo>
                <a:lnTo>
                  <a:pt x="7835039" y="4254072"/>
                </a:lnTo>
                <a:lnTo>
                  <a:pt x="7843597" y="4307254"/>
                </a:lnTo>
                <a:lnTo>
                  <a:pt x="7851717" y="4360511"/>
                </a:lnTo>
                <a:lnTo>
                  <a:pt x="7859401" y="4413842"/>
                </a:lnTo>
                <a:lnTo>
                  <a:pt x="7866650" y="4467223"/>
                </a:lnTo>
                <a:lnTo>
                  <a:pt x="7873462" y="4520655"/>
                </a:lnTo>
                <a:lnTo>
                  <a:pt x="7879838" y="4574140"/>
                </a:lnTo>
                <a:lnTo>
                  <a:pt x="7885776" y="4627680"/>
                </a:lnTo>
                <a:lnTo>
                  <a:pt x="7891276" y="4681274"/>
                </a:lnTo>
                <a:lnTo>
                  <a:pt x="7896337" y="4734904"/>
                </a:lnTo>
                <a:lnTo>
                  <a:pt x="7900959" y="4788570"/>
                </a:lnTo>
                <a:lnTo>
                  <a:pt x="7905143" y="4842272"/>
                </a:lnTo>
                <a:lnTo>
                  <a:pt x="7908887" y="4896006"/>
                </a:lnTo>
                <a:lnTo>
                  <a:pt x="7912192" y="4949772"/>
                </a:lnTo>
                <a:lnTo>
                  <a:pt x="7915059" y="5003565"/>
                </a:lnTo>
                <a:lnTo>
                  <a:pt x="7917484" y="5057390"/>
                </a:lnTo>
                <a:lnTo>
                  <a:pt x="7919467" y="5111224"/>
                </a:lnTo>
                <a:lnTo>
                  <a:pt x="7921008" y="5165067"/>
                </a:lnTo>
                <a:lnTo>
                  <a:pt x="7922107" y="5218918"/>
                </a:lnTo>
                <a:lnTo>
                  <a:pt x="7922767" y="5272778"/>
                </a:lnTo>
                <a:lnTo>
                  <a:pt x="7922986" y="5326647"/>
                </a:lnTo>
                <a:lnTo>
                  <a:pt x="7922767" y="5380516"/>
                </a:lnTo>
                <a:lnTo>
                  <a:pt x="7922107" y="5434376"/>
                </a:lnTo>
                <a:lnTo>
                  <a:pt x="7921008" y="5488227"/>
                </a:lnTo>
                <a:lnTo>
                  <a:pt x="7919467" y="5542069"/>
                </a:lnTo>
                <a:lnTo>
                  <a:pt x="7917484" y="5595903"/>
                </a:lnTo>
                <a:lnTo>
                  <a:pt x="7915059" y="5649728"/>
                </a:lnTo>
                <a:lnTo>
                  <a:pt x="7912192" y="5703522"/>
                </a:lnTo>
                <a:lnTo>
                  <a:pt x="7908887" y="5757287"/>
                </a:lnTo>
                <a:lnTo>
                  <a:pt x="7905143" y="5811022"/>
                </a:lnTo>
                <a:lnTo>
                  <a:pt x="7900959" y="5864723"/>
                </a:lnTo>
                <a:lnTo>
                  <a:pt x="7896337" y="5918390"/>
                </a:lnTo>
                <a:lnTo>
                  <a:pt x="7891276" y="5972019"/>
                </a:lnTo>
                <a:lnTo>
                  <a:pt x="7885776" y="6025614"/>
                </a:lnTo>
                <a:lnTo>
                  <a:pt x="7879838" y="6079153"/>
                </a:lnTo>
                <a:lnTo>
                  <a:pt x="7873462" y="6132638"/>
                </a:lnTo>
                <a:lnTo>
                  <a:pt x="7866650" y="6186070"/>
                </a:lnTo>
                <a:lnTo>
                  <a:pt x="7859401" y="6239451"/>
                </a:lnTo>
                <a:lnTo>
                  <a:pt x="7851717" y="6292783"/>
                </a:lnTo>
                <a:lnTo>
                  <a:pt x="7843597" y="6346039"/>
                </a:lnTo>
                <a:lnTo>
                  <a:pt x="7835039" y="6399221"/>
                </a:lnTo>
                <a:lnTo>
                  <a:pt x="7826045" y="6452328"/>
                </a:lnTo>
                <a:lnTo>
                  <a:pt x="7816616" y="6505361"/>
                </a:lnTo>
                <a:lnTo>
                  <a:pt x="7806755" y="6558319"/>
                </a:lnTo>
                <a:lnTo>
                  <a:pt x="7796461" y="6611202"/>
                </a:lnTo>
                <a:lnTo>
                  <a:pt x="7785738" y="6663989"/>
                </a:lnTo>
                <a:lnTo>
                  <a:pt x="7774584" y="6716683"/>
                </a:lnTo>
                <a:lnTo>
                  <a:pt x="7763000" y="6769283"/>
                </a:lnTo>
                <a:lnTo>
                  <a:pt x="7750985" y="6821789"/>
                </a:lnTo>
                <a:lnTo>
                  <a:pt x="7738541" y="6874199"/>
                </a:lnTo>
                <a:lnTo>
                  <a:pt x="7725666" y="6926514"/>
                </a:lnTo>
                <a:lnTo>
                  <a:pt x="7712364" y="6978722"/>
                </a:lnTo>
                <a:lnTo>
                  <a:pt x="7698635" y="7030810"/>
                </a:lnTo>
                <a:lnTo>
                  <a:pt x="7684481" y="7082781"/>
                </a:lnTo>
                <a:lnTo>
                  <a:pt x="7669901" y="7134633"/>
                </a:lnTo>
                <a:lnTo>
                  <a:pt x="7654895" y="7186366"/>
                </a:lnTo>
                <a:lnTo>
                  <a:pt x="7639464" y="7237981"/>
                </a:lnTo>
                <a:lnTo>
                  <a:pt x="7623611" y="7289468"/>
                </a:lnTo>
                <a:lnTo>
                  <a:pt x="7607341" y="7340819"/>
                </a:lnTo>
                <a:lnTo>
                  <a:pt x="7590654" y="7392032"/>
                </a:lnTo>
                <a:lnTo>
                  <a:pt x="7573550" y="7443106"/>
                </a:lnTo>
                <a:lnTo>
                  <a:pt x="7556029" y="7494042"/>
                </a:lnTo>
                <a:lnTo>
                  <a:pt x="7538091" y="7544838"/>
                </a:lnTo>
                <a:lnTo>
                  <a:pt x="7519738" y="7595496"/>
                </a:lnTo>
                <a:lnTo>
                  <a:pt x="7500973" y="7645992"/>
                </a:lnTo>
                <a:lnTo>
                  <a:pt x="7481795" y="7696328"/>
                </a:lnTo>
                <a:lnTo>
                  <a:pt x="7462204" y="7746503"/>
                </a:lnTo>
                <a:lnTo>
                  <a:pt x="7442201" y="7796518"/>
                </a:lnTo>
                <a:lnTo>
                  <a:pt x="7421785" y="7846375"/>
                </a:lnTo>
                <a:lnTo>
                  <a:pt x="7400963" y="7896063"/>
                </a:lnTo>
                <a:lnTo>
                  <a:pt x="7379740" y="7945572"/>
                </a:lnTo>
                <a:lnTo>
                  <a:pt x="7358114" y="7994902"/>
                </a:lnTo>
                <a:lnTo>
                  <a:pt x="7336085" y="8044054"/>
                </a:lnTo>
                <a:lnTo>
                  <a:pt x="7313650" y="8093030"/>
                </a:lnTo>
                <a:lnTo>
                  <a:pt x="7290809" y="8141829"/>
                </a:lnTo>
                <a:lnTo>
                  <a:pt x="7267579" y="8190430"/>
                </a:lnTo>
                <a:lnTo>
                  <a:pt x="7243955" y="8238836"/>
                </a:lnTo>
                <a:lnTo>
                  <a:pt x="7219935" y="8287047"/>
                </a:lnTo>
                <a:lnTo>
                  <a:pt x="7195520" y="8335060"/>
                </a:lnTo>
                <a:lnTo>
                  <a:pt x="7170710" y="8382874"/>
                </a:lnTo>
                <a:lnTo>
                  <a:pt x="7145505" y="8430487"/>
                </a:lnTo>
                <a:lnTo>
                  <a:pt x="7119921" y="8477892"/>
                </a:lnTo>
                <a:lnTo>
                  <a:pt x="7093948" y="8525082"/>
                </a:lnTo>
                <a:lnTo>
                  <a:pt x="7067589" y="8572057"/>
                </a:lnTo>
                <a:lnTo>
                  <a:pt x="7040846" y="8618817"/>
                </a:lnTo>
                <a:lnTo>
                  <a:pt x="7013721" y="8665362"/>
                </a:lnTo>
                <a:lnTo>
                  <a:pt x="6986217" y="8711692"/>
                </a:lnTo>
                <a:lnTo>
                  <a:pt x="6958334" y="8757784"/>
                </a:lnTo>
                <a:lnTo>
                  <a:pt x="6930076" y="8803644"/>
                </a:lnTo>
                <a:lnTo>
                  <a:pt x="6901443" y="8849269"/>
                </a:lnTo>
                <a:lnTo>
                  <a:pt x="6872437" y="8894659"/>
                </a:lnTo>
                <a:lnTo>
                  <a:pt x="6843059" y="8939814"/>
                </a:lnTo>
                <a:lnTo>
                  <a:pt x="6813311" y="8984732"/>
                </a:lnTo>
                <a:lnTo>
                  <a:pt x="6783199" y="9029395"/>
                </a:lnTo>
                <a:lnTo>
                  <a:pt x="6752726" y="9073811"/>
                </a:lnTo>
                <a:lnTo>
                  <a:pt x="6721894" y="9117976"/>
                </a:lnTo>
                <a:lnTo>
                  <a:pt x="6690702" y="9161889"/>
                </a:lnTo>
                <a:lnTo>
                  <a:pt x="6659149" y="9205548"/>
                </a:lnTo>
                <a:lnTo>
                  <a:pt x="6627237" y="9248949"/>
                </a:lnTo>
                <a:lnTo>
                  <a:pt x="6594970" y="9292087"/>
                </a:lnTo>
                <a:lnTo>
                  <a:pt x="6562353" y="9334956"/>
                </a:lnTo>
                <a:lnTo>
                  <a:pt x="6529387" y="9377555"/>
                </a:lnTo>
                <a:lnTo>
                  <a:pt x="6496075" y="9419881"/>
                </a:lnTo>
                <a:lnTo>
                  <a:pt x="6462417" y="9461934"/>
                </a:lnTo>
                <a:lnTo>
                  <a:pt x="6428416" y="9503711"/>
                </a:lnTo>
                <a:lnTo>
                  <a:pt x="6394063" y="9545219"/>
                </a:lnTo>
                <a:lnTo>
                  <a:pt x="6359378" y="9586438"/>
                </a:lnTo>
                <a:lnTo>
                  <a:pt x="6324360" y="9627369"/>
                </a:lnTo>
                <a:lnTo>
                  <a:pt x="6289011" y="9668012"/>
                </a:lnTo>
                <a:lnTo>
                  <a:pt x="6253331" y="9708368"/>
                </a:lnTo>
                <a:lnTo>
                  <a:pt x="6217321" y="9748438"/>
                </a:lnTo>
                <a:lnTo>
                  <a:pt x="6180976" y="9788203"/>
                </a:lnTo>
                <a:lnTo>
                  <a:pt x="6144313" y="9827668"/>
                </a:lnTo>
                <a:lnTo>
                  <a:pt x="6107333" y="9866832"/>
                </a:lnTo>
                <a:lnTo>
                  <a:pt x="6070035" y="9905692"/>
                </a:lnTo>
                <a:lnTo>
                  <a:pt x="6032417" y="9944249"/>
                </a:lnTo>
                <a:lnTo>
                  <a:pt x="5994480" y="9982499"/>
                </a:lnTo>
                <a:lnTo>
                  <a:pt x="5956230" y="10020436"/>
                </a:lnTo>
                <a:lnTo>
                  <a:pt x="5917674" y="10058054"/>
                </a:lnTo>
                <a:lnTo>
                  <a:pt x="5878813" y="10095352"/>
                </a:lnTo>
                <a:lnTo>
                  <a:pt x="5839650" y="10132332"/>
                </a:lnTo>
                <a:lnTo>
                  <a:pt x="5800185" y="10168994"/>
                </a:lnTo>
                <a:lnTo>
                  <a:pt x="5760420" y="10205340"/>
                </a:lnTo>
                <a:lnTo>
                  <a:pt x="5720349" y="10241350"/>
                </a:lnTo>
                <a:lnTo>
                  <a:pt x="5679993" y="10277030"/>
                </a:lnTo>
                <a:lnTo>
                  <a:pt x="5668530" y="10287000"/>
                </a:lnTo>
                <a:close/>
              </a:path>
            </a:pathLst>
          </a:custGeom>
          <a:solidFill>
            <a:srgbClr val="48C4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4"/>
          <p:cNvSpPr txBox="1"/>
          <p:nvPr/>
        </p:nvSpPr>
        <p:spPr>
          <a:xfrm>
            <a:off x="279060" y="1998403"/>
            <a:ext cx="2971200" cy="18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id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Modeling Flow:</a:t>
            </a:r>
            <a:endParaRPr b="1" i="0" sz="2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id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Regularized Regression</a:t>
            </a:r>
            <a:endParaRPr b="1" i="0" sz="2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id" sz="21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(with choosing lambda)</a:t>
            </a:r>
            <a:endParaRPr b="1" i="0" sz="21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4157907" y="160790"/>
            <a:ext cx="408622" cy="408622"/>
          </a:xfrm>
          <a:custGeom>
            <a:rect b="b" l="l" r="r" t="t"/>
            <a:pathLst>
              <a:path extrusionOk="0" h="817244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4"/>
          <p:cNvSpPr txBox="1"/>
          <p:nvPr/>
        </p:nvSpPr>
        <p:spPr>
          <a:xfrm>
            <a:off x="4309099" y="195335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4" name="Google Shape;614;p24"/>
          <p:cNvSpPr/>
          <p:nvPr/>
        </p:nvSpPr>
        <p:spPr>
          <a:xfrm>
            <a:off x="4157907" y="1843695"/>
            <a:ext cx="408622" cy="408622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4"/>
          <p:cNvSpPr txBox="1"/>
          <p:nvPr/>
        </p:nvSpPr>
        <p:spPr>
          <a:xfrm>
            <a:off x="4291079" y="1878242"/>
            <a:ext cx="142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8549183" y="44866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4"/>
          <p:cNvSpPr txBox="1"/>
          <p:nvPr/>
        </p:nvSpPr>
        <p:spPr>
          <a:xfrm>
            <a:off x="4984382" y="1838300"/>
            <a:ext cx="3911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Fit multiple models on training data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8" name="Google Shape;618;p24"/>
          <p:cNvSpPr/>
          <p:nvPr/>
        </p:nvSpPr>
        <p:spPr>
          <a:xfrm>
            <a:off x="4157907" y="2693802"/>
            <a:ext cx="408622" cy="408622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4"/>
          <p:cNvSpPr txBox="1"/>
          <p:nvPr/>
        </p:nvSpPr>
        <p:spPr>
          <a:xfrm>
            <a:off x="4762650" y="2018325"/>
            <a:ext cx="4236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 multiple models with different lambdas (alpha)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include retained features from step 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4"/>
          <p:cNvSpPr txBox="1"/>
          <p:nvPr/>
        </p:nvSpPr>
        <p:spPr>
          <a:xfrm>
            <a:off x="4204257" y="2699906"/>
            <a:ext cx="31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1" name="Google Shape;621;p24"/>
          <p:cNvSpPr txBox="1"/>
          <p:nvPr/>
        </p:nvSpPr>
        <p:spPr>
          <a:xfrm>
            <a:off x="4984377" y="4050954"/>
            <a:ext cx="29712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Evaluate the model on test data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4157907" y="3382105"/>
            <a:ext cx="408622" cy="408622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4"/>
          <p:cNvSpPr txBox="1"/>
          <p:nvPr/>
        </p:nvSpPr>
        <p:spPr>
          <a:xfrm>
            <a:off x="4762650" y="4230971"/>
            <a:ext cx="4030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4"/>
          <p:cNvSpPr txBox="1"/>
          <p:nvPr/>
        </p:nvSpPr>
        <p:spPr>
          <a:xfrm>
            <a:off x="4204257" y="3388210"/>
            <a:ext cx="31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5" name="Google Shape;625;p24"/>
          <p:cNvSpPr txBox="1"/>
          <p:nvPr/>
        </p:nvSpPr>
        <p:spPr>
          <a:xfrm>
            <a:off x="4984377" y="3352272"/>
            <a:ext cx="29712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Model diagnostic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6" name="Google Shape;626;p24"/>
          <p:cNvSpPr txBox="1"/>
          <p:nvPr/>
        </p:nvSpPr>
        <p:spPr>
          <a:xfrm>
            <a:off x="4762650" y="3532291"/>
            <a:ext cx="423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Residual plot, R2 score on training data</a:t>
            </a:r>
            <a:endParaRPr b="0" i="1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4"/>
          <p:cNvSpPr txBox="1"/>
          <p:nvPr/>
        </p:nvSpPr>
        <p:spPr>
          <a:xfrm>
            <a:off x="4984378" y="959359"/>
            <a:ext cx="30909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Multicollinearity check 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4157907" y="1005495"/>
            <a:ext cx="408622" cy="408623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4"/>
          <p:cNvSpPr txBox="1"/>
          <p:nvPr/>
        </p:nvSpPr>
        <p:spPr>
          <a:xfrm>
            <a:off x="4291079" y="1040042"/>
            <a:ext cx="142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0" name="Google Shape;630;p24"/>
          <p:cNvSpPr txBox="1"/>
          <p:nvPr/>
        </p:nvSpPr>
        <p:spPr>
          <a:xfrm>
            <a:off x="4762650" y="1156961"/>
            <a:ext cx="4030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VIF score for each feature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Correlation analysis to drop redundant feature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1" name="Google Shape;631;p24"/>
          <p:cNvCxnSpPr/>
          <p:nvPr/>
        </p:nvCxnSpPr>
        <p:spPr>
          <a:xfrm>
            <a:off x="5811125" y="4626325"/>
            <a:ext cx="7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632" name="Google Shape;632;p24"/>
          <p:cNvCxnSpPr/>
          <p:nvPr/>
        </p:nvCxnSpPr>
        <p:spPr>
          <a:xfrm>
            <a:off x="5811125" y="4826716"/>
            <a:ext cx="7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633" name="Google Shape;633;p24"/>
          <p:cNvSpPr txBox="1"/>
          <p:nvPr/>
        </p:nvSpPr>
        <p:spPr>
          <a:xfrm>
            <a:off x="6591575" y="4438266"/>
            <a:ext cx="1483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id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for today</a:t>
            </a:r>
            <a:endParaRPr b="0" i="1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4"/>
          <p:cNvSpPr txBox="1"/>
          <p:nvPr/>
        </p:nvSpPr>
        <p:spPr>
          <a:xfrm>
            <a:off x="6591575" y="4647084"/>
            <a:ext cx="1483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id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for today</a:t>
            </a:r>
            <a:endParaRPr b="0" i="1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4"/>
          <p:cNvSpPr txBox="1"/>
          <p:nvPr/>
        </p:nvSpPr>
        <p:spPr>
          <a:xfrm>
            <a:off x="4984377" y="115720"/>
            <a:ext cx="29712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Split data: train - </a:t>
            </a:r>
            <a:r>
              <a:rPr b="1" i="0" lang="id" sz="1400" u="sng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validate</a:t>
            </a:r>
            <a:r>
              <a:rPr b="1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 - test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6" name="Google Shape;636;p24"/>
          <p:cNvSpPr txBox="1"/>
          <p:nvPr/>
        </p:nvSpPr>
        <p:spPr>
          <a:xfrm>
            <a:off x="4762650" y="291622"/>
            <a:ext cx="4030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80% → 80% training vs 20% validation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20% testing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4"/>
          <p:cNvSpPr txBox="1"/>
          <p:nvPr/>
        </p:nvSpPr>
        <p:spPr>
          <a:xfrm>
            <a:off x="4974975" y="2705909"/>
            <a:ext cx="3808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Choose the best lambda from validation set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8" name="Google Shape;638;p24"/>
          <p:cNvSpPr txBox="1"/>
          <p:nvPr/>
        </p:nvSpPr>
        <p:spPr>
          <a:xfrm>
            <a:off x="4753247" y="2906790"/>
            <a:ext cx="403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one with the smallest RMSE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4"/>
          <p:cNvSpPr/>
          <p:nvPr/>
        </p:nvSpPr>
        <p:spPr>
          <a:xfrm>
            <a:off x="4157907" y="4030293"/>
            <a:ext cx="408622" cy="408622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4"/>
          <p:cNvSpPr txBox="1"/>
          <p:nvPr/>
        </p:nvSpPr>
        <p:spPr>
          <a:xfrm>
            <a:off x="4204257" y="4036398"/>
            <a:ext cx="31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1" name="Google Shape;641;p24"/>
          <p:cNvSpPr/>
          <p:nvPr/>
        </p:nvSpPr>
        <p:spPr>
          <a:xfrm>
            <a:off x="4033925" y="75225"/>
            <a:ext cx="4861500" cy="794100"/>
          </a:xfrm>
          <a:prstGeom prst="rect">
            <a:avLst/>
          </a:prstGeom>
          <a:noFill/>
          <a:ln cap="flat" cmpd="sng" w="19050">
            <a:solidFill>
              <a:srgbClr val="48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4"/>
          <p:cNvSpPr/>
          <p:nvPr/>
        </p:nvSpPr>
        <p:spPr>
          <a:xfrm>
            <a:off x="4033925" y="1751625"/>
            <a:ext cx="4861500" cy="1524600"/>
          </a:xfrm>
          <a:prstGeom prst="rect">
            <a:avLst/>
          </a:prstGeom>
          <a:noFill/>
          <a:ln cap="flat" cmpd="sng" w="19050">
            <a:solidFill>
              <a:srgbClr val="48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5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Split the Data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8" name="Google Shape;648;p25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We now have three data: train-validation-test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9" name="Google Shape;649;p2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5"/>
          <p:cNvSpPr txBox="1"/>
          <p:nvPr/>
        </p:nvSpPr>
        <p:spPr>
          <a:xfrm>
            <a:off x="421525" y="1532775"/>
            <a:ext cx="7202400" cy="24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First, split the data into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pre-train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(80:20)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b="0" i="0" lang="id" sz="1350" u="none" cap="none" strike="noStrike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train_test_split(feature, target)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Next, split pre-train data into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(80:20)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b="0" i="0" lang="id" sz="1350" u="none" cap="none" strike="noStrike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train_test_split(feature_pretrain, target_pretrain)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6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Feature Correlation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6" name="Google Shape;656;p26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To prevent multicollinearity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7" name="Google Shape;657;p26"/>
          <p:cNvSpPr txBox="1"/>
          <p:nvPr/>
        </p:nvSpPr>
        <p:spPr>
          <a:xfrm>
            <a:off x="421525" y="1532775"/>
            <a:ext cx="36501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Same as previously, will drop: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gre_score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toefl_score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8" name="Google Shape;6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0532" y="994875"/>
            <a:ext cx="4581269" cy="4148626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26"/>
          <p:cNvSpPr/>
          <p:nvPr/>
        </p:nvSpPr>
        <p:spPr>
          <a:xfrm>
            <a:off x="5821300" y="994877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6"/>
          <p:cNvSpPr/>
          <p:nvPr/>
        </p:nvSpPr>
        <p:spPr>
          <a:xfrm>
            <a:off x="7542075" y="1401977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6"/>
          <p:cNvSpPr/>
          <p:nvPr/>
        </p:nvSpPr>
        <p:spPr>
          <a:xfrm>
            <a:off x="7542075" y="994865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8408137" y="2834187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8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7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Train Multiple Models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8" name="Google Shape;668;p27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9" name="Google Shape;66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1785075"/>
            <a:ext cx="4938301" cy="315934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27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Lambda (alpha) in [0.01, 0.1, 1, 10]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8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Choosing the Best Lambda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6" name="Google Shape;676;p28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Using validation data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7" name="Google Shape;677;p2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8" name="Google Shape;67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900" y="1620198"/>
            <a:ext cx="6646050" cy="2824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9" name="Google Shape;679;p28"/>
          <p:cNvCxnSpPr/>
          <p:nvPr/>
        </p:nvCxnSpPr>
        <p:spPr>
          <a:xfrm>
            <a:off x="6516350" y="3798850"/>
            <a:ext cx="80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680" name="Google Shape;680;p28"/>
          <p:cNvSpPr txBox="1"/>
          <p:nvPr/>
        </p:nvSpPr>
        <p:spPr>
          <a:xfrm>
            <a:off x="7250399" y="3620200"/>
            <a:ext cx="175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best lambda is 0.01 </a:t>
            </a:r>
            <a:endParaRPr b="1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219" y="1913502"/>
            <a:ext cx="3376706" cy="24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29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Interpreting the Best Model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7" name="Google Shape;687;p29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Best model == model with the best lambda</a:t>
            </a:r>
            <a:endParaRPr b="0" i="0" sz="16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688" name="Google Shape;688;p29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9"/>
          <p:cNvSpPr/>
          <p:nvPr/>
        </p:nvSpPr>
        <p:spPr>
          <a:xfrm>
            <a:off x="3108875" y="2274850"/>
            <a:ext cx="1463100" cy="2067600"/>
          </a:xfrm>
          <a:prstGeom prst="rect">
            <a:avLst/>
          </a:prstGeom>
          <a:noFill/>
          <a:ln cap="flat" cmpd="sng" w="19050">
            <a:solidFill>
              <a:srgbClr val="F08B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0" name="Google Shape;690;p29"/>
          <p:cNvCxnSpPr>
            <a:stCxn id="689" idx="0"/>
          </p:cNvCxnSpPr>
          <p:nvPr/>
        </p:nvCxnSpPr>
        <p:spPr>
          <a:xfrm rot="10800000">
            <a:off x="3840425" y="1763050"/>
            <a:ext cx="0" cy="5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1" name="Google Shape;691;p29"/>
          <p:cNvCxnSpPr/>
          <p:nvPr/>
        </p:nvCxnSpPr>
        <p:spPr>
          <a:xfrm>
            <a:off x="3840140" y="1763150"/>
            <a:ext cx="161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2" name="Google Shape;692;p29"/>
          <p:cNvSpPr txBox="1"/>
          <p:nvPr/>
        </p:nvSpPr>
        <p:spPr>
          <a:xfrm>
            <a:off x="5457799" y="1574642"/>
            <a:ext cx="3535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admit_prob = -0.741 +</a:t>
            </a:r>
            <a:endParaRPr b="0" i="0" sz="12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	0.005 uni_rank + 0.009 motiv +</a:t>
            </a:r>
            <a:endParaRPr b="0" i="0" sz="12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	0.015 recom + 0.155 gpa + 	</a:t>
            </a:r>
            <a:endParaRPr b="0" i="0" sz="12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0.042 research</a:t>
            </a:r>
            <a:endParaRPr b="0" i="0" sz="12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Interpretation?</a:t>
            </a:r>
            <a:endParaRPr b="0" i="0" sz="12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0"/>
          <p:cNvSpPr txBox="1"/>
          <p:nvPr/>
        </p:nvSpPr>
        <p:spPr>
          <a:xfrm>
            <a:off x="673177" y="2015950"/>
            <a:ext cx="45378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Open today’s Jupyter notebook on your Google Colab!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Make sure you have uploaded the required CSV files to your google drive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Remember the file path!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8" name="Google Shape;698;p3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9" name="Google Shape;69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7750" y="1650725"/>
            <a:ext cx="3463329" cy="18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30"/>
          <p:cNvSpPr txBox="1"/>
          <p:nvPr>
            <p:ph type="title"/>
          </p:nvPr>
        </p:nvSpPr>
        <p:spPr>
          <a:xfrm>
            <a:off x="1689375" y="804325"/>
            <a:ext cx="64026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Hands-On</a:t>
            </a:r>
            <a:endParaRPr sz="4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01" name="Google Shape;70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048" y="629600"/>
            <a:ext cx="1016200" cy="10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190193d37e_0_80"/>
          <p:cNvSpPr txBox="1"/>
          <p:nvPr/>
        </p:nvSpPr>
        <p:spPr>
          <a:xfrm>
            <a:off x="628650" y="228600"/>
            <a:ext cx="73743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Evaluasi: MAE, RMSE, R</a:t>
            </a:r>
            <a:r>
              <a:rPr b="1" baseline="30000" lang="id" sz="2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baseline="30000" sz="2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8" name="Google Shape;708;g3190193d37e_0_80"/>
          <p:cNvSpPr txBox="1"/>
          <p:nvPr/>
        </p:nvSpPr>
        <p:spPr>
          <a:xfrm>
            <a:off x="457200" y="971550"/>
            <a:ext cx="7374300" cy="27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Mean Absolute Error (MAE): </a:t>
            </a:r>
            <a:r>
              <a:rPr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mengukur rata-rata error dari hasil prediksi tanpa memperhitungkan arah (semakin kecil semakin baik)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Root mean squared error (RMSE)</a:t>
            </a:r>
            <a:r>
              <a:rPr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adalah aturan penilaian kuadrat yang juga mengukur besarnya rata-rata kesalahan.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b="1" baseline="30000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berkisar antara 0-1, mengindikasikan seberapa besar variabel independen mempengaruhi variabel dependen. semakin mendekati angka 1, model semakin baik.</a:t>
            </a: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9" name="Google Shape;709;g3190193d37e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1088" y="1525688"/>
            <a:ext cx="2250281" cy="642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g3190193d37e_0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8216" y="2789156"/>
            <a:ext cx="2336006" cy="642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g3190193d37e_0_80"/>
          <p:cNvPicPr preferRelativeResize="0"/>
          <p:nvPr/>
        </p:nvPicPr>
        <p:blipFill rotWithShape="1">
          <a:blip r:embed="rId5">
            <a:alphaModFix/>
          </a:blip>
          <a:srcRect b="54603" l="0" r="0" t="0"/>
          <a:stretch/>
        </p:blipFill>
        <p:spPr>
          <a:xfrm>
            <a:off x="2749388" y="4273538"/>
            <a:ext cx="2250281" cy="547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g3190193d37e_0_80"/>
          <p:cNvPicPr preferRelativeResize="0"/>
          <p:nvPr/>
        </p:nvPicPr>
        <p:blipFill rotWithShape="1">
          <a:blip r:embed="rId5">
            <a:alphaModFix/>
          </a:blip>
          <a:srcRect b="0" l="0" r="0" t="46695"/>
          <a:stretch/>
        </p:blipFill>
        <p:spPr>
          <a:xfrm>
            <a:off x="4297744" y="4178157"/>
            <a:ext cx="2250281" cy="642937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g3190193d37e_0_8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190193d37e_0_161"/>
          <p:cNvSpPr txBox="1"/>
          <p:nvPr/>
        </p:nvSpPr>
        <p:spPr>
          <a:xfrm>
            <a:off x="628650" y="457200"/>
            <a:ext cx="73743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Kapan menggunakan MAE/RMSE?</a:t>
            </a:r>
            <a:endParaRPr b="1" sz="2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g3190193d37e_0_161"/>
          <p:cNvSpPr txBox="1"/>
          <p:nvPr/>
        </p:nvSpPr>
        <p:spPr>
          <a:xfrm>
            <a:off x="756848" y="4004834"/>
            <a:ext cx="66894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d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RMSE mempunyai keuntungan dengan </a:t>
            </a:r>
            <a:r>
              <a:rPr lang="id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memberikan penalti error yang besar, sehingga menghasilkan pengukuran yang tepat untuk beberapa kasus yang lebih sensitif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1" name="Google Shape;721;g3190193d37e_0_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419" y="1041787"/>
            <a:ext cx="7117406" cy="272482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g3190193d37e_0_161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1"/>
          <p:cNvSpPr txBox="1"/>
          <p:nvPr>
            <p:ph type="title"/>
          </p:nvPr>
        </p:nvSpPr>
        <p:spPr>
          <a:xfrm>
            <a:off x="1651000" y="640675"/>
            <a:ext cx="63609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Model Ev</a:t>
            </a:r>
            <a:r>
              <a:rPr lang="id" sz="4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id" sz="4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luation </a:t>
            </a:r>
            <a:endParaRPr sz="4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8" name="Google Shape;728;p31"/>
          <p:cNvSpPr txBox="1"/>
          <p:nvPr/>
        </p:nvSpPr>
        <p:spPr>
          <a:xfrm>
            <a:off x="2097925" y="1878325"/>
            <a:ext cx="51174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absolute percentage error (MAPE)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far </a:t>
            </a:r>
            <a:r>
              <a:rPr b="1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relative percentage basis</a:t>
            </a: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model’s prediction </a:t>
            </a:r>
            <a:r>
              <a:rPr b="1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to the actual data</a:t>
            </a: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average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9" name="Google Shape;72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0263" y="3047575"/>
            <a:ext cx="345757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" name="Google Shape;734;p32"/>
          <p:cNvGrpSpPr/>
          <p:nvPr/>
        </p:nvGrpSpPr>
        <p:grpSpPr>
          <a:xfrm>
            <a:off x="0" y="2"/>
            <a:ext cx="9144000" cy="2081215"/>
            <a:chOff x="0" y="5"/>
            <a:chExt cx="18288000" cy="4162430"/>
          </a:xfrm>
        </p:grpSpPr>
        <p:sp>
          <p:nvSpPr>
            <p:cNvPr id="735" name="Google Shape;735;p32"/>
            <p:cNvSpPr/>
            <p:nvPr/>
          </p:nvSpPr>
          <p:spPr>
            <a:xfrm>
              <a:off x="0" y="5"/>
              <a:ext cx="18288000" cy="4162425"/>
            </a:xfrm>
            <a:custGeom>
              <a:rect b="b" l="l" r="r" t="t"/>
              <a:pathLst>
                <a:path extrusionOk="0" h="4162425" w="1828800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32"/>
            <p:cNvSpPr/>
            <p:nvPr/>
          </p:nvSpPr>
          <p:spPr>
            <a:xfrm>
              <a:off x="14123883" y="10"/>
              <a:ext cx="4162425" cy="4162425"/>
            </a:xfrm>
            <a:custGeom>
              <a:rect b="b" l="l" r="r" t="t"/>
              <a:pathLst>
                <a:path extrusionOk="0" h="4162425" w="4162425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7" name="Google Shape;737;p32"/>
          <p:cNvSpPr txBox="1"/>
          <p:nvPr>
            <p:ph type="title"/>
          </p:nvPr>
        </p:nvSpPr>
        <p:spPr>
          <a:xfrm>
            <a:off x="508000" y="640675"/>
            <a:ext cx="66135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200">
                <a:latin typeface="Georgia"/>
                <a:ea typeface="Georgia"/>
                <a:cs typeface="Georgia"/>
                <a:sym typeface="Georgia"/>
              </a:rPr>
              <a:t>Model Evaluation (2/2)</a:t>
            </a:r>
            <a:endParaRPr sz="4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8" name="Google Shape;738;p32"/>
          <p:cNvSpPr/>
          <p:nvPr/>
        </p:nvSpPr>
        <p:spPr>
          <a:xfrm>
            <a:off x="5434225" y="2439975"/>
            <a:ext cx="3578400" cy="2412900"/>
          </a:xfrm>
          <a:prstGeom prst="roundRect">
            <a:avLst>
              <a:gd fmla="val 612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2"/>
          <p:cNvSpPr txBox="1"/>
          <p:nvPr/>
        </p:nvSpPr>
        <p:spPr>
          <a:xfrm>
            <a:off x="5605400" y="2478250"/>
            <a:ext cx="3252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MAE = 0.040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average, our prediction deviates the true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admit_prob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0.040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MAPE = 0.065 = 6.5%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Moreover, this </a:t>
            </a: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0.040 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equivalent to 6.5% deviation relative to the true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admit_prob</a:t>
            </a:r>
            <a:endParaRPr b="0" i="0" sz="14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pic>
        <p:nvPicPr>
          <p:cNvPr id="740" name="Google Shape;7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75" y="2638400"/>
            <a:ext cx="5277325" cy="157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3"/>
          <p:cNvSpPr/>
          <p:nvPr/>
        </p:nvSpPr>
        <p:spPr>
          <a:xfrm>
            <a:off x="0" y="1"/>
            <a:ext cx="9144000" cy="1425631"/>
          </a:xfrm>
          <a:custGeom>
            <a:rect b="b" l="l" r="r" t="t"/>
            <a:pathLst>
              <a:path extrusionOk="0" h="4162425" w="18288000">
                <a:moveTo>
                  <a:pt x="18288000" y="4162425"/>
                </a:moveTo>
                <a:lnTo>
                  <a:pt x="0" y="4162425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4162425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33"/>
          <p:cNvSpPr txBox="1"/>
          <p:nvPr>
            <p:ph type="title"/>
          </p:nvPr>
        </p:nvSpPr>
        <p:spPr>
          <a:xfrm>
            <a:off x="463700" y="-2356"/>
            <a:ext cx="76377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latin typeface="Georgia"/>
                <a:ea typeface="Georgia"/>
                <a:cs typeface="Georgia"/>
                <a:sym typeface="Georgia"/>
              </a:rPr>
              <a:t>When to Use: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latin typeface="Georgia"/>
                <a:ea typeface="Georgia"/>
                <a:cs typeface="Georgia"/>
                <a:sym typeface="Georgia"/>
              </a:rPr>
              <a:t>Ridge vs LASSO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7" name="Google Shape;747;p3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3"/>
          <p:cNvSpPr txBox="1"/>
          <p:nvPr/>
        </p:nvSpPr>
        <p:spPr>
          <a:xfrm>
            <a:off x="974575" y="1254170"/>
            <a:ext cx="1759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id" sz="9600" u="none" cap="none" strike="noStrike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i="0" sz="9600" u="none" cap="none" strike="noStrike">
              <a:solidFill>
                <a:srgbClr val="CCCCC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49" name="Google Shape;749;p33"/>
          <p:cNvSpPr txBox="1"/>
          <p:nvPr/>
        </p:nvSpPr>
        <p:spPr>
          <a:xfrm>
            <a:off x="1389500" y="1918582"/>
            <a:ext cx="237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Ridge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0" name="Google Shape;750;p33"/>
          <p:cNvSpPr txBox="1"/>
          <p:nvPr/>
        </p:nvSpPr>
        <p:spPr>
          <a:xfrm>
            <a:off x="1242778" y="2567057"/>
            <a:ext cx="33291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Only make the coefficients small, NOT zero 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Works well if there are many large parameters of about the same value</a:t>
            </a:r>
            <a:endParaRPr b="1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1" name="Google Shape;751;p33"/>
          <p:cNvSpPr txBox="1"/>
          <p:nvPr/>
        </p:nvSpPr>
        <p:spPr>
          <a:xfrm>
            <a:off x="5084950" y="1254170"/>
            <a:ext cx="1759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id" sz="9600" u="none" cap="none" strike="noStrike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i="0" sz="9600" u="none" cap="none" strike="noStrike">
              <a:solidFill>
                <a:srgbClr val="CCCCC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52" name="Google Shape;752;p33"/>
          <p:cNvSpPr txBox="1"/>
          <p:nvPr/>
        </p:nvSpPr>
        <p:spPr>
          <a:xfrm>
            <a:off x="5499875" y="1918582"/>
            <a:ext cx="313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LASSO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3" name="Google Shape;753;p33"/>
          <p:cNvSpPr txBox="1"/>
          <p:nvPr/>
        </p:nvSpPr>
        <p:spPr>
          <a:xfrm>
            <a:off x="5367423" y="2567057"/>
            <a:ext cx="34428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 set some coefficients to zero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Thus performing variable selection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Tends to do well if there are a small number of significant parameters and the others are close to zero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4" name="Google Shape;754;p33"/>
          <p:cNvSpPr txBox="1"/>
          <p:nvPr/>
        </p:nvSpPr>
        <p:spPr>
          <a:xfrm>
            <a:off x="3072000" y="4170850"/>
            <a:ext cx="3000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id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That said, ridge and LASSO oftentimes perform similarly, just train both and choose the best!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33"/>
          <p:cNvSpPr/>
          <p:nvPr/>
        </p:nvSpPr>
        <p:spPr>
          <a:xfrm>
            <a:off x="3023125" y="4177775"/>
            <a:ext cx="3134700" cy="78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5"/>
          <p:cNvSpPr txBox="1"/>
          <p:nvPr/>
        </p:nvSpPr>
        <p:spPr>
          <a:xfrm>
            <a:off x="673177" y="2015950"/>
            <a:ext cx="45378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Open today’s Jupyter notebook on your Google Colab!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Make sure you have uploaded the required CSV files to your google drive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Remember the file path!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6" name="Google Shape;766;p3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7" name="Google Shape;76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7750" y="1650725"/>
            <a:ext cx="3463329" cy="18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35"/>
          <p:cNvSpPr txBox="1"/>
          <p:nvPr>
            <p:ph type="title"/>
          </p:nvPr>
        </p:nvSpPr>
        <p:spPr>
          <a:xfrm>
            <a:off x="1689375" y="804325"/>
            <a:ext cx="64026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Hands-On</a:t>
            </a:r>
            <a:endParaRPr sz="4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69" name="Google Shape;76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048" y="629600"/>
            <a:ext cx="1016200" cy="10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oogle Shape;774;p36"/>
          <p:cNvGrpSpPr/>
          <p:nvPr/>
        </p:nvGrpSpPr>
        <p:grpSpPr>
          <a:xfrm>
            <a:off x="0" y="2"/>
            <a:ext cx="9144000" cy="2081532"/>
            <a:chOff x="0" y="2"/>
            <a:chExt cx="9144000" cy="2081532"/>
          </a:xfrm>
        </p:grpSpPr>
        <p:sp>
          <p:nvSpPr>
            <p:cNvPr id="775" name="Google Shape;775;p36"/>
            <p:cNvSpPr/>
            <p:nvPr/>
          </p:nvSpPr>
          <p:spPr>
            <a:xfrm>
              <a:off x="0" y="2"/>
              <a:ext cx="9144000" cy="2081530"/>
            </a:xfrm>
            <a:custGeom>
              <a:rect b="b" l="l" r="r" t="t"/>
              <a:pathLst>
                <a:path extrusionOk="0" h="2081530" w="9144000">
                  <a:moveTo>
                    <a:pt x="9143981" y="2081208"/>
                  </a:moveTo>
                  <a:lnTo>
                    <a:pt x="0" y="2081208"/>
                  </a:lnTo>
                  <a:lnTo>
                    <a:pt x="0" y="0"/>
                  </a:lnTo>
                  <a:lnTo>
                    <a:pt x="9143981" y="0"/>
                  </a:lnTo>
                  <a:lnTo>
                    <a:pt x="9143981" y="2081208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6"/>
            <p:cNvSpPr/>
            <p:nvPr/>
          </p:nvSpPr>
          <p:spPr>
            <a:xfrm>
              <a:off x="7061935" y="4"/>
              <a:ext cx="2081529" cy="2081530"/>
            </a:xfrm>
            <a:custGeom>
              <a:rect b="b" l="l" r="r" t="t"/>
              <a:pathLst>
                <a:path extrusionOk="0" h="2081530" w="2081529">
                  <a:moveTo>
                    <a:pt x="926748" y="2081200"/>
                  </a:moveTo>
                  <a:lnTo>
                    <a:pt x="0" y="2081200"/>
                  </a:lnTo>
                  <a:lnTo>
                    <a:pt x="124" y="2056950"/>
                  </a:lnTo>
                  <a:lnTo>
                    <a:pt x="1224" y="2008648"/>
                  </a:lnTo>
                  <a:lnTo>
                    <a:pt x="3424" y="1960623"/>
                  </a:lnTo>
                  <a:lnTo>
                    <a:pt x="6699" y="1912888"/>
                  </a:lnTo>
                  <a:lnTo>
                    <a:pt x="11049" y="1865453"/>
                  </a:lnTo>
                  <a:lnTo>
                    <a:pt x="16424" y="1818331"/>
                  </a:lnTo>
                  <a:lnTo>
                    <a:pt x="22874" y="1771533"/>
                  </a:lnTo>
                  <a:lnTo>
                    <a:pt x="30349" y="1725074"/>
                  </a:lnTo>
                  <a:lnTo>
                    <a:pt x="38824" y="1678964"/>
                  </a:lnTo>
                  <a:lnTo>
                    <a:pt x="48324" y="1633214"/>
                  </a:lnTo>
                  <a:lnTo>
                    <a:pt x="58824" y="1587834"/>
                  </a:lnTo>
                  <a:lnTo>
                    <a:pt x="70299" y="1542841"/>
                  </a:lnTo>
                  <a:lnTo>
                    <a:pt x="82749" y="1498246"/>
                  </a:lnTo>
                  <a:lnTo>
                    <a:pt x="96149" y="1454059"/>
                  </a:lnTo>
                  <a:lnTo>
                    <a:pt x="110499" y="1410292"/>
                  </a:lnTo>
                  <a:lnTo>
                    <a:pt x="125774" y="1366957"/>
                  </a:lnTo>
                  <a:lnTo>
                    <a:pt x="141999" y="1324067"/>
                  </a:lnTo>
                  <a:lnTo>
                    <a:pt x="159124" y="1281634"/>
                  </a:lnTo>
                  <a:lnTo>
                    <a:pt x="177149" y="1239670"/>
                  </a:lnTo>
                  <a:lnTo>
                    <a:pt x="196049" y="1198187"/>
                  </a:lnTo>
                  <a:lnTo>
                    <a:pt x="215849" y="1157195"/>
                  </a:lnTo>
                  <a:lnTo>
                    <a:pt x="236499" y="1116710"/>
                  </a:lnTo>
                  <a:lnTo>
                    <a:pt x="257999" y="1076737"/>
                  </a:lnTo>
                  <a:lnTo>
                    <a:pt x="280324" y="1037295"/>
                  </a:lnTo>
                  <a:lnTo>
                    <a:pt x="303499" y="998395"/>
                  </a:lnTo>
                  <a:lnTo>
                    <a:pt x="327474" y="960045"/>
                  </a:lnTo>
                  <a:lnTo>
                    <a:pt x="352274" y="922260"/>
                  </a:lnTo>
                  <a:lnTo>
                    <a:pt x="377849" y="885053"/>
                  </a:lnTo>
                  <a:lnTo>
                    <a:pt x="404224" y="848430"/>
                  </a:lnTo>
                  <a:lnTo>
                    <a:pt x="431349" y="812410"/>
                  </a:lnTo>
                  <a:lnTo>
                    <a:pt x="459224" y="777003"/>
                  </a:lnTo>
                  <a:lnTo>
                    <a:pt x="487849" y="742221"/>
                  </a:lnTo>
                  <a:lnTo>
                    <a:pt x="517198" y="708073"/>
                  </a:lnTo>
                  <a:lnTo>
                    <a:pt x="547298" y="674573"/>
                  </a:lnTo>
                  <a:lnTo>
                    <a:pt x="578073" y="641733"/>
                  </a:lnTo>
                  <a:lnTo>
                    <a:pt x="609548" y="609566"/>
                  </a:lnTo>
                  <a:lnTo>
                    <a:pt x="641723" y="578083"/>
                  </a:lnTo>
                  <a:lnTo>
                    <a:pt x="674573" y="547296"/>
                  </a:lnTo>
                  <a:lnTo>
                    <a:pt x="708073" y="517216"/>
                  </a:lnTo>
                  <a:lnTo>
                    <a:pt x="742223" y="487856"/>
                  </a:lnTo>
                  <a:lnTo>
                    <a:pt x="776998" y="459229"/>
                  </a:lnTo>
                  <a:lnTo>
                    <a:pt x="812398" y="431346"/>
                  </a:lnTo>
                  <a:lnTo>
                    <a:pt x="848423" y="404219"/>
                  </a:lnTo>
                  <a:lnTo>
                    <a:pt x="885048" y="377859"/>
                  </a:lnTo>
                  <a:lnTo>
                    <a:pt x="922248" y="352279"/>
                  </a:lnTo>
                  <a:lnTo>
                    <a:pt x="960048" y="327491"/>
                  </a:lnTo>
                  <a:lnTo>
                    <a:pt x="998397" y="303506"/>
                  </a:lnTo>
                  <a:lnTo>
                    <a:pt x="1037297" y="280339"/>
                  </a:lnTo>
                  <a:lnTo>
                    <a:pt x="1076722" y="257996"/>
                  </a:lnTo>
                  <a:lnTo>
                    <a:pt x="1116697" y="236496"/>
                  </a:lnTo>
                  <a:lnTo>
                    <a:pt x="1157197" y="215847"/>
                  </a:lnTo>
                  <a:lnTo>
                    <a:pt x="1198172" y="196061"/>
                  </a:lnTo>
                  <a:lnTo>
                    <a:pt x="1239672" y="177150"/>
                  </a:lnTo>
                  <a:lnTo>
                    <a:pt x="1281622" y="159127"/>
                  </a:lnTo>
                  <a:lnTo>
                    <a:pt x="1324072" y="142004"/>
                  </a:lnTo>
                  <a:lnTo>
                    <a:pt x="1366947" y="125792"/>
                  </a:lnTo>
                  <a:lnTo>
                    <a:pt x="1410297" y="110504"/>
                  </a:lnTo>
                  <a:lnTo>
                    <a:pt x="1454047" y="96151"/>
                  </a:lnTo>
                  <a:lnTo>
                    <a:pt x="1498246" y="82746"/>
                  </a:lnTo>
                  <a:lnTo>
                    <a:pt x="1542846" y="70300"/>
                  </a:lnTo>
                  <a:lnTo>
                    <a:pt x="1587821" y="58825"/>
                  </a:lnTo>
                  <a:lnTo>
                    <a:pt x="1633221" y="48334"/>
                  </a:lnTo>
                  <a:lnTo>
                    <a:pt x="1678971" y="38838"/>
                  </a:lnTo>
                  <a:lnTo>
                    <a:pt x="1725071" y="30349"/>
                  </a:lnTo>
                  <a:lnTo>
                    <a:pt x="1771521" y="22880"/>
                  </a:lnTo>
                  <a:lnTo>
                    <a:pt x="1818321" y="16441"/>
                  </a:lnTo>
                  <a:lnTo>
                    <a:pt x="1865446" y="11046"/>
                  </a:lnTo>
                  <a:lnTo>
                    <a:pt x="1912896" y="6706"/>
                  </a:lnTo>
                  <a:lnTo>
                    <a:pt x="1960621" y="3434"/>
                  </a:lnTo>
                  <a:lnTo>
                    <a:pt x="2008645" y="1240"/>
                  </a:lnTo>
                  <a:lnTo>
                    <a:pt x="2056945" y="137"/>
                  </a:lnTo>
                  <a:lnTo>
                    <a:pt x="2081195" y="0"/>
                  </a:lnTo>
                  <a:lnTo>
                    <a:pt x="2081195" y="926750"/>
                  </a:lnTo>
                  <a:lnTo>
                    <a:pt x="2057045" y="926998"/>
                  </a:lnTo>
                  <a:lnTo>
                    <a:pt x="2033020" y="927738"/>
                  </a:lnTo>
                  <a:lnTo>
                    <a:pt x="1985321" y="930675"/>
                  </a:lnTo>
                  <a:lnTo>
                    <a:pt x="1938196" y="935520"/>
                  </a:lnTo>
                  <a:lnTo>
                    <a:pt x="1891621" y="942240"/>
                  </a:lnTo>
                  <a:lnTo>
                    <a:pt x="1845696" y="950793"/>
                  </a:lnTo>
                  <a:lnTo>
                    <a:pt x="1800396" y="961140"/>
                  </a:lnTo>
                  <a:lnTo>
                    <a:pt x="1755821" y="973243"/>
                  </a:lnTo>
                  <a:lnTo>
                    <a:pt x="1711946" y="987063"/>
                  </a:lnTo>
                  <a:lnTo>
                    <a:pt x="1668871" y="1002562"/>
                  </a:lnTo>
                  <a:lnTo>
                    <a:pt x="1626596" y="1019705"/>
                  </a:lnTo>
                  <a:lnTo>
                    <a:pt x="1585171" y="1038447"/>
                  </a:lnTo>
                  <a:lnTo>
                    <a:pt x="1544646" y="1058752"/>
                  </a:lnTo>
                  <a:lnTo>
                    <a:pt x="1505046" y="1080582"/>
                  </a:lnTo>
                  <a:lnTo>
                    <a:pt x="1466397" y="1103900"/>
                  </a:lnTo>
                  <a:lnTo>
                    <a:pt x="1428772" y="1128665"/>
                  </a:lnTo>
                  <a:lnTo>
                    <a:pt x="1392172" y="1154840"/>
                  </a:lnTo>
                  <a:lnTo>
                    <a:pt x="1356647" y="1182382"/>
                  </a:lnTo>
                  <a:lnTo>
                    <a:pt x="1322272" y="1211260"/>
                  </a:lnTo>
                  <a:lnTo>
                    <a:pt x="1289022" y="1241429"/>
                  </a:lnTo>
                  <a:lnTo>
                    <a:pt x="1256997" y="1272854"/>
                  </a:lnTo>
                  <a:lnTo>
                    <a:pt x="1226197" y="1305494"/>
                  </a:lnTo>
                  <a:lnTo>
                    <a:pt x="1196647" y="1339314"/>
                  </a:lnTo>
                  <a:lnTo>
                    <a:pt x="1168447" y="1374272"/>
                  </a:lnTo>
                  <a:lnTo>
                    <a:pt x="1141572" y="1410329"/>
                  </a:lnTo>
                  <a:lnTo>
                    <a:pt x="1116097" y="1447449"/>
                  </a:lnTo>
                  <a:lnTo>
                    <a:pt x="1092047" y="1485594"/>
                  </a:lnTo>
                  <a:lnTo>
                    <a:pt x="1069472" y="1524721"/>
                  </a:lnTo>
                  <a:lnTo>
                    <a:pt x="1048397" y="1564796"/>
                  </a:lnTo>
                  <a:lnTo>
                    <a:pt x="1028872" y="1605779"/>
                  </a:lnTo>
                  <a:lnTo>
                    <a:pt x="1010922" y="1647631"/>
                  </a:lnTo>
                  <a:lnTo>
                    <a:pt x="994597" y="1690314"/>
                  </a:lnTo>
                  <a:lnTo>
                    <a:pt x="979948" y="1733789"/>
                  </a:lnTo>
                  <a:lnTo>
                    <a:pt x="966973" y="1778016"/>
                  </a:lnTo>
                  <a:lnTo>
                    <a:pt x="955748" y="1822958"/>
                  </a:lnTo>
                  <a:lnTo>
                    <a:pt x="946298" y="1868578"/>
                  </a:lnTo>
                  <a:lnTo>
                    <a:pt x="938648" y="1914836"/>
                  </a:lnTo>
                  <a:lnTo>
                    <a:pt x="932873" y="1961693"/>
                  </a:lnTo>
                  <a:lnTo>
                    <a:pt x="928973" y="2009108"/>
                  </a:lnTo>
                  <a:lnTo>
                    <a:pt x="926998" y="2057048"/>
                  </a:lnTo>
                  <a:lnTo>
                    <a:pt x="926748" y="2081200"/>
                  </a:lnTo>
                  <a:close/>
                </a:path>
              </a:pathLst>
            </a:custGeom>
            <a:solidFill>
              <a:srgbClr val="FFDD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7" name="Google Shape;777;p36"/>
          <p:cNvSpPr txBox="1"/>
          <p:nvPr/>
        </p:nvSpPr>
        <p:spPr>
          <a:xfrm>
            <a:off x="789371" y="2250200"/>
            <a:ext cx="73698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-340360" lvl="0" marL="34036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600"/>
              <a:buFont typeface="Arial"/>
              <a:buChar char="●"/>
            </a:pPr>
            <a:r>
              <a:rPr b="0" i="0" lang="id" sz="1600" u="none" cap="none" strike="noStrike">
                <a:solidFill>
                  <a:srgbClr val="23232D"/>
                </a:solidFill>
                <a:latin typeface="Trebuchet MS"/>
                <a:ea typeface="Trebuchet MS"/>
                <a:cs typeface="Trebuchet MS"/>
                <a:sym typeface="Trebuchet MS"/>
              </a:rPr>
              <a:t>What to submit? </a:t>
            </a:r>
            <a:r>
              <a:rPr b="1" i="0" lang="id" sz="16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Google colab</a:t>
            </a:r>
            <a:r>
              <a:rPr b="1" lang="id" sz="16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/kaggle</a:t>
            </a:r>
            <a:r>
              <a:rPr b="1" i="0" lang="id" sz="16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link (MANDATORY)</a:t>
            </a:r>
            <a:r>
              <a:rPr b="0" i="0" lang="id" sz="1600" u="none" cap="none" strike="noStrike">
                <a:solidFill>
                  <a:srgbClr val="23232D"/>
                </a:solidFill>
                <a:latin typeface="Trebuchet MS"/>
                <a:ea typeface="Trebuchet MS"/>
                <a:cs typeface="Trebuchet MS"/>
                <a:sym typeface="Trebuchet MS"/>
              </a:rPr>
              <a:t> (don’t forget to share access to me:  </a:t>
            </a:r>
            <a:r>
              <a:rPr lang="id" sz="1600">
                <a:solidFill>
                  <a:srgbClr val="23232D"/>
                </a:solidFill>
                <a:latin typeface="Trebuchet MS"/>
                <a:ea typeface="Trebuchet MS"/>
                <a:cs typeface="Trebuchet MS"/>
                <a:sym typeface="Trebuchet MS"/>
              </a:rPr>
              <a:t>arifromadhan</a:t>
            </a:r>
            <a:r>
              <a:rPr b="0" i="0" lang="id" sz="1600" u="none" cap="none" strike="noStrike">
                <a:solidFill>
                  <a:srgbClr val="23232D"/>
                </a:solidFill>
                <a:latin typeface="Trebuchet MS"/>
                <a:ea typeface="Trebuchet MS"/>
                <a:cs typeface="Trebuchet MS"/>
                <a:sym typeface="Trebuchet MS"/>
              </a:rPr>
              <a:t>19@gmail.com)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7979" lvl="1" marL="798195" marR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23232D"/>
              </a:buClr>
              <a:buSzPts val="1600"/>
              <a:buFont typeface="Arial"/>
              <a:buChar char="○"/>
            </a:pPr>
            <a:r>
              <a:rPr b="0" i="0" lang="id" sz="1600" u="none" cap="none" strike="noStrike">
                <a:solidFill>
                  <a:srgbClr val="23232D"/>
                </a:solidFill>
                <a:latin typeface="Trebuchet MS"/>
                <a:ea typeface="Trebuchet MS"/>
                <a:cs typeface="Trebuchet MS"/>
                <a:sym typeface="Trebuchet MS"/>
              </a:rPr>
              <a:t>Format notebook name: HW_REGRESSION_&lt;YOUR COMPLETE NAME&gt;</a:t>
            </a:r>
            <a:endParaRPr b="0" i="0" sz="1600" u="none" cap="none" strike="noStrike">
              <a:solidFill>
                <a:srgbClr val="23232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8" name="Google Shape;778;p36"/>
          <p:cNvSpPr txBox="1"/>
          <p:nvPr>
            <p:ph type="title"/>
          </p:nvPr>
        </p:nvSpPr>
        <p:spPr>
          <a:xfrm>
            <a:off x="508001" y="605625"/>
            <a:ext cx="46173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id" sz="4400">
                <a:latin typeface="Georgia"/>
                <a:ea typeface="Georgia"/>
                <a:cs typeface="Georgia"/>
                <a:sym typeface="Georgia"/>
              </a:rPr>
              <a:t>Assignment</a:t>
            </a:r>
            <a:endParaRPr/>
          </a:p>
        </p:txBody>
      </p:sp>
      <p:sp>
        <p:nvSpPr>
          <p:cNvPr id="779" name="Google Shape;779;p36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4" name="Google Shape;784;p37"/>
          <p:cNvGrpSpPr/>
          <p:nvPr/>
        </p:nvGrpSpPr>
        <p:grpSpPr>
          <a:xfrm>
            <a:off x="4938582" y="3999"/>
            <a:ext cx="4205664" cy="5139728"/>
            <a:chOff x="9877164" y="7997"/>
            <a:chExt cx="8411328" cy="10279456"/>
          </a:xfrm>
        </p:grpSpPr>
        <p:sp>
          <p:nvSpPr>
            <p:cNvPr id="785" name="Google Shape;785;p37"/>
            <p:cNvSpPr/>
            <p:nvPr/>
          </p:nvSpPr>
          <p:spPr>
            <a:xfrm>
              <a:off x="12985608" y="305253"/>
              <a:ext cx="5302884" cy="9982200"/>
            </a:xfrm>
            <a:custGeom>
              <a:rect b="b" l="l" r="r" t="t"/>
              <a:pathLst>
                <a:path extrusionOk="0" h="9982200" w="5302884">
                  <a:moveTo>
                    <a:pt x="0" y="0"/>
                  </a:moveTo>
                  <a:lnTo>
                    <a:pt x="5302392" y="0"/>
                  </a:lnTo>
                  <a:lnTo>
                    <a:pt x="5302392" y="9981742"/>
                  </a:lnTo>
                  <a:lnTo>
                    <a:pt x="0" y="9981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B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37"/>
            <p:cNvSpPr/>
            <p:nvPr/>
          </p:nvSpPr>
          <p:spPr>
            <a:xfrm>
              <a:off x="9877164" y="7997"/>
              <a:ext cx="8411210" cy="9487535"/>
            </a:xfrm>
            <a:custGeom>
              <a:rect b="b" l="l" r="r" t="t"/>
              <a:pathLst>
                <a:path extrusionOk="0" h="9487535" w="8411210">
                  <a:moveTo>
                    <a:pt x="0" y="0"/>
                  </a:moveTo>
                  <a:lnTo>
                    <a:pt x="8410774" y="0"/>
                  </a:lnTo>
                  <a:lnTo>
                    <a:pt x="8410774" y="9487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7" name="Google Shape;787;p37"/>
          <p:cNvSpPr txBox="1"/>
          <p:nvPr>
            <p:ph type="title"/>
          </p:nvPr>
        </p:nvSpPr>
        <p:spPr>
          <a:xfrm>
            <a:off x="770682" y="781825"/>
            <a:ext cx="44853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000">
                <a:solidFill>
                  <a:srgbClr val="262626"/>
                </a:solidFill>
              </a:rPr>
              <a:t>The Data Used</a:t>
            </a:r>
            <a:endParaRPr sz="3000"/>
          </a:p>
        </p:txBody>
      </p:sp>
      <p:sp>
        <p:nvSpPr>
          <p:cNvPr id="788" name="Google Shape;788;p37"/>
          <p:cNvSpPr/>
          <p:nvPr/>
        </p:nvSpPr>
        <p:spPr>
          <a:xfrm>
            <a:off x="0" y="45628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7"/>
          <p:cNvSpPr txBox="1"/>
          <p:nvPr/>
        </p:nvSpPr>
        <p:spPr>
          <a:xfrm>
            <a:off x="641257" y="1532775"/>
            <a:ext cx="5293200" cy="3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assignment, we will use the following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Download 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 is about predicting housing price (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medv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in Boston city, features: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○"/>
            </a:pPr>
            <a:r>
              <a:rPr b="0" i="0" lang="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Criminal rate (crim)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Residential land zoned proportion (zn)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Non-retail business acres proportion (indus)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bounds with river (chas)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Nitrogen oxides concentration (nox)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rooms average (rm)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id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Owner age proportion (age)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id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distance to cities (dis)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id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Accessibility index (rad)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id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 rate (tax)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id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Pupil-teacher ratio (ptratio)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id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Black proportion (black)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id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Percent lower status (lstat)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7"/>
          <p:cNvSpPr txBox="1"/>
          <p:nvPr>
            <p:ph type="title"/>
          </p:nvPr>
        </p:nvSpPr>
        <p:spPr>
          <a:xfrm>
            <a:off x="5597252" y="96025"/>
            <a:ext cx="3468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000">
                <a:solidFill>
                  <a:srgbClr val="262626"/>
                </a:solidFill>
              </a:rPr>
              <a:t>Assignment</a:t>
            </a:r>
            <a:endParaRPr sz="3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795;p38"/>
          <p:cNvGrpSpPr/>
          <p:nvPr/>
        </p:nvGrpSpPr>
        <p:grpSpPr>
          <a:xfrm>
            <a:off x="4938582" y="3999"/>
            <a:ext cx="4205664" cy="5139728"/>
            <a:chOff x="9877164" y="7997"/>
            <a:chExt cx="8411328" cy="10279456"/>
          </a:xfrm>
        </p:grpSpPr>
        <p:sp>
          <p:nvSpPr>
            <p:cNvPr id="796" name="Google Shape;796;p38"/>
            <p:cNvSpPr/>
            <p:nvPr/>
          </p:nvSpPr>
          <p:spPr>
            <a:xfrm>
              <a:off x="12985608" y="305253"/>
              <a:ext cx="5302884" cy="9982200"/>
            </a:xfrm>
            <a:custGeom>
              <a:rect b="b" l="l" r="r" t="t"/>
              <a:pathLst>
                <a:path extrusionOk="0" h="9982200" w="5302884">
                  <a:moveTo>
                    <a:pt x="0" y="0"/>
                  </a:moveTo>
                  <a:lnTo>
                    <a:pt x="5302392" y="0"/>
                  </a:lnTo>
                  <a:lnTo>
                    <a:pt x="5302392" y="9981742"/>
                  </a:lnTo>
                  <a:lnTo>
                    <a:pt x="0" y="9981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B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8"/>
            <p:cNvSpPr/>
            <p:nvPr/>
          </p:nvSpPr>
          <p:spPr>
            <a:xfrm>
              <a:off x="9877164" y="7997"/>
              <a:ext cx="8411210" cy="9487535"/>
            </a:xfrm>
            <a:custGeom>
              <a:rect b="b" l="l" r="r" t="t"/>
              <a:pathLst>
                <a:path extrusionOk="0" h="9487535" w="8411210">
                  <a:moveTo>
                    <a:pt x="0" y="0"/>
                  </a:moveTo>
                  <a:lnTo>
                    <a:pt x="8410774" y="0"/>
                  </a:lnTo>
                  <a:lnTo>
                    <a:pt x="8410774" y="9487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8" name="Google Shape;798;p38"/>
          <p:cNvSpPr txBox="1"/>
          <p:nvPr>
            <p:ph type="title"/>
          </p:nvPr>
        </p:nvSpPr>
        <p:spPr>
          <a:xfrm>
            <a:off x="770682" y="781825"/>
            <a:ext cx="44853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000">
                <a:solidFill>
                  <a:srgbClr val="262626"/>
                </a:solidFill>
              </a:rPr>
              <a:t>Instructions</a:t>
            </a:r>
            <a:endParaRPr sz="3000"/>
          </a:p>
        </p:txBody>
      </p:sp>
      <p:sp>
        <p:nvSpPr>
          <p:cNvPr id="799" name="Google Shape;799;p38"/>
          <p:cNvSpPr/>
          <p:nvPr/>
        </p:nvSpPr>
        <p:spPr>
          <a:xfrm>
            <a:off x="0" y="45628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38"/>
          <p:cNvSpPr txBox="1"/>
          <p:nvPr/>
        </p:nvSpPr>
        <p:spPr>
          <a:xfrm>
            <a:off x="400696" y="1304175"/>
            <a:ext cx="6340800" cy="3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 data: train - validate - test 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(point: 10)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Draw correlation plot on training data and perform feature selection on highly correlated features 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(point: 10)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Fit models on training data (lambdas = [0.01, 0.1, 1, 10]) </a:t>
            </a:r>
            <a:r>
              <a:rPr b="0" i="1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(point:50)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eriod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Ridge regression </a:t>
            </a:r>
            <a:r>
              <a:rPr b="0" i="1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(point: 25)</a:t>
            </a:r>
            <a:endParaRPr b="0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eriod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LASSO </a:t>
            </a:r>
            <a:r>
              <a:rPr b="0" i="1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(point: 25)</a:t>
            </a:r>
            <a:endParaRPr b="0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Choose the best lambda from the validation set 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(point: 20)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eriod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RMSE</a:t>
            </a:r>
            <a:r>
              <a:rPr lang="id" sz="1200"/>
              <a:t> &amp; MAE </a:t>
            </a: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metric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eriod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 a sample of the coefficients of the best model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romanLcPeriod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Ridge regression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romanLcPeriod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LASSO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the best models on the test data (+ interpretation) 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(point: 10)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eriod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eriod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eriod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id" sz="1200"/>
              <a:t>R2</a:t>
            </a:r>
            <a:endParaRPr sz="1200"/>
          </a:p>
        </p:txBody>
      </p:sp>
      <p:sp>
        <p:nvSpPr>
          <p:cNvPr id="801" name="Google Shape;801;p38"/>
          <p:cNvSpPr txBox="1"/>
          <p:nvPr>
            <p:ph type="title"/>
          </p:nvPr>
        </p:nvSpPr>
        <p:spPr>
          <a:xfrm>
            <a:off x="5597252" y="96025"/>
            <a:ext cx="3468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000">
                <a:solidFill>
                  <a:srgbClr val="262626"/>
                </a:solidFill>
              </a:rPr>
              <a:t>Assignment</a:t>
            </a:r>
            <a:endParaRPr sz="3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6" name="Google Shape;806;p39"/>
          <p:cNvGrpSpPr/>
          <p:nvPr/>
        </p:nvGrpSpPr>
        <p:grpSpPr>
          <a:xfrm>
            <a:off x="4968834" y="3"/>
            <a:ext cx="4175442" cy="5143609"/>
            <a:chOff x="9937669" y="6"/>
            <a:chExt cx="8350884" cy="10287217"/>
          </a:xfrm>
        </p:grpSpPr>
        <p:sp>
          <p:nvSpPr>
            <p:cNvPr id="807" name="Google Shape;807;p39"/>
            <p:cNvSpPr/>
            <p:nvPr/>
          </p:nvSpPr>
          <p:spPr>
            <a:xfrm>
              <a:off x="9937669" y="6"/>
              <a:ext cx="8350884" cy="10287000"/>
            </a:xfrm>
            <a:custGeom>
              <a:rect b="b" l="l" r="r" t="t"/>
              <a:pathLst>
                <a:path extrusionOk="0" h="10287000" w="8350884">
                  <a:moveTo>
                    <a:pt x="8350331" y="10286994"/>
                  </a:moveTo>
                  <a:lnTo>
                    <a:pt x="0" y="10286994"/>
                  </a:lnTo>
                  <a:lnTo>
                    <a:pt x="0" y="0"/>
                  </a:lnTo>
                  <a:lnTo>
                    <a:pt x="8350331" y="0"/>
                  </a:lnTo>
                  <a:lnTo>
                    <a:pt x="8350331" y="10286994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39"/>
            <p:cNvSpPr/>
            <p:nvPr/>
          </p:nvSpPr>
          <p:spPr>
            <a:xfrm>
              <a:off x="9944099" y="6"/>
              <a:ext cx="8343900" cy="10287000"/>
            </a:xfrm>
            <a:custGeom>
              <a:rect b="b" l="l" r="r" t="t"/>
              <a:pathLst>
                <a:path extrusionOk="0" h="10287000" w="8343900">
                  <a:moveTo>
                    <a:pt x="0" y="4580800"/>
                  </a:moveTo>
                  <a:lnTo>
                    <a:pt x="0" y="0"/>
                  </a:lnTo>
                  <a:lnTo>
                    <a:pt x="88899" y="344"/>
                  </a:lnTo>
                  <a:lnTo>
                    <a:pt x="165099" y="1377"/>
                  </a:lnTo>
                  <a:lnTo>
                    <a:pt x="253999" y="3096"/>
                  </a:lnTo>
                  <a:lnTo>
                    <a:pt x="342899" y="5498"/>
                  </a:lnTo>
                  <a:lnTo>
                    <a:pt x="419099" y="8580"/>
                  </a:lnTo>
                  <a:lnTo>
                    <a:pt x="507999" y="12339"/>
                  </a:lnTo>
                  <a:lnTo>
                    <a:pt x="596899" y="16773"/>
                  </a:lnTo>
                  <a:lnTo>
                    <a:pt x="673099" y="21880"/>
                  </a:lnTo>
                  <a:lnTo>
                    <a:pt x="761999" y="27657"/>
                  </a:lnTo>
                  <a:lnTo>
                    <a:pt x="838199" y="34100"/>
                  </a:lnTo>
                  <a:lnTo>
                    <a:pt x="927099" y="41208"/>
                  </a:lnTo>
                  <a:lnTo>
                    <a:pt x="1015999" y="48977"/>
                  </a:lnTo>
                  <a:lnTo>
                    <a:pt x="1092199" y="57406"/>
                  </a:lnTo>
                  <a:lnTo>
                    <a:pt x="1181099" y="66491"/>
                  </a:lnTo>
                  <a:lnTo>
                    <a:pt x="1257299" y="76230"/>
                  </a:lnTo>
                  <a:lnTo>
                    <a:pt x="1346199" y="86620"/>
                  </a:lnTo>
                  <a:lnTo>
                    <a:pt x="1422399" y="97658"/>
                  </a:lnTo>
                  <a:lnTo>
                    <a:pt x="1511299" y="109342"/>
                  </a:lnTo>
                  <a:lnTo>
                    <a:pt x="1587499" y="121670"/>
                  </a:lnTo>
                  <a:lnTo>
                    <a:pt x="1663699" y="134638"/>
                  </a:lnTo>
                  <a:lnTo>
                    <a:pt x="1752599" y="148244"/>
                  </a:lnTo>
                  <a:lnTo>
                    <a:pt x="1828799" y="162485"/>
                  </a:lnTo>
                  <a:lnTo>
                    <a:pt x="1917699" y="177359"/>
                  </a:lnTo>
                  <a:lnTo>
                    <a:pt x="1993899" y="192862"/>
                  </a:lnTo>
                  <a:lnTo>
                    <a:pt x="2070099" y="208993"/>
                  </a:lnTo>
                  <a:lnTo>
                    <a:pt x="2158999" y="225749"/>
                  </a:lnTo>
                  <a:lnTo>
                    <a:pt x="2235199" y="243127"/>
                  </a:lnTo>
                  <a:lnTo>
                    <a:pt x="2311399" y="261124"/>
                  </a:lnTo>
                  <a:lnTo>
                    <a:pt x="2387599" y="279737"/>
                  </a:lnTo>
                  <a:lnTo>
                    <a:pt x="2476499" y="298965"/>
                  </a:lnTo>
                  <a:lnTo>
                    <a:pt x="2552699" y="318804"/>
                  </a:lnTo>
                  <a:lnTo>
                    <a:pt x="2628899" y="339252"/>
                  </a:lnTo>
                  <a:lnTo>
                    <a:pt x="2705099" y="360306"/>
                  </a:lnTo>
                  <a:lnTo>
                    <a:pt x="2781299" y="381964"/>
                  </a:lnTo>
                  <a:lnTo>
                    <a:pt x="2870199" y="404223"/>
                  </a:lnTo>
                  <a:lnTo>
                    <a:pt x="2946399" y="427079"/>
                  </a:lnTo>
                  <a:lnTo>
                    <a:pt x="3022599" y="450531"/>
                  </a:lnTo>
                  <a:lnTo>
                    <a:pt x="3098799" y="474576"/>
                  </a:lnTo>
                  <a:lnTo>
                    <a:pt x="3174999" y="499212"/>
                  </a:lnTo>
                  <a:lnTo>
                    <a:pt x="3251199" y="524435"/>
                  </a:lnTo>
                  <a:lnTo>
                    <a:pt x="3327399" y="550242"/>
                  </a:lnTo>
                  <a:lnTo>
                    <a:pt x="3403599" y="576632"/>
                  </a:lnTo>
                  <a:lnTo>
                    <a:pt x="3479799" y="603602"/>
                  </a:lnTo>
                  <a:lnTo>
                    <a:pt x="3555999" y="631149"/>
                  </a:lnTo>
                  <a:lnTo>
                    <a:pt x="3632199" y="659270"/>
                  </a:lnTo>
                  <a:lnTo>
                    <a:pt x="3708399" y="687963"/>
                  </a:lnTo>
                  <a:lnTo>
                    <a:pt x="3784599" y="717225"/>
                  </a:lnTo>
                  <a:lnTo>
                    <a:pt x="3860799" y="747053"/>
                  </a:lnTo>
                  <a:lnTo>
                    <a:pt x="3924299" y="777445"/>
                  </a:lnTo>
                  <a:lnTo>
                    <a:pt x="4000499" y="808399"/>
                  </a:lnTo>
                  <a:lnTo>
                    <a:pt x="4076699" y="839910"/>
                  </a:lnTo>
                  <a:lnTo>
                    <a:pt x="4152899" y="871978"/>
                  </a:lnTo>
                  <a:lnTo>
                    <a:pt x="4229099" y="904599"/>
                  </a:lnTo>
                  <a:lnTo>
                    <a:pt x="4292599" y="937770"/>
                  </a:lnTo>
                  <a:lnTo>
                    <a:pt x="4368799" y="971489"/>
                  </a:lnTo>
                  <a:lnTo>
                    <a:pt x="4444999" y="1005753"/>
                  </a:lnTo>
                  <a:lnTo>
                    <a:pt x="4508499" y="1040560"/>
                  </a:lnTo>
                  <a:lnTo>
                    <a:pt x="4584699" y="1075907"/>
                  </a:lnTo>
                  <a:lnTo>
                    <a:pt x="4660899" y="1111791"/>
                  </a:lnTo>
                  <a:lnTo>
                    <a:pt x="4724399" y="1148210"/>
                  </a:lnTo>
                  <a:lnTo>
                    <a:pt x="4800599" y="1185161"/>
                  </a:lnTo>
                  <a:lnTo>
                    <a:pt x="4864099" y="1222641"/>
                  </a:lnTo>
                  <a:lnTo>
                    <a:pt x="4940299" y="1260648"/>
                  </a:lnTo>
                  <a:lnTo>
                    <a:pt x="5003799" y="1299179"/>
                  </a:lnTo>
                  <a:lnTo>
                    <a:pt x="5079999" y="1338231"/>
                  </a:lnTo>
                  <a:lnTo>
                    <a:pt x="5143499" y="1377802"/>
                  </a:lnTo>
                  <a:lnTo>
                    <a:pt x="5219699" y="1417890"/>
                  </a:lnTo>
                  <a:lnTo>
                    <a:pt x="5283199" y="1458490"/>
                  </a:lnTo>
                  <a:lnTo>
                    <a:pt x="5346699" y="1499602"/>
                  </a:lnTo>
                  <a:lnTo>
                    <a:pt x="5422899" y="1541221"/>
                  </a:lnTo>
                  <a:lnTo>
                    <a:pt x="5486399" y="1583347"/>
                  </a:lnTo>
                  <a:lnTo>
                    <a:pt x="5549899" y="1625975"/>
                  </a:lnTo>
                  <a:lnTo>
                    <a:pt x="5613399" y="1669103"/>
                  </a:lnTo>
                  <a:lnTo>
                    <a:pt x="5689599" y="1712729"/>
                  </a:lnTo>
                  <a:lnTo>
                    <a:pt x="5753099" y="1756850"/>
                  </a:lnTo>
                  <a:lnTo>
                    <a:pt x="5816599" y="1801463"/>
                  </a:lnTo>
                  <a:lnTo>
                    <a:pt x="5880099" y="1846566"/>
                  </a:lnTo>
                  <a:lnTo>
                    <a:pt x="5943599" y="1892155"/>
                  </a:lnTo>
                  <a:lnTo>
                    <a:pt x="6007099" y="1938230"/>
                  </a:lnTo>
                  <a:lnTo>
                    <a:pt x="6070599" y="1984785"/>
                  </a:lnTo>
                  <a:lnTo>
                    <a:pt x="6134099" y="2031820"/>
                  </a:lnTo>
                  <a:lnTo>
                    <a:pt x="6197599" y="2079331"/>
                  </a:lnTo>
                  <a:lnTo>
                    <a:pt x="6261099" y="2127316"/>
                  </a:lnTo>
                  <a:lnTo>
                    <a:pt x="6324599" y="2175773"/>
                  </a:lnTo>
                  <a:lnTo>
                    <a:pt x="6388099" y="2224697"/>
                  </a:lnTo>
                  <a:lnTo>
                    <a:pt x="6451599" y="2274088"/>
                  </a:lnTo>
                  <a:lnTo>
                    <a:pt x="6515099" y="2323941"/>
                  </a:lnTo>
                  <a:lnTo>
                    <a:pt x="6578599" y="2374255"/>
                  </a:lnTo>
                  <a:lnTo>
                    <a:pt x="6629399" y="2425027"/>
                  </a:lnTo>
                  <a:lnTo>
                    <a:pt x="6692899" y="2476254"/>
                  </a:lnTo>
                  <a:lnTo>
                    <a:pt x="6756399" y="2527934"/>
                  </a:lnTo>
                  <a:lnTo>
                    <a:pt x="6819899" y="2580064"/>
                  </a:lnTo>
                  <a:lnTo>
                    <a:pt x="6870699" y="2632641"/>
                  </a:lnTo>
                  <a:lnTo>
                    <a:pt x="6934199" y="2685662"/>
                  </a:lnTo>
                  <a:lnTo>
                    <a:pt x="6984999" y="2739126"/>
                  </a:lnTo>
                  <a:lnTo>
                    <a:pt x="7048499" y="2793029"/>
                  </a:lnTo>
                  <a:lnTo>
                    <a:pt x="7099299" y="2847369"/>
                  </a:lnTo>
                  <a:lnTo>
                    <a:pt x="7162799" y="2902142"/>
                  </a:lnTo>
                  <a:lnTo>
                    <a:pt x="7213599" y="2957347"/>
                  </a:lnTo>
                  <a:lnTo>
                    <a:pt x="7277099" y="3012981"/>
                  </a:lnTo>
                  <a:lnTo>
                    <a:pt x="7378699" y="3125524"/>
                  </a:lnTo>
                  <a:lnTo>
                    <a:pt x="7442199" y="3182429"/>
                  </a:lnTo>
                  <a:lnTo>
                    <a:pt x="7543799" y="3297489"/>
                  </a:lnTo>
                  <a:lnTo>
                    <a:pt x="7607299" y="3355640"/>
                  </a:lnTo>
                  <a:lnTo>
                    <a:pt x="7658099" y="3414201"/>
                  </a:lnTo>
                  <a:lnTo>
                    <a:pt x="7810499" y="3592318"/>
                  </a:lnTo>
                  <a:lnTo>
                    <a:pt x="7962899" y="3774033"/>
                  </a:lnTo>
                  <a:lnTo>
                    <a:pt x="8115299" y="3959272"/>
                  </a:lnTo>
                  <a:lnTo>
                    <a:pt x="8153399" y="4021790"/>
                  </a:lnTo>
                  <a:lnTo>
                    <a:pt x="8305799" y="4211618"/>
                  </a:lnTo>
                  <a:lnTo>
                    <a:pt x="8343899" y="4275645"/>
                  </a:lnTo>
                  <a:lnTo>
                    <a:pt x="8343899" y="10286993"/>
                  </a:lnTo>
                  <a:lnTo>
                    <a:pt x="5702299" y="10286993"/>
                  </a:lnTo>
                  <a:lnTo>
                    <a:pt x="5702299" y="9950013"/>
                  </a:lnTo>
                  <a:lnTo>
                    <a:pt x="5689599" y="9902280"/>
                  </a:lnTo>
                  <a:lnTo>
                    <a:pt x="5689599" y="9807137"/>
                  </a:lnTo>
                  <a:lnTo>
                    <a:pt x="5676899" y="9759729"/>
                  </a:lnTo>
                  <a:lnTo>
                    <a:pt x="5676899" y="9665250"/>
                  </a:lnTo>
                  <a:lnTo>
                    <a:pt x="5664199" y="9618182"/>
                  </a:lnTo>
                  <a:lnTo>
                    <a:pt x="5664199" y="9571231"/>
                  </a:lnTo>
                  <a:lnTo>
                    <a:pt x="5651499" y="9524397"/>
                  </a:lnTo>
                  <a:lnTo>
                    <a:pt x="5651499" y="9477683"/>
                  </a:lnTo>
                  <a:lnTo>
                    <a:pt x="5638799" y="9431090"/>
                  </a:lnTo>
                  <a:lnTo>
                    <a:pt x="5638799" y="9384619"/>
                  </a:lnTo>
                  <a:lnTo>
                    <a:pt x="5613399" y="9292052"/>
                  </a:lnTo>
                  <a:lnTo>
                    <a:pt x="5613399" y="9245959"/>
                  </a:lnTo>
                  <a:lnTo>
                    <a:pt x="5587999" y="9154162"/>
                  </a:lnTo>
                  <a:lnTo>
                    <a:pt x="5587999" y="9108461"/>
                  </a:lnTo>
                  <a:lnTo>
                    <a:pt x="5537199" y="8927009"/>
                  </a:lnTo>
                  <a:lnTo>
                    <a:pt x="5537199" y="8881992"/>
                  </a:lnTo>
                  <a:lnTo>
                    <a:pt x="5435599" y="8527093"/>
                  </a:lnTo>
                  <a:lnTo>
                    <a:pt x="5410199" y="8483409"/>
                  </a:lnTo>
                  <a:lnTo>
                    <a:pt x="5359399" y="8310246"/>
                  </a:lnTo>
                  <a:lnTo>
                    <a:pt x="5333999" y="8267357"/>
                  </a:lnTo>
                  <a:lnTo>
                    <a:pt x="5308599" y="8182072"/>
                  </a:lnTo>
                  <a:lnTo>
                    <a:pt x="5283199" y="8139680"/>
                  </a:lnTo>
                  <a:lnTo>
                    <a:pt x="5257799" y="8055402"/>
                  </a:lnTo>
                  <a:lnTo>
                    <a:pt x="5232399" y="8013520"/>
                  </a:lnTo>
                  <a:lnTo>
                    <a:pt x="5219699" y="7971812"/>
                  </a:lnTo>
                  <a:lnTo>
                    <a:pt x="5194299" y="7930278"/>
                  </a:lnTo>
                  <a:lnTo>
                    <a:pt x="5181599" y="7888921"/>
                  </a:lnTo>
                  <a:lnTo>
                    <a:pt x="5156199" y="7847742"/>
                  </a:lnTo>
                  <a:lnTo>
                    <a:pt x="5143499" y="7806743"/>
                  </a:lnTo>
                  <a:lnTo>
                    <a:pt x="5118099" y="7765925"/>
                  </a:lnTo>
                  <a:lnTo>
                    <a:pt x="5105399" y="7725289"/>
                  </a:lnTo>
                  <a:lnTo>
                    <a:pt x="5054599" y="7644574"/>
                  </a:lnTo>
                  <a:lnTo>
                    <a:pt x="5041899" y="7604497"/>
                  </a:lnTo>
                  <a:lnTo>
                    <a:pt x="4991099" y="7524913"/>
                  </a:lnTo>
                  <a:lnTo>
                    <a:pt x="4978399" y="7485408"/>
                  </a:lnTo>
                  <a:lnTo>
                    <a:pt x="4851399" y="7290826"/>
                  </a:lnTo>
                  <a:lnTo>
                    <a:pt x="4838699" y="7252509"/>
                  </a:lnTo>
                  <a:lnTo>
                    <a:pt x="4711699" y="7064008"/>
                  </a:lnTo>
                  <a:lnTo>
                    <a:pt x="4610099" y="6917003"/>
                  </a:lnTo>
                  <a:lnTo>
                    <a:pt x="4584699" y="6880792"/>
                  </a:lnTo>
                  <a:lnTo>
                    <a:pt x="4546599" y="6844800"/>
                  </a:lnTo>
                  <a:lnTo>
                    <a:pt x="4444999" y="6703059"/>
                  </a:lnTo>
                  <a:lnTo>
                    <a:pt x="4406899" y="6668187"/>
                  </a:lnTo>
                  <a:lnTo>
                    <a:pt x="4330699" y="6564953"/>
                  </a:lnTo>
                  <a:lnTo>
                    <a:pt x="4292599" y="6531007"/>
                  </a:lnTo>
                  <a:lnTo>
                    <a:pt x="4241799" y="6463821"/>
                  </a:lnTo>
                  <a:lnTo>
                    <a:pt x="4203699" y="6430585"/>
                  </a:lnTo>
                  <a:lnTo>
                    <a:pt x="4178299" y="6397588"/>
                  </a:lnTo>
                  <a:lnTo>
                    <a:pt x="4140199" y="6364834"/>
                  </a:lnTo>
                  <a:lnTo>
                    <a:pt x="4114799" y="6332322"/>
                  </a:lnTo>
                  <a:lnTo>
                    <a:pt x="4076699" y="6300055"/>
                  </a:lnTo>
                  <a:lnTo>
                    <a:pt x="4051299" y="6268034"/>
                  </a:lnTo>
                  <a:lnTo>
                    <a:pt x="4013199" y="6236261"/>
                  </a:lnTo>
                  <a:lnTo>
                    <a:pt x="3987799" y="6204738"/>
                  </a:lnTo>
                  <a:lnTo>
                    <a:pt x="3949699" y="6173465"/>
                  </a:lnTo>
                  <a:lnTo>
                    <a:pt x="3924299" y="6142445"/>
                  </a:lnTo>
                  <a:lnTo>
                    <a:pt x="3886199" y="6111680"/>
                  </a:lnTo>
                  <a:lnTo>
                    <a:pt x="3860799" y="6081170"/>
                  </a:lnTo>
                  <a:lnTo>
                    <a:pt x="3822699" y="6050917"/>
                  </a:lnTo>
                  <a:lnTo>
                    <a:pt x="3784599" y="6020923"/>
                  </a:lnTo>
                  <a:lnTo>
                    <a:pt x="3759199" y="5991190"/>
                  </a:lnTo>
                  <a:lnTo>
                    <a:pt x="3721099" y="5961719"/>
                  </a:lnTo>
                  <a:lnTo>
                    <a:pt x="3682999" y="5932512"/>
                  </a:lnTo>
                  <a:lnTo>
                    <a:pt x="3657599" y="5903570"/>
                  </a:lnTo>
                  <a:lnTo>
                    <a:pt x="3619499" y="5874894"/>
                  </a:lnTo>
                  <a:lnTo>
                    <a:pt x="3581399" y="5846488"/>
                  </a:lnTo>
                  <a:lnTo>
                    <a:pt x="3543299" y="5818351"/>
                  </a:lnTo>
                  <a:lnTo>
                    <a:pt x="3517899" y="5790486"/>
                  </a:lnTo>
                  <a:lnTo>
                    <a:pt x="3479799" y="5762894"/>
                  </a:lnTo>
                  <a:lnTo>
                    <a:pt x="3441699" y="5735577"/>
                  </a:lnTo>
                  <a:lnTo>
                    <a:pt x="3403599" y="5708536"/>
                  </a:lnTo>
                  <a:lnTo>
                    <a:pt x="3365499" y="5681773"/>
                  </a:lnTo>
                  <a:lnTo>
                    <a:pt x="3327399" y="5655289"/>
                  </a:lnTo>
                  <a:lnTo>
                    <a:pt x="3301999" y="5629087"/>
                  </a:lnTo>
                  <a:lnTo>
                    <a:pt x="3263899" y="5603168"/>
                  </a:lnTo>
                  <a:lnTo>
                    <a:pt x="3225799" y="5577532"/>
                  </a:lnTo>
                  <a:lnTo>
                    <a:pt x="3187699" y="5552183"/>
                  </a:lnTo>
                  <a:lnTo>
                    <a:pt x="3149599" y="5527121"/>
                  </a:lnTo>
                  <a:lnTo>
                    <a:pt x="3111499" y="5502348"/>
                  </a:lnTo>
                  <a:lnTo>
                    <a:pt x="3073399" y="5477866"/>
                  </a:lnTo>
                  <a:lnTo>
                    <a:pt x="3035299" y="5453676"/>
                  </a:lnTo>
                  <a:lnTo>
                    <a:pt x="2997199" y="5429780"/>
                  </a:lnTo>
                  <a:lnTo>
                    <a:pt x="2959099" y="5406179"/>
                  </a:lnTo>
                  <a:lnTo>
                    <a:pt x="2920999" y="5382875"/>
                  </a:lnTo>
                  <a:lnTo>
                    <a:pt x="2882899" y="5359869"/>
                  </a:lnTo>
                  <a:lnTo>
                    <a:pt x="2844799" y="5337164"/>
                  </a:lnTo>
                  <a:lnTo>
                    <a:pt x="2806699" y="5314760"/>
                  </a:lnTo>
                  <a:lnTo>
                    <a:pt x="2755899" y="5292660"/>
                  </a:lnTo>
                  <a:lnTo>
                    <a:pt x="2717799" y="5270865"/>
                  </a:lnTo>
                  <a:lnTo>
                    <a:pt x="2679699" y="5249376"/>
                  </a:lnTo>
                  <a:lnTo>
                    <a:pt x="2641599" y="5228195"/>
                  </a:lnTo>
                  <a:lnTo>
                    <a:pt x="2603499" y="5207324"/>
                  </a:lnTo>
                  <a:lnTo>
                    <a:pt x="2565399" y="5186764"/>
                  </a:lnTo>
                  <a:lnTo>
                    <a:pt x="2527299" y="5166517"/>
                  </a:lnTo>
                  <a:lnTo>
                    <a:pt x="2476499" y="5146584"/>
                  </a:lnTo>
                  <a:lnTo>
                    <a:pt x="2438399" y="5126967"/>
                  </a:lnTo>
                  <a:lnTo>
                    <a:pt x="2400299" y="5107668"/>
                  </a:lnTo>
                  <a:lnTo>
                    <a:pt x="2362199" y="5088687"/>
                  </a:lnTo>
                  <a:lnTo>
                    <a:pt x="2311399" y="5070028"/>
                  </a:lnTo>
                  <a:lnTo>
                    <a:pt x="2273299" y="5051691"/>
                  </a:lnTo>
                  <a:lnTo>
                    <a:pt x="2235199" y="5033678"/>
                  </a:lnTo>
                  <a:lnTo>
                    <a:pt x="2184399" y="5015990"/>
                  </a:lnTo>
                  <a:lnTo>
                    <a:pt x="2146299" y="4998629"/>
                  </a:lnTo>
                  <a:lnTo>
                    <a:pt x="2108199" y="4981597"/>
                  </a:lnTo>
                  <a:lnTo>
                    <a:pt x="2057399" y="4964896"/>
                  </a:lnTo>
                  <a:lnTo>
                    <a:pt x="2019299" y="4948526"/>
                  </a:lnTo>
                  <a:lnTo>
                    <a:pt x="1981199" y="4932489"/>
                  </a:lnTo>
                  <a:lnTo>
                    <a:pt x="1930399" y="4916787"/>
                  </a:lnTo>
                  <a:lnTo>
                    <a:pt x="1892299" y="4901422"/>
                  </a:lnTo>
                  <a:lnTo>
                    <a:pt x="1841499" y="4886396"/>
                  </a:lnTo>
                  <a:lnTo>
                    <a:pt x="1803399" y="4871709"/>
                  </a:lnTo>
                  <a:lnTo>
                    <a:pt x="1765299" y="4857363"/>
                  </a:lnTo>
                  <a:lnTo>
                    <a:pt x="1714499" y="4843360"/>
                  </a:lnTo>
                  <a:lnTo>
                    <a:pt x="1676399" y="4829702"/>
                  </a:lnTo>
                  <a:lnTo>
                    <a:pt x="1625599" y="4816389"/>
                  </a:lnTo>
                  <a:lnTo>
                    <a:pt x="1587499" y="4803425"/>
                  </a:lnTo>
                  <a:lnTo>
                    <a:pt x="1536699" y="4790809"/>
                  </a:lnTo>
                  <a:lnTo>
                    <a:pt x="1498599" y="4778545"/>
                  </a:lnTo>
                  <a:lnTo>
                    <a:pt x="1447799" y="4766633"/>
                  </a:lnTo>
                  <a:lnTo>
                    <a:pt x="1409699" y="4755074"/>
                  </a:lnTo>
                  <a:lnTo>
                    <a:pt x="1358899" y="4743872"/>
                  </a:lnTo>
                  <a:lnTo>
                    <a:pt x="1320799" y="4733027"/>
                  </a:lnTo>
                  <a:lnTo>
                    <a:pt x="1269999" y="4722540"/>
                  </a:lnTo>
                  <a:lnTo>
                    <a:pt x="1219199" y="4712414"/>
                  </a:lnTo>
                  <a:lnTo>
                    <a:pt x="1181099" y="4702649"/>
                  </a:lnTo>
                  <a:lnTo>
                    <a:pt x="1130299" y="4693248"/>
                  </a:lnTo>
                  <a:lnTo>
                    <a:pt x="1092199" y="4684213"/>
                  </a:lnTo>
                  <a:lnTo>
                    <a:pt x="1041399" y="4675544"/>
                  </a:lnTo>
                  <a:lnTo>
                    <a:pt x="990599" y="4667243"/>
                  </a:lnTo>
                  <a:lnTo>
                    <a:pt x="952499" y="4659312"/>
                  </a:lnTo>
                  <a:lnTo>
                    <a:pt x="901699" y="4651752"/>
                  </a:lnTo>
                  <a:lnTo>
                    <a:pt x="850899" y="4644566"/>
                  </a:lnTo>
                  <a:lnTo>
                    <a:pt x="812799" y="4637754"/>
                  </a:lnTo>
                  <a:lnTo>
                    <a:pt x="761999" y="4631318"/>
                  </a:lnTo>
                  <a:lnTo>
                    <a:pt x="711199" y="4625260"/>
                  </a:lnTo>
                  <a:lnTo>
                    <a:pt x="673099" y="4619582"/>
                  </a:lnTo>
                  <a:lnTo>
                    <a:pt x="622299" y="4614284"/>
                  </a:lnTo>
                  <a:lnTo>
                    <a:pt x="571499" y="4609369"/>
                  </a:lnTo>
                  <a:lnTo>
                    <a:pt x="533399" y="4604838"/>
                  </a:lnTo>
                  <a:lnTo>
                    <a:pt x="482599" y="4600692"/>
                  </a:lnTo>
                  <a:lnTo>
                    <a:pt x="431799" y="4596934"/>
                  </a:lnTo>
                  <a:lnTo>
                    <a:pt x="380999" y="4593565"/>
                  </a:lnTo>
                  <a:lnTo>
                    <a:pt x="342899" y="4590586"/>
                  </a:lnTo>
                  <a:lnTo>
                    <a:pt x="292099" y="4588000"/>
                  </a:lnTo>
                  <a:lnTo>
                    <a:pt x="241299" y="4585806"/>
                  </a:lnTo>
                  <a:lnTo>
                    <a:pt x="190499" y="4584008"/>
                  </a:lnTo>
                  <a:lnTo>
                    <a:pt x="139699" y="4582607"/>
                  </a:lnTo>
                  <a:lnTo>
                    <a:pt x="101599" y="4581605"/>
                  </a:lnTo>
                  <a:lnTo>
                    <a:pt x="50799" y="4581002"/>
                  </a:lnTo>
                  <a:lnTo>
                    <a:pt x="0" y="4580800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39"/>
            <p:cNvSpPr/>
            <p:nvPr/>
          </p:nvSpPr>
          <p:spPr>
            <a:xfrm>
              <a:off x="9949694" y="3822923"/>
              <a:ext cx="6540500" cy="6464300"/>
            </a:xfrm>
            <a:custGeom>
              <a:rect b="b" l="l" r="r" t="t"/>
              <a:pathLst>
                <a:path extrusionOk="0" h="6464300" w="6540500">
                  <a:moveTo>
                    <a:pt x="0" y="2918139"/>
                  </a:moveTo>
                  <a:lnTo>
                    <a:pt x="0" y="0"/>
                  </a:lnTo>
                  <a:lnTo>
                    <a:pt x="50799" y="219"/>
                  </a:lnTo>
                  <a:lnTo>
                    <a:pt x="101599" y="877"/>
                  </a:lnTo>
                  <a:lnTo>
                    <a:pt x="152399" y="1972"/>
                  </a:lnTo>
                  <a:lnTo>
                    <a:pt x="215899" y="3502"/>
                  </a:lnTo>
                  <a:lnTo>
                    <a:pt x="266699" y="5465"/>
                  </a:lnTo>
                  <a:lnTo>
                    <a:pt x="317499" y="7860"/>
                  </a:lnTo>
                  <a:lnTo>
                    <a:pt x="368299" y="10685"/>
                  </a:lnTo>
                  <a:lnTo>
                    <a:pt x="419099" y="13938"/>
                  </a:lnTo>
                  <a:lnTo>
                    <a:pt x="482599" y="17618"/>
                  </a:lnTo>
                  <a:lnTo>
                    <a:pt x="533399" y="21723"/>
                  </a:lnTo>
                  <a:lnTo>
                    <a:pt x="584199" y="26251"/>
                  </a:lnTo>
                  <a:lnTo>
                    <a:pt x="634999" y="31200"/>
                  </a:lnTo>
                  <a:lnTo>
                    <a:pt x="685799" y="36570"/>
                  </a:lnTo>
                  <a:lnTo>
                    <a:pt x="749299" y="42357"/>
                  </a:lnTo>
                  <a:lnTo>
                    <a:pt x="800099" y="48561"/>
                  </a:lnTo>
                  <a:lnTo>
                    <a:pt x="850899" y="55180"/>
                  </a:lnTo>
                  <a:lnTo>
                    <a:pt x="901699" y="62212"/>
                  </a:lnTo>
                  <a:lnTo>
                    <a:pt x="952499" y="69655"/>
                  </a:lnTo>
                  <a:lnTo>
                    <a:pt x="1003299" y="77508"/>
                  </a:lnTo>
                  <a:lnTo>
                    <a:pt x="1054099" y="85769"/>
                  </a:lnTo>
                  <a:lnTo>
                    <a:pt x="1104899" y="94437"/>
                  </a:lnTo>
                  <a:lnTo>
                    <a:pt x="1155699" y="103509"/>
                  </a:lnTo>
                  <a:lnTo>
                    <a:pt x="1206499" y="112984"/>
                  </a:lnTo>
                  <a:lnTo>
                    <a:pt x="1269999" y="122860"/>
                  </a:lnTo>
                  <a:lnTo>
                    <a:pt x="1320799" y="133136"/>
                  </a:lnTo>
                  <a:lnTo>
                    <a:pt x="1371599" y="143810"/>
                  </a:lnTo>
                  <a:lnTo>
                    <a:pt x="1422399" y="154881"/>
                  </a:lnTo>
                  <a:lnTo>
                    <a:pt x="1473199" y="166345"/>
                  </a:lnTo>
                  <a:lnTo>
                    <a:pt x="1523999" y="178203"/>
                  </a:lnTo>
                  <a:lnTo>
                    <a:pt x="1574799" y="190452"/>
                  </a:lnTo>
                  <a:lnTo>
                    <a:pt x="1625599" y="203090"/>
                  </a:lnTo>
                  <a:lnTo>
                    <a:pt x="1663699" y="216116"/>
                  </a:lnTo>
                  <a:lnTo>
                    <a:pt x="1714499" y="229529"/>
                  </a:lnTo>
                  <a:lnTo>
                    <a:pt x="1765299" y="243325"/>
                  </a:lnTo>
                  <a:lnTo>
                    <a:pt x="1816099" y="257505"/>
                  </a:lnTo>
                  <a:lnTo>
                    <a:pt x="1866899" y="272065"/>
                  </a:lnTo>
                  <a:lnTo>
                    <a:pt x="1917699" y="287005"/>
                  </a:lnTo>
                  <a:lnTo>
                    <a:pt x="1968499" y="302323"/>
                  </a:lnTo>
                  <a:lnTo>
                    <a:pt x="2019299" y="318016"/>
                  </a:lnTo>
                  <a:lnTo>
                    <a:pt x="2070099" y="334084"/>
                  </a:lnTo>
                  <a:lnTo>
                    <a:pt x="2108199" y="350525"/>
                  </a:lnTo>
                  <a:lnTo>
                    <a:pt x="2158999" y="367336"/>
                  </a:lnTo>
                  <a:lnTo>
                    <a:pt x="2209799" y="384517"/>
                  </a:lnTo>
                  <a:lnTo>
                    <a:pt x="2260599" y="402065"/>
                  </a:lnTo>
                  <a:lnTo>
                    <a:pt x="2311399" y="419980"/>
                  </a:lnTo>
                  <a:lnTo>
                    <a:pt x="2349499" y="438258"/>
                  </a:lnTo>
                  <a:lnTo>
                    <a:pt x="2400299" y="456899"/>
                  </a:lnTo>
                  <a:lnTo>
                    <a:pt x="2451099" y="475901"/>
                  </a:lnTo>
                  <a:lnTo>
                    <a:pt x="2501899" y="495261"/>
                  </a:lnTo>
                  <a:lnTo>
                    <a:pt x="2539999" y="514980"/>
                  </a:lnTo>
                  <a:lnTo>
                    <a:pt x="2590799" y="535054"/>
                  </a:lnTo>
                  <a:lnTo>
                    <a:pt x="2641599" y="555482"/>
                  </a:lnTo>
                  <a:lnTo>
                    <a:pt x="2679699" y="576263"/>
                  </a:lnTo>
                  <a:lnTo>
                    <a:pt x="2730499" y="597394"/>
                  </a:lnTo>
                  <a:lnTo>
                    <a:pt x="2781299" y="618874"/>
                  </a:lnTo>
                  <a:lnTo>
                    <a:pt x="2819399" y="640702"/>
                  </a:lnTo>
                  <a:lnTo>
                    <a:pt x="2870199" y="662875"/>
                  </a:lnTo>
                  <a:lnTo>
                    <a:pt x="2920999" y="685393"/>
                  </a:lnTo>
                  <a:lnTo>
                    <a:pt x="2959099" y="708252"/>
                  </a:lnTo>
                  <a:lnTo>
                    <a:pt x="3009899" y="731452"/>
                  </a:lnTo>
                  <a:lnTo>
                    <a:pt x="3047999" y="754991"/>
                  </a:lnTo>
                  <a:lnTo>
                    <a:pt x="3098799" y="778868"/>
                  </a:lnTo>
                  <a:lnTo>
                    <a:pt x="3136899" y="803079"/>
                  </a:lnTo>
                  <a:lnTo>
                    <a:pt x="3187699" y="827625"/>
                  </a:lnTo>
                  <a:lnTo>
                    <a:pt x="3225799" y="852503"/>
                  </a:lnTo>
                  <a:lnTo>
                    <a:pt x="3276599" y="877711"/>
                  </a:lnTo>
                  <a:lnTo>
                    <a:pt x="3314699" y="903248"/>
                  </a:lnTo>
                  <a:lnTo>
                    <a:pt x="3365499" y="929112"/>
                  </a:lnTo>
                  <a:lnTo>
                    <a:pt x="3403599" y="955302"/>
                  </a:lnTo>
                  <a:lnTo>
                    <a:pt x="3441699" y="981815"/>
                  </a:lnTo>
                  <a:lnTo>
                    <a:pt x="3492499" y="1008650"/>
                  </a:lnTo>
                  <a:lnTo>
                    <a:pt x="3530599" y="1035806"/>
                  </a:lnTo>
                  <a:lnTo>
                    <a:pt x="3568699" y="1063280"/>
                  </a:lnTo>
                  <a:lnTo>
                    <a:pt x="3619499" y="1091072"/>
                  </a:lnTo>
                  <a:lnTo>
                    <a:pt x="3657599" y="1119178"/>
                  </a:lnTo>
                  <a:lnTo>
                    <a:pt x="3695699" y="1147598"/>
                  </a:lnTo>
                  <a:lnTo>
                    <a:pt x="3746499" y="1176331"/>
                  </a:lnTo>
                  <a:lnTo>
                    <a:pt x="3784599" y="1205373"/>
                  </a:lnTo>
                  <a:lnTo>
                    <a:pt x="3822699" y="1234724"/>
                  </a:lnTo>
                  <a:lnTo>
                    <a:pt x="3860799" y="1264382"/>
                  </a:lnTo>
                  <a:lnTo>
                    <a:pt x="3898899" y="1294345"/>
                  </a:lnTo>
                  <a:lnTo>
                    <a:pt x="3949699" y="1324611"/>
                  </a:lnTo>
                  <a:lnTo>
                    <a:pt x="3987799" y="1355179"/>
                  </a:lnTo>
                  <a:lnTo>
                    <a:pt x="4025899" y="1386048"/>
                  </a:lnTo>
                  <a:lnTo>
                    <a:pt x="4063999" y="1417214"/>
                  </a:lnTo>
                  <a:lnTo>
                    <a:pt x="4102099" y="1448678"/>
                  </a:lnTo>
                  <a:lnTo>
                    <a:pt x="4140199" y="1480436"/>
                  </a:lnTo>
                  <a:lnTo>
                    <a:pt x="4178299" y="1512488"/>
                  </a:lnTo>
                  <a:lnTo>
                    <a:pt x="4216399" y="1544832"/>
                  </a:lnTo>
                  <a:lnTo>
                    <a:pt x="4254499" y="1577466"/>
                  </a:lnTo>
                  <a:lnTo>
                    <a:pt x="4292599" y="1610388"/>
                  </a:lnTo>
                  <a:lnTo>
                    <a:pt x="4368799" y="1677090"/>
                  </a:lnTo>
                  <a:lnTo>
                    <a:pt x="4444999" y="1744925"/>
                  </a:lnTo>
                  <a:lnTo>
                    <a:pt x="4521199" y="1813879"/>
                  </a:lnTo>
                  <a:lnTo>
                    <a:pt x="4597399" y="1883940"/>
                  </a:lnTo>
                  <a:lnTo>
                    <a:pt x="4622799" y="1919380"/>
                  </a:lnTo>
                  <a:lnTo>
                    <a:pt x="4660899" y="1955093"/>
                  </a:lnTo>
                  <a:lnTo>
                    <a:pt x="4737099" y="2027325"/>
                  </a:lnTo>
                  <a:lnTo>
                    <a:pt x="4762499" y="2063841"/>
                  </a:lnTo>
                  <a:lnTo>
                    <a:pt x="4838699" y="2137667"/>
                  </a:lnTo>
                  <a:lnTo>
                    <a:pt x="4864099" y="2174972"/>
                  </a:lnTo>
                  <a:lnTo>
                    <a:pt x="4940299" y="2250360"/>
                  </a:lnTo>
                  <a:lnTo>
                    <a:pt x="4965699" y="2288440"/>
                  </a:lnTo>
                  <a:lnTo>
                    <a:pt x="5003799" y="2326774"/>
                  </a:lnTo>
                  <a:lnTo>
                    <a:pt x="5029199" y="2365360"/>
                  </a:lnTo>
                  <a:lnTo>
                    <a:pt x="5067299" y="2404198"/>
                  </a:lnTo>
                  <a:lnTo>
                    <a:pt x="5092699" y="2443286"/>
                  </a:lnTo>
                  <a:lnTo>
                    <a:pt x="5130799" y="2482621"/>
                  </a:lnTo>
                  <a:lnTo>
                    <a:pt x="5156199" y="2522203"/>
                  </a:lnTo>
                  <a:lnTo>
                    <a:pt x="5194299" y="2562029"/>
                  </a:lnTo>
                  <a:lnTo>
                    <a:pt x="5219699" y="2602098"/>
                  </a:lnTo>
                  <a:lnTo>
                    <a:pt x="5257799" y="2642407"/>
                  </a:lnTo>
                  <a:lnTo>
                    <a:pt x="5308599" y="2723744"/>
                  </a:lnTo>
                  <a:lnTo>
                    <a:pt x="5346699" y="2764767"/>
                  </a:lnTo>
                  <a:lnTo>
                    <a:pt x="5422899" y="2889235"/>
                  </a:lnTo>
                  <a:lnTo>
                    <a:pt x="5460999" y="2931185"/>
                  </a:lnTo>
                  <a:lnTo>
                    <a:pt x="5537199" y="3058395"/>
                  </a:lnTo>
                  <a:lnTo>
                    <a:pt x="5689599" y="3318777"/>
                  </a:lnTo>
                  <a:lnTo>
                    <a:pt x="5867399" y="3632195"/>
                  </a:lnTo>
                  <a:lnTo>
                    <a:pt x="5880099" y="3677785"/>
                  </a:lnTo>
                  <a:lnTo>
                    <a:pt x="5956299" y="3815742"/>
                  </a:lnTo>
                  <a:lnTo>
                    <a:pt x="5968999" y="3862117"/>
                  </a:lnTo>
                  <a:lnTo>
                    <a:pt x="5994399" y="3908685"/>
                  </a:lnTo>
                  <a:lnTo>
                    <a:pt x="6007099" y="3955443"/>
                  </a:lnTo>
                  <a:lnTo>
                    <a:pt x="6057899" y="4049525"/>
                  </a:lnTo>
                  <a:lnTo>
                    <a:pt x="6070599" y="4096844"/>
                  </a:lnTo>
                  <a:lnTo>
                    <a:pt x="6095999" y="4144348"/>
                  </a:lnTo>
                  <a:lnTo>
                    <a:pt x="6121399" y="4239899"/>
                  </a:lnTo>
                  <a:lnTo>
                    <a:pt x="6146799" y="4287943"/>
                  </a:lnTo>
                  <a:lnTo>
                    <a:pt x="6159499" y="4336165"/>
                  </a:lnTo>
                  <a:lnTo>
                    <a:pt x="6184899" y="4384562"/>
                  </a:lnTo>
                  <a:lnTo>
                    <a:pt x="6210299" y="4481874"/>
                  </a:lnTo>
                  <a:lnTo>
                    <a:pt x="6235699" y="4530787"/>
                  </a:lnTo>
                  <a:lnTo>
                    <a:pt x="6311899" y="4827743"/>
                  </a:lnTo>
                  <a:lnTo>
                    <a:pt x="6337299" y="4877801"/>
                  </a:lnTo>
                  <a:lnTo>
                    <a:pt x="6375399" y="5028906"/>
                  </a:lnTo>
                  <a:lnTo>
                    <a:pt x="6375399" y="5079580"/>
                  </a:lnTo>
                  <a:lnTo>
                    <a:pt x="6438899" y="5335167"/>
                  </a:lnTo>
                  <a:lnTo>
                    <a:pt x="6438899" y="5386716"/>
                  </a:lnTo>
                  <a:lnTo>
                    <a:pt x="6464299" y="5490232"/>
                  </a:lnTo>
                  <a:lnTo>
                    <a:pt x="6464299" y="5542195"/>
                  </a:lnTo>
                  <a:lnTo>
                    <a:pt x="6489699" y="5646525"/>
                  </a:lnTo>
                  <a:lnTo>
                    <a:pt x="6489699" y="5698888"/>
                  </a:lnTo>
                  <a:lnTo>
                    <a:pt x="6502399" y="5751381"/>
                  </a:lnTo>
                  <a:lnTo>
                    <a:pt x="6502399" y="5804002"/>
                  </a:lnTo>
                  <a:lnTo>
                    <a:pt x="6515099" y="5856749"/>
                  </a:lnTo>
                  <a:lnTo>
                    <a:pt x="6515099" y="5962616"/>
                  </a:lnTo>
                  <a:lnTo>
                    <a:pt x="6527799" y="6015732"/>
                  </a:lnTo>
                  <a:lnTo>
                    <a:pt x="6527799" y="6122322"/>
                  </a:lnTo>
                  <a:lnTo>
                    <a:pt x="6540499" y="6175793"/>
                  </a:lnTo>
                  <a:lnTo>
                    <a:pt x="6540499" y="6464076"/>
                  </a:lnTo>
                  <a:lnTo>
                    <a:pt x="3632199" y="6464076"/>
                  </a:lnTo>
                  <a:lnTo>
                    <a:pt x="3632199" y="6408173"/>
                  </a:lnTo>
                  <a:lnTo>
                    <a:pt x="3619499" y="6360146"/>
                  </a:lnTo>
                  <a:lnTo>
                    <a:pt x="3619499" y="6217065"/>
                  </a:lnTo>
                  <a:lnTo>
                    <a:pt x="3606799" y="6169718"/>
                  </a:lnTo>
                  <a:lnTo>
                    <a:pt x="3606799" y="6122550"/>
                  </a:lnTo>
                  <a:lnTo>
                    <a:pt x="3594099" y="6075566"/>
                  </a:lnTo>
                  <a:lnTo>
                    <a:pt x="3594099" y="6028770"/>
                  </a:lnTo>
                  <a:lnTo>
                    <a:pt x="3581399" y="5982165"/>
                  </a:lnTo>
                  <a:lnTo>
                    <a:pt x="3581399" y="5935755"/>
                  </a:lnTo>
                  <a:lnTo>
                    <a:pt x="3555999" y="5843538"/>
                  </a:lnTo>
                  <a:lnTo>
                    <a:pt x="3555999" y="5797739"/>
                  </a:lnTo>
                  <a:lnTo>
                    <a:pt x="3416299" y="5308740"/>
                  </a:lnTo>
                  <a:lnTo>
                    <a:pt x="3390899" y="5265733"/>
                  </a:lnTo>
                  <a:lnTo>
                    <a:pt x="3365499" y="5180497"/>
                  </a:lnTo>
                  <a:lnTo>
                    <a:pt x="3340099" y="5138276"/>
                  </a:lnTo>
                  <a:lnTo>
                    <a:pt x="3327399" y="5096326"/>
                  </a:lnTo>
                  <a:lnTo>
                    <a:pt x="3301999" y="5054649"/>
                  </a:lnTo>
                  <a:lnTo>
                    <a:pt x="3289299" y="5013250"/>
                  </a:lnTo>
                  <a:lnTo>
                    <a:pt x="3263899" y="4972133"/>
                  </a:lnTo>
                  <a:lnTo>
                    <a:pt x="3251199" y="4931302"/>
                  </a:lnTo>
                  <a:lnTo>
                    <a:pt x="3225799" y="4890760"/>
                  </a:lnTo>
                  <a:lnTo>
                    <a:pt x="3213099" y="4850512"/>
                  </a:lnTo>
                  <a:lnTo>
                    <a:pt x="3136899" y="4731568"/>
                  </a:lnTo>
                  <a:lnTo>
                    <a:pt x="3111499" y="4692533"/>
                  </a:lnTo>
                  <a:lnTo>
                    <a:pt x="3098799" y="4653812"/>
                  </a:lnTo>
                  <a:lnTo>
                    <a:pt x="3022599" y="4539565"/>
                  </a:lnTo>
                  <a:lnTo>
                    <a:pt x="2946399" y="4428279"/>
                  </a:lnTo>
                  <a:lnTo>
                    <a:pt x="2895599" y="4355785"/>
                  </a:lnTo>
                  <a:lnTo>
                    <a:pt x="2857499" y="4320059"/>
                  </a:lnTo>
                  <a:lnTo>
                    <a:pt x="2806699" y="4249668"/>
                  </a:lnTo>
                  <a:lnTo>
                    <a:pt x="2781299" y="4215011"/>
                  </a:lnTo>
                  <a:lnTo>
                    <a:pt x="2743199" y="4180718"/>
                  </a:lnTo>
                  <a:lnTo>
                    <a:pt x="2692399" y="4113241"/>
                  </a:lnTo>
                  <a:lnTo>
                    <a:pt x="2654299" y="4080064"/>
                  </a:lnTo>
                  <a:lnTo>
                    <a:pt x="2628899" y="4047267"/>
                  </a:lnTo>
                  <a:lnTo>
                    <a:pt x="2590799" y="4014855"/>
                  </a:lnTo>
                  <a:lnTo>
                    <a:pt x="2565399" y="3982829"/>
                  </a:lnTo>
                  <a:lnTo>
                    <a:pt x="2527299" y="3951196"/>
                  </a:lnTo>
                  <a:lnTo>
                    <a:pt x="2501899" y="3919958"/>
                  </a:lnTo>
                  <a:lnTo>
                    <a:pt x="2463799" y="3889120"/>
                  </a:lnTo>
                  <a:lnTo>
                    <a:pt x="2438399" y="3858685"/>
                  </a:lnTo>
                  <a:lnTo>
                    <a:pt x="2400299" y="3828658"/>
                  </a:lnTo>
                  <a:lnTo>
                    <a:pt x="2362199" y="3799042"/>
                  </a:lnTo>
                  <a:lnTo>
                    <a:pt x="2336799" y="3769841"/>
                  </a:lnTo>
                  <a:lnTo>
                    <a:pt x="2298699" y="3741059"/>
                  </a:lnTo>
                  <a:lnTo>
                    <a:pt x="2260599" y="3712701"/>
                  </a:lnTo>
                  <a:lnTo>
                    <a:pt x="2222499" y="3684769"/>
                  </a:lnTo>
                  <a:lnTo>
                    <a:pt x="2197099" y="3657269"/>
                  </a:lnTo>
                  <a:lnTo>
                    <a:pt x="2158999" y="3630203"/>
                  </a:lnTo>
                  <a:lnTo>
                    <a:pt x="2120899" y="3603576"/>
                  </a:lnTo>
                  <a:lnTo>
                    <a:pt x="2082799" y="3577392"/>
                  </a:lnTo>
                  <a:lnTo>
                    <a:pt x="2044699" y="3551655"/>
                  </a:lnTo>
                  <a:lnTo>
                    <a:pt x="2006599" y="3526368"/>
                  </a:lnTo>
                  <a:lnTo>
                    <a:pt x="1968499" y="3501535"/>
                  </a:lnTo>
                  <a:lnTo>
                    <a:pt x="1930399" y="3477161"/>
                  </a:lnTo>
                  <a:lnTo>
                    <a:pt x="1892299" y="3453250"/>
                  </a:lnTo>
                  <a:lnTo>
                    <a:pt x="1854199" y="3429804"/>
                  </a:lnTo>
                  <a:lnTo>
                    <a:pt x="1816099" y="3406829"/>
                  </a:lnTo>
                  <a:lnTo>
                    <a:pt x="1777999" y="3384328"/>
                  </a:lnTo>
                  <a:lnTo>
                    <a:pt x="1739899" y="3362305"/>
                  </a:lnTo>
                  <a:lnTo>
                    <a:pt x="1701799" y="3340764"/>
                  </a:lnTo>
                  <a:lnTo>
                    <a:pt x="1650999" y="3319709"/>
                  </a:lnTo>
                  <a:lnTo>
                    <a:pt x="1612899" y="3299144"/>
                  </a:lnTo>
                  <a:lnTo>
                    <a:pt x="1574799" y="3279072"/>
                  </a:lnTo>
                  <a:lnTo>
                    <a:pt x="1536699" y="3259498"/>
                  </a:lnTo>
                  <a:lnTo>
                    <a:pt x="1498599" y="3240426"/>
                  </a:lnTo>
                  <a:lnTo>
                    <a:pt x="1447799" y="3221860"/>
                  </a:lnTo>
                  <a:lnTo>
                    <a:pt x="1409699" y="3203802"/>
                  </a:lnTo>
                  <a:lnTo>
                    <a:pt x="1371599" y="3186259"/>
                  </a:lnTo>
                  <a:lnTo>
                    <a:pt x="1320799" y="3169232"/>
                  </a:lnTo>
                  <a:lnTo>
                    <a:pt x="1282699" y="3152727"/>
                  </a:lnTo>
                  <a:lnTo>
                    <a:pt x="1244599" y="3136747"/>
                  </a:lnTo>
                  <a:lnTo>
                    <a:pt x="1193799" y="3121296"/>
                  </a:lnTo>
                  <a:lnTo>
                    <a:pt x="1155699" y="3106378"/>
                  </a:lnTo>
                  <a:lnTo>
                    <a:pt x="1104899" y="3091997"/>
                  </a:lnTo>
                  <a:lnTo>
                    <a:pt x="1066799" y="3078157"/>
                  </a:lnTo>
                  <a:lnTo>
                    <a:pt x="1015999" y="3064861"/>
                  </a:lnTo>
                  <a:lnTo>
                    <a:pt x="977899" y="3052114"/>
                  </a:lnTo>
                  <a:lnTo>
                    <a:pt x="927099" y="3039920"/>
                  </a:lnTo>
                  <a:lnTo>
                    <a:pt x="888999" y="3028283"/>
                  </a:lnTo>
                  <a:lnTo>
                    <a:pt x="838199" y="3017206"/>
                  </a:lnTo>
                  <a:lnTo>
                    <a:pt x="800099" y="3006693"/>
                  </a:lnTo>
                  <a:lnTo>
                    <a:pt x="749299" y="2996749"/>
                  </a:lnTo>
                  <a:lnTo>
                    <a:pt x="698499" y="2987377"/>
                  </a:lnTo>
                  <a:lnTo>
                    <a:pt x="660399" y="2978581"/>
                  </a:lnTo>
                  <a:lnTo>
                    <a:pt x="609599" y="2970366"/>
                  </a:lnTo>
                  <a:lnTo>
                    <a:pt x="571499" y="2962734"/>
                  </a:lnTo>
                  <a:lnTo>
                    <a:pt x="520699" y="2955691"/>
                  </a:lnTo>
                  <a:lnTo>
                    <a:pt x="469899" y="2949239"/>
                  </a:lnTo>
                  <a:lnTo>
                    <a:pt x="419099" y="2943383"/>
                  </a:lnTo>
                  <a:lnTo>
                    <a:pt x="380999" y="2938127"/>
                  </a:lnTo>
                  <a:lnTo>
                    <a:pt x="330199" y="2933474"/>
                  </a:lnTo>
                  <a:lnTo>
                    <a:pt x="279399" y="2929429"/>
                  </a:lnTo>
                  <a:lnTo>
                    <a:pt x="241299" y="2925996"/>
                  </a:lnTo>
                  <a:lnTo>
                    <a:pt x="190499" y="2923178"/>
                  </a:lnTo>
                  <a:lnTo>
                    <a:pt x="139699" y="2920979"/>
                  </a:lnTo>
                  <a:lnTo>
                    <a:pt x="88899" y="2919404"/>
                  </a:lnTo>
                  <a:lnTo>
                    <a:pt x="38099" y="2918456"/>
                  </a:lnTo>
                  <a:lnTo>
                    <a:pt x="0" y="291813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0" name="Google Shape;810;p39"/>
          <p:cNvSpPr txBox="1"/>
          <p:nvPr>
            <p:ph type="title"/>
          </p:nvPr>
        </p:nvSpPr>
        <p:spPr>
          <a:xfrm>
            <a:off x="508000" y="1238200"/>
            <a:ext cx="36114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4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1" name="Google Shape;811;p39"/>
          <p:cNvSpPr/>
          <p:nvPr/>
        </p:nvSpPr>
        <p:spPr>
          <a:xfrm>
            <a:off x="0" y="3"/>
            <a:ext cx="843000" cy="819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6" name="Google Shape;816;g35ceeaac969_0_5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817" name="Google Shape;817;g35ceeaac969_0_5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g35ceeaac969_0_5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g35ceeaac969_0_5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0" name="Google Shape;820;g35ceeaac969_0_5"/>
          <p:cNvSpPr txBox="1"/>
          <p:nvPr>
            <p:ph type="title"/>
          </p:nvPr>
        </p:nvSpPr>
        <p:spPr>
          <a:xfrm>
            <a:off x="4733574" y="1391613"/>
            <a:ext cx="2930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spAutoFit/>
          </a:bodyPr>
          <a:lstStyle/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200">
                <a:solidFill>
                  <a:srgbClr val="262626"/>
                </a:solidFill>
              </a:rPr>
              <a:t>Appendix</a:t>
            </a:r>
            <a:endParaRPr sz="3200"/>
          </a:p>
        </p:txBody>
      </p:sp>
      <p:sp>
        <p:nvSpPr>
          <p:cNvPr id="821" name="Google Shape;821;g35ceeaac969_0_5"/>
          <p:cNvSpPr txBox="1"/>
          <p:nvPr/>
        </p:nvSpPr>
        <p:spPr>
          <a:xfrm>
            <a:off x="4733575" y="1978813"/>
            <a:ext cx="35907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22" name="Google Shape;822;g35ceeaac969_0_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Google Shape;827;g35ceeaac969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450" y="418313"/>
            <a:ext cx="4419600" cy="4135665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g35ceeaac969_1_9"/>
          <p:cNvSpPr/>
          <p:nvPr/>
        </p:nvSpPr>
        <p:spPr>
          <a:xfrm>
            <a:off x="5085900" y="1788600"/>
            <a:ext cx="3381600" cy="13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id" sz="30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Lasso Detail Formula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5ceeaac969_1_34"/>
          <p:cNvSpPr/>
          <p:nvPr/>
        </p:nvSpPr>
        <p:spPr>
          <a:xfrm>
            <a:off x="1305475" y="340800"/>
            <a:ext cx="67047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0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L1 </a:t>
            </a:r>
            <a:r>
              <a:rPr b="1" lang="id" sz="30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Lasso Detail Formula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34" name="Google Shape;834;g35ceeaac969_1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275" y="1388775"/>
            <a:ext cx="3932776" cy="8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g35ceeaac969_1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7300" y="2420225"/>
            <a:ext cx="5877775" cy="179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g35ceeaac969_1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500" y="744200"/>
            <a:ext cx="3388976" cy="398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g35ceeaac969_1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675" y="320000"/>
            <a:ext cx="1963275" cy="426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g35ceeaac969_1_43"/>
          <p:cNvSpPr/>
          <p:nvPr/>
        </p:nvSpPr>
        <p:spPr>
          <a:xfrm>
            <a:off x="4781100" y="1788600"/>
            <a:ext cx="3381600" cy="13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0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L1 </a:t>
            </a:r>
            <a:r>
              <a:rPr b="1" lang="id" sz="30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Lasso </a:t>
            </a:r>
            <a:endParaRPr b="1" sz="3000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0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Step by Step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