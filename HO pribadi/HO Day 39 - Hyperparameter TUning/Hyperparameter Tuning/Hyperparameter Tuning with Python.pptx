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Poppins"/>
      <p:regular r:id="rId55"/>
      <p:bold r:id="rId56"/>
      <p:italic r:id="rId57"/>
      <p:boldItalic r:id="rId58"/>
    </p:embeddedFont>
    <p:embeddedFont>
      <p:font typeface="Poppins Medium"/>
      <p:regular r:id="rId59"/>
      <p:bold r:id="rId60"/>
      <p:italic r:id="rId61"/>
      <p:boldItalic r:id="rId62"/>
    </p:embeddedFont>
    <p:embeddedFont>
      <p:font typeface="Roboto Mono"/>
      <p:regular r:id="rId63"/>
      <p:bold r:id="rId64"/>
      <p:italic r:id="rId65"/>
      <p:boldItalic r:id="rId66"/>
    </p:embeddedFont>
    <p:embeddedFont>
      <p:font typeface="Comfortaa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oppinsMedium-boldItalic.fntdata"/><Relationship Id="rId61" Type="http://schemas.openxmlformats.org/officeDocument/2006/relationships/font" Target="fonts/PoppinsMedium-italic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.fntdata"/><Relationship Id="rId63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66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65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68" Type="http://schemas.openxmlformats.org/officeDocument/2006/relationships/font" Target="fonts/Comfortaa-bold.fntdata"/><Relationship Id="rId23" Type="http://schemas.openxmlformats.org/officeDocument/2006/relationships/slide" Target="slides/slide17.xml"/><Relationship Id="rId67" Type="http://schemas.openxmlformats.org/officeDocument/2006/relationships/font" Target="fonts/Comfortaa-regular.fntdata"/><Relationship Id="rId60" Type="http://schemas.openxmlformats.org/officeDocument/2006/relationships/font" Target="fonts/PoppinsMediu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Poppins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Poppins-italic.fntdata"/><Relationship Id="rId12" Type="http://schemas.openxmlformats.org/officeDocument/2006/relationships/slide" Target="slides/slide6.xml"/><Relationship Id="rId56" Type="http://schemas.openxmlformats.org/officeDocument/2006/relationships/font" Target="fonts/Poppins-bold.fntdata"/><Relationship Id="rId15" Type="http://schemas.openxmlformats.org/officeDocument/2006/relationships/slide" Target="slides/slide9.xml"/><Relationship Id="rId59" Type="http://schemas.openxmlformats.org/officeDocument/2006/relationships/font" Target="fonts/PoppinsMedium-regular.fntdata"/><Relationship Id="rId14" Type="http://schemas.openxmlformats.org/officeDocument/2006/relationships/slide" Target="slides/slide8.xml"/><Relationship Id="rId58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6c8264cc0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97" name="Google Shape;97;ge6c8264cc0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7aa97c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08" name="Google Shape;108;gf7aa97c97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6c8264cc0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19" name="Google Shape;119;ge6c8264cc0_0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7aa97c97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32" name="Google Shape;132;gf7aa97c973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0b15d60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47" name="Google Shape;147;gf0b15d60e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7aa97c97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d"/>
              <a:t>Training data dibagi jadi 5 lipatan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d"/>
              <a:t>Dari 5 lipatan ini kita bentuk 5 split, yaitu kombinasi berbeda dari 4 fold menjadi training data, 1 fold sisanya menjadi validation set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d"/>
              <a:t>Kita train model untuk setiap split (5 kali train)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d"/>
              <a:t>Setelah kelima training selesai, kita evaluasi pada test data</a:t>
            </a:r>
            <a:endParaRPr/>
          </a:p>
        </p:txBody>
      </p:sp>
      <p:sp>
        <p:nvSpPr>
          <p:cNvPr id="160" name="Google Shape;160;gf7aa97c973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f931e398d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70" name="Google Shape;170;gf931e398d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f931e398d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79" name="Google Shape;179;gf931e398d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0489957c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98" name="Google Shape;198;g10489957cf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6c8264cc0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03" name="Google Shape;203;ge6c8264cc0_0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f0b15d60e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19" name="Google Shape;219;gf0b15d60e3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931e398d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30" name="Google Shape;230;gf931e398d1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931e398d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38" name="Google Shape;238;gf931e398d1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f931e398d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54" name="Google Shape;254;gf931e398d1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f931e398d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65" name="Google Shape;265;gf931e398d1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f0b15d60e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74" name="Google Shape;274;gf0b15d60e3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0b15d60e3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83" name="Google Shape;283;gf0b15d60e3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f931e398d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88" name="Google Shape;288;gf931e398d1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6f0e3552cc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98" name="Google Shape;298;g26f0e3552cc_3_7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f0e3552cc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08" name="Google Shape;308;g26f0e3552cc_3_16:notes"/>
          <p:cNvSpPr/>
          <p:nvPr>
            <p:ph idx="2" type="sldImg"/>
          </p:nvPr>
        </p:nvSpPr>
        <p:spPr>
          <a:xfrm>
            <a:off x="2143125" y="685800"/>
            <a:ext cx="25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f931e398d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18" name="Google Shape;318;gf931e398d1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f931e398d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29" name="Google Shape;329;gf931e398d1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1ed37f1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40" name="Google Shape;340;g131ed37f1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f0b15d60e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49" name="Google Shape;349;gf0b15d60e3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6c8264cc0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58" name="Google Shape;358;ge6c8264cc0_0_1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f931e398d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63" name="Google Shape;363;gf931e398d1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f931e398d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76" name="Google Shape;376;gf931e398d1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f931e398d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84" name="Google Shape;384;gf931e398d1_0_3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931e398d1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95" name="Google Shape;395;gf931e398d1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f931e398d1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04" name="Google Shape;404;gf931e398d1_0_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f931e398d1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13" name="Google Shape;413;gf931e398d1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931e398d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18" name="Google Shape;418;gf931e398d1_0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f931e398d1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25" name="Google Shape;425;gf931e398d1_0_3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f931e398d1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38" name="Google Shape;438;gf931e398d1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f931e398d1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48" name="Google Shape;448;gf931e398d1_0_4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f931e398d1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60" name="Google Shape;460;gf931e398d1_0_4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f931e398d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69" name="Google Shape;469;gf931e398d1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931e398d1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79" name="Google Shape;479;gf931e398d1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f931e398d1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89" name="Google Shape;489;gf931e398d1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f931e398d1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98" name="Google Shape;498;gf931e398d1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8220e11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03" name="Google Shape;503;g368220e11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8220e11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10" name="Google Shape;510;g368220e111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8220e11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17" name="Google Shape;517;g368220e1116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8220e111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24" name="Google Shape;524;g368220e1116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8220e11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31" name="Google Shape;531;g368220e1116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ecca650d49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ecca650d49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6f0e3552cc_3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26f0e3552cc_3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e6c8264cc0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56" name="Google Shape;556;ge6c8264cc0_0_8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>
  <p:cSld name="CUSTOM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5">
          <p15:clr>
            <a:srgbClr val="FA7B17"/>
          </p15:clr>
        </p15:guide>
        <p15:guide id="2" pos="576">
          <p15:clr>
            <a:srgbClr val="FA7B17"/>
          </p15:clr>
        </p15:guide>
        <p15:guide id="3" pos="809">
          <p15:clr>
            <a:srgbClr val="FA7B17"/>
          </p15:clr>
        </p15:guide>
        <p15:guide id="4" pos="1199">
          <p15:clr>
            <a:srgbClr val="FA7B17"/>
          </p15:clr>
        </p15:guide>
        <p15:guide id="5" pos="1432">
          <p15:clr>
            <a:srgbClr val="FA7B17"/>
          </p15:clr>
        </p15:guide>
        <p15:guide id="6" pos="1822">
          <p15:clr>
            <a:srgbClr val="FA7B17"/>
          </p15:clr>
        </p15:guide>
        <p15:guide id="7" pos="2055">
          <p15:clr>
            <a:srgbClr val="FA7B17"/>
          </p15:clr>
        </p15:guide>
        <p15:guide id="8" pos="2445">
          <p15:clr>
            <a:srgbClr val="FA7B17"/>
          </p15:clr>
        </p15:guide>
        <p15:guide id="9" pos="2679">
          <p15:clr>
            <a:srgbClr val="FA7B17"/>
          </p15:clr>
        </p15:guide>
        <p15:guide id="10" pos="3081">
          <p15:clr>
            <a:srgbClr val="FA7B17"/>
          </p15:clr>
        </p15:guide>
        <p15:guide id="11" pos="3315">
          <p15:clr>
            <a:srgbClr val="FA7B17"/>
          </p15:clr>
        </p15:guide>
        <p15:guide id="12" pos="3705">
          <p15:clr>
            <a:srgbClr val="FA7B17"/>
          </p15:clr>
        </p15:guide>
        <p15:guide id="13" pos="3926">
          <p15:clr>
            <a:srgbClr val="FA7B17"/>
          </p15:clr>
        </p15:guide>
        <p15:guide id="14" pos="4314">
          <p15:clr>
            <a:srgbClr val="FA7B17"/>
          </p15:clr>
        </p15:guide>
        <p15:guide id="15" pos="4561">
          <p15:clr>
            <a:srgbClr val="FA7B17"/>
          </p15:clr>
        </p15:guide>
        <p15:guide id="16" pos="4951">
          <p15:clr>
            <a:srgbClr val="FA7B17"/>
          </p15:clr>
        </p15:guide>
        <p15:guide id="17" pos="5184">
          <p15:clr>
            <a:srgbClr val="FA7B17"/>
          </p15:clr>
        </p15:guide>
        <p15:guide id="18" pos="5589">
          <p15:clr>
            <a:srgbClr val="FA7B17"/>
          </p15:clr>
        </p15:guide>
        <p15:guide id="19" orient="horz" pos="1390">
          <p15:clr>
            <a:srgbClr val="FA7B17"/>
          </p15:clr>
        </p15:guide>
        <p15:guide id="20" orient="horz" pos="1171">
          <p15:clr>
            <a:srgbClr val="FA7B17"/>
          </p15:clr>
        </p15:guide>
        <p15:guide id="21" orient="horz" pos="1044">
          <p15:clr>
            <a:srgbClr val="FA7B17"/>
          </p15:clr>
        </p15:guide>
        <p15:guide id="22" orient="horz" pos="821">
          <p15:clr>
            <a:srgbClr val="FA7B17"/>
          </p15:clr>
        </p15:guide>
        <p15:guide id="23" orient="horz" pos="697">
          <p15:clr>
            <a:srgbClr val="FA7B17"/>
          </p15:clr>
        </p15:guide>
        <p15:guide id="24" orient="horz" pos="479">
          <p15:clr>
            <a:srgbClr val="FA7B17"/>
          </p15:clr>
        </p15:guide>
        <p15:guide id="25" orient="horz" pos="351">
          <p15:clr>
            <a:srgbClr val="FA7B17"/>
          </p15:clr>
        </p15:guide>
        <p15:guide id="26" orient="horz" pos="138">
          <p15:clr>
            <a:srgbClr val="FA7B17"/>
          </p15:clr>
        </p15:guide>
        <p15:guide id="27" orient="horz" pos="1503">
          <p15:clr>
            <a:srgbClr val="FA7B17"/>
          </p15:clr>
        </p15:guide>
        <p15:guide id="28" orient="horz" pos="1737">
          <p15:clr>
            <a:srgbClr val="FA7B17"/>
          </p15:clr>
        </p15:guide>
        <p15:guide id="29" orient="horz" pos="1850">
          <p15:clr>
            <a:srgbClr val="FA7B17"/>
          </p15:clr>
        </p15:guide>
        <p15:guide id="30" orient="horz" pos="2069">
          <p15:clr>
            <a:srgbClr val="FA7B17"/>
          </p15:clr>
        </p15:guide>
        <p15:guide id="31" orient="horz" pos="2196">
          <p15:clr>
            <a:srgbClr val="FA7B17"/>
          </p15:clr>
        </p15:guide>
        <p15:guide id="32" orient="horz" pos="2419">
          <p15:clr>
            <a:srgbClr val="FA7B17"/>
          </p15:clr>
        </p15:guide>
        <p15:guide id="33" orient="horz" pos="2528">
          <p15:clr>
            <a:srgbClr val="FA7B17"/>
          </p15:clr>
        </p15:guide>
        <p15:guide id="34" orient="horz" pos="2748">
          <p15:clr>
            <a:srgbClr val="FA7B17"/>
          </p15:clr>
        </p15:guide>
        <p15:guide id="35" orient="horz" pos="2861">
          <p15:clr>
            <a:srgbClr val="FA7B17"/>
          </p15:clr>
        </p15:guide>
        <p15:guide id="36" orient="horz" pos="3102">
          <p15:clr>
            <a:srgbClr val="FA7B17"/>
          </p15:clr>
        </p15:guide>
        <p15:guide id="37" orient="horz" pos="254">
          <p15:clr>
            <a:srgbClr val="6D9EEB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8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2"/>
          <p:cNvGrpSpPr/>
          <p:nvPr/>
        </p:nvGrpSpPr>
        <p:grpSpPr>
          <a:xfrm>
            <a:off x="0" y="0"/>
            <a:ext cx="3867150" cy="5143500"/>
            <a:chOff x="0" y="0"/>
            <a:chExt cx="7734300" cy="10287000"/>
          </a:xfrm>
        </p:grpSpPr>
        <p:sp>
          <p:nvSpPr>
            <p:cNvPr id="100" name="Google Shape;100;p22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2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2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2"/>
          <p:cNvSpPr txBox="1"/>
          <p:nvPr>
            <p:ph type="title"/>
          </p:nvPr>
        </p:nvSpPr>
        <p:spPr>
          <a:xfrm>
            <a:off x="4565650" y="798925"/>
            <a:ext cx="3643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4160975" y="658950"/>
            <a:ext cx="46989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/>
              <a:t>Hyperparameter Tuning with Python</a:t>
            </a:r>
            <a:endParaRPr sz="3000"/>
          </a:p>
          <a:p>
            <a:pPr indent="0" lvl="0" marL="0" marR="5588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0"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8209056" y="54566"/>
            <a:ext cx="843000" cy="819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3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111" name="Google Shape;111;p23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3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3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3"/>
          <p:cNvSpPr txBox="1"/>
          <p:nvPr>
            <p:ph type="title"/>
          </p:nvPr>
        </p:nvSpPr>
        <p:spPr>
          <a:xfrm>
            <a:off x="4733574" y="1391613"/>
            <a:ext cx="293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200">
                <a:solidFill>
                  <a:srgbClr val="262626"/>
                </a:solidFill>
              </a:rPr>
              <a:t>Outline</a:t>
            </a:r>
            <a:endParaRPr sz="3200"/>
          </a:p>
        </p:txBody>
      </p:sp>
      <p:sp>
        <p:nvSpPr>
          <p:cNvPr id="115" name="Google Shape;115;p23"/>
          <p:cNvSpPr txBox="1"/>
          <p:nvPr/>
        </p:nvSpPr>
        <p:spPr>
          <a:xfrm>
            <a:off x="4733575" y="1978813"/>
            <a:ext cx="35907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What are hyperparameters?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Why optimizing them?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Cross Validation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Tuning penalized regression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Tuning K-nearest neighbors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Tuning K-means clustering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Tuning Random Forest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>
            <a:off x="0" y="0"/>
            <a:ext cx="9144000" cy="2000250"/>
          </a:xfrm>
          <a:custGeom>
            <a:rect b="b" l="l" r="r" t="t"/>
            <a:pathLst>
              <a:path extrusionOk="0" h="4000500" w="18288000">
                <a:moveTo>
                  <a:pt x="18288000" y="4000500"/>
                </a:moveTo>
                <a:lnTo>
                  <a:pt x="0" y="40005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00050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0" y="0"/>
            <a:ext cx="514350" cy="557213"/>
          </a:xfrm>
          <a:custGeom>
            <a:rect b="b" l="l" r="r" t="t"/>
            <a:pathLst>
              <a:path extrusionOk="0" h="1114425" w="1028700">
                <a:moveTo>
                  <a:pt x="1028700" y="1114425"/>
                </a:moveTo>
                <a:lnTo>
                  <a:pt x="0" y="1114425"/>
                </a:lnTo>
                <a:lnTo>
                  <a:pt x="0" y="0"/>
                </a:lnTo>
                <a:lnTo>
                  <a:pt x="1028700" y="0"/>
                </a:lnTo>
                <a:lnTo>
                  <a:pt x="1028700" y="1114425"/>
                </a:lnTo>
                <a:close/>
              </a:path>
            </a:pathLst>
          </a:custGeom>
          <a:solidFill>
            <a:srgbClr val="FFDE2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24"/>
          <p:cNvGrpSpPr/>
          <p:nvPr/>
        </p:nvGrpSpPr>
        <p:grpSpPr>
          <a:xfrm>
            <a:off x="0" y="558435"/>
            <a:ext cx="1943707" cy="1441744"/>
            <a:chOff x="0" y="1116869"/>
            <a:chExt cx="3887413" cy="2883487"/>
          </a:xfrm>
        </p:grpSpPr>
        <p:sp>
          <p:nvSpPr>
            <p:cNvPr id="124" name="Google Shape;124;p24"/>
            <p:cNvSpPr/>
            <p:nvPr/>
          </p:nvSpPr>
          <p:spPr>
            <a:xfrm>
              <a:off x="2877763" y="2952606"/>
              <a:ext cx="1009650" cy="1047750"/>
            </a:xfrm>
            <a:custGeom>
              <a:rect b="b" l="l" r="r" t="t"/>
              <a:pathLst>
                <a:path extrusionOk="0" h="1047750" w="1009650">
                  <a:moveTo>
                    <a:pt x="1009650" y="1047750"/>
                  </a:moveTo>
                  <a:lnTo>
                    <a:pt x="0" y="1047750"/>
                  </a:lnTo>
                  <a:lnTo>
                    <a:pt x="0" y="0"/>
                  </a:lnTo>
                  <a:lnTo>
                    <a:pt x="1009650" y="0"/>
                  </a:lnTo>
                  <a:lnTo>
                    <a:pt x="1009650" y="104775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4"/>
            <p:cNvSpPr/>
            <p:nvPr/>
          </p:nvSpPr>
          <p:spPr>
            <a:xfrm>
              <a:off x="1028700" y="1116869"/>
              <a:ext cx="1847850" cy="1838325"/>
            </a:xfrm>
            <a:custGeom>
              <a:rect b="b" l="l" r="r" t="t"/>
              <a:pathLst>
                <a:path extrusionOk="0" h="1838325" w="1847850">
                  <a:moveTo>
                    <a:pt x="1847850" y="1838325"/>
                  </a:moveTo>
                  <a:lnTo>
                    <a:pt x="0" y="1838325"/>
                  </a:lnTo>
                  <a:lnTo>
                    <a:pt x="0" y="0"/>
                  </a:lnTo>
                  <a:lnTo>
                    <a:pt x="1847850" y="0"/>
                  </a:lnTo>
                  <a:lnTo>
                    <a:pt x="1847850" y="1838325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4"/>
            <p:cNvSpPr/>
            <p:nvPr/>
          </p:nvSpPr>
          <p:spPr>
            <a:xfrm>
              <a:off x="0" y="2952606"/>
              <a:ext cx="1028700" cy="1047750"/>
            </a:xfrm>
            <a:custGeom>
              <a:rect b="b" l="l" r="r" t="t"/>
              <a:pathLst>
                <a:path extrusionOk="0" h="1047750" w="1028700">
                  <a:moveTo>
                    <a:pt x="1028700" y="1047750"/>
                  </a:moveTo>
                  <a:lnTo>
                    <a:pt x="0" y="1047750"/>
                  </a:lnTo>
                  <a:lnTo>
                    <a:pt x="0" y="0"/>
                  </a:lnTo>
                  <a:lnTo>
                    <a:pt x="1028700" y="0"/>
                  </a:lnTo>
                  <a:lnTo>
                    <a:pt x="1028700" y="1047750"/>
                  </a:lnTo>
                  <a:close/>
                </a:path>
              </a:pathLst>
            </a:custGeom>
            <a:solidFill>
              <a:srgbClr val="FFBD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4"/>
          <p:cNvSpPr txBox="1"/>
          <p:nvPr>
            <p:ph type="title"/>
          </p:nvPr>
        </p:nvSpPr>
        <p:spPr>
          <a:xfrm>
            <a:off x="2043550" y="419900"/>
            <a:ext cx="65181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600">
                <a:latin typeface="Georgia"/>
                <a:ea typeface="Georgia"/>
                <a:cs typeface="Georgia"/>
                <a:sym typeface="Georgia"/>
              </a:rPr>
              <a:t>What are hyperparameters? 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392400" y="2162425"/>
            <a:ext cx="79740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Hyperparameters are parameters whose values are </a:t>
            </a:r>
            <a:r>
              <a:rPr b="1"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specified by the modeller in advance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(before training the model)</a:t>
            </a:r>
            <a:b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contrast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: usual model 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parameter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values are derived (learned) via model training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E.g. coefficients of regression models</a:t>
            </a:r>
            <a:b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Sample of hyperparameters: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Lambda (alpha in python), the regularization parameter in Ridge/LASSO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K (number of clusters) in K-Means algorithm, and K-Nearest Neighbors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Number of 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ensemble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decision trees in Random Forest model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Etc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5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135" name="Google Shape;135;p25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508000" y="640675"/>
            <a:ext cx="64026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latin typeface="Georgia"/>
                <a:ea typeface="Georgia"/>
                <a:cs typeface="Georgia"/>
                <a:sym typeface="Georgia"/>
              </a:rPr>
              <a:t>Why Optimizing Hyperparameters?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745075" y="2295126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9600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9600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1160000" y="2959539"/>
            <a:ext cx="289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800">
                <a:latin typeface="Poppins"/>
                <a:ea typeface="Poppins"/>
                <a:cs typeface="Poppins"/>
                <a:sym typeface="Poppins"/>
              </a:rPr>
              <a:t>To Avoid Overfitting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1013275" y="3455614"/>
            <a:ext cx="3516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The most complex model is </a:t>
            </a: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 always better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Our ultimate goal is to have a model that performs well on unseen data (test data)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4703050" y="2295126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9600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9600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4925075" y="2959550"/>
            <a:ext cx="393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800">
                <a:latin typeface="Poppins"/>
                <a:ea typeface="Poppins"/>
                <a:cs typeface="Poppins"/>
                <a:sym typeface="Poppins"/>
              </a:rPr>
              <a:t>To Get Best of The Best Model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925074" y="3455625"/>
            <a:ext cx="37770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Good data scientist NEVER build only a single model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Build multiple models instead!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And choose the best one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508000" y="463563"/>
            <a:ext cx="62442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Recall: Our Strategy to Train Penalized Regression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784350" y="1929825"/>
            <a:ext cx="74172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All Data</a:t>
            </a:r>
            <a:endParaRPr/>
          </a:p>
        </p:txBody>
      </p:sp>
      <p:sp>
        <p:nvSpPr>
          <p:cNvPr id="152" name="Google Shape;152;p26"/>
          <p:cNvSpPr/>
          <p:nvPr/>
        </p:nvSpPr>
        <p:spPr>
          <a:xfrm>
            <a:off x="784350" y="2615625"/>
            <a:ext cx="3873300" cy="5175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Training</a:t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4807263" y="2615625"/>
            <a:ext cx="1622400" cy="517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Validation</a:t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6573338" y="2615625"/>
            <a:ext cx="1622400" cy="5175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Testing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705925" y="3484500"/>
            <a:ext cx="3951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Train multiple models with different lambdas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Model 1 (lambda = 0.1)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Model 2 (lambda = 1)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Model 3 (lambda = 10)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809471" y="3484500"/>
            <a:ext cx="1622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Choose the best lambda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Lambda = 1 is best (Model 2)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6575546" y="3484500"/>
            <a:ext cx="1622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Evaluate the best model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Report metrics of Model 2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508000" y="4635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Cross Validation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4">
            <a:alphaModFix/>
          </a:blip>
          <a:srcRect b="0" l="0" r="0" t="2884"/>
          <a:stretch/>
        </p:blipFill>
        <p:spPr>
          <a:xfrm>
            <a:off x="1526100" y="994875"/>
            <a:ext cx="6172535" cy="41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/>
          <p:nvPr/>
        </p:nvSpPr>
        <p:spPr>
          <a:xfrm>
            <a:off x="6068975" y="3294125"/>
            <a:ext cx="1772100" cy="2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Train and validate model in each split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206859" y="1128378"/>
            <a:ext cx="176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Only divide full data into </a:t>
            </a:r>
            <a:r>
              <a:rPr b="1" lang="id">
                <a:latin typeface="Georgia"/>
                <a:ea typeface="Georgia"/>
                <a:cs typeface="Georgia"/>
                <a:sym typeface="Georgia"/>
              </a:rPr>
              <a:t>two sets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199417" y="2815823"/>
            <a:ext cx="152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Georgia"/>
                <a:ea typeface="Georgia"/>
                <a:cs typeface="Georgia"/>
                <a:sym typeface="Georgia"/>
              </a:rPr>
              <a:t>For each split, allocate 4 folds as </a:t>
            </a:r>
            <a:r>
              <a:rPr b="1" lang="id" sz="1200">
                <a:solidFill>
                  <a:srgbClr val="00FF00"/>
                </a:solidFill>
                <a:latin typeface="Georgia"/>
                <a:ea typeface="Georgia"/>
                <a:cs typeface="Georgia"/>
                <a:sym typeface="Georgia"/>
              </a:rPr>
              <a:t>real training data</a:t>
            </a:r>
            <a:r>
              <a:rPr lang="id" sz="1200">
                <a:latin typeface="Georgia"/>
                <a:ea typeface="Georgia"/>
                <a:cs typeface="Georgia"/>
                <a:sym typeface="Georgia"/>
              </a:rPr>
              <a:t> and  leave 1 fold as </a:t>
            </a:r>
            <a:r>
              <a:rPr b="1" lang="id" sz="1200">
                <a:solidFill>
                  <a:srgbClr val="6D9EEB"/>
                </a:solidFill>
                <a:latin typeface="Georgia"/>
                <a:ea typeface="Georgia"/>
                <a:cs typeface="Georgia"/>
                <a:sym typeface="Georgia"/>
              </a:rPr>
              <a:t>validation set</a:t>
            </a:r>
            <a:endParaRPr b="1" sz="1200">
              <a:solidFill>
                <a:srgbClr val="6D9E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508000" y="3111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K-Fold C</a:t>
            </a: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ross Validation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 rotWithShape="1">
          <a:blip r:embed="rId4">
            <a:alphaModFix/>
          </a:blip>
          <a:srcRect b="12446" l="0" r="31313" t="32477"/>
          <a:stretch/>
        </p:blipFill>
        <p:spPr>
          <a:xfrm>
            <a:off x="4792950" y="1776413"/>
            <a:ext cx="423982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/>
        </p:nvSpPr>
        <p:spPr>
          <a:xfrm>
            <a:off x="103175" y="892419"/>
            <a:ext cx="4919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We separate the training data to become K parts (folds) with the same size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For each split, we train the model on all K-1 folds (</a:t>
            </a:r>
            <a:r>
              <a:rPr lang="id">
                <a:solidFill>
                  <a:srgbClr val="48C4B6"/>
                </a:solidFill>
                <a:latin typeface="Trebuchet MS"/>
                <a:ea typeface="Trebuchet MS"/>
                <a:cs typeface="Trebuchet MS"/>
                <a:sym typeface="Trebuchet MS"/>
              </a:rPr>
              <a:t>green folds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And validate the model on the last fold that remains (</a:t>
            </a:r>
            <a:r>
              <a:rPr lang="id">
                <a:solidFill>
                  <a:srgbClr val="4A86E8"/>
                </a:solidFill>
                <a:latin typeface="Trebuchet MS"/>
                <a:ea typeface="Trebuchet MS"/>
                <a:cs typeface="Trebuchet MS"/>
                <a:sym typeface="Trebuchet MS"/>
              </a:rPr>
              <a:t>blue fold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i.e. compute evaluation metrics on the </a:t>
            </a:r>
            <a:r>
              <a:rPr lang="id">
                <a:solidFill>
                  <a:srgbClr val="4A86E8"/>
                </a:solidFill>
                <a:latin typeface="Trebuchet MS"/>
                <a:ea typeface="Trebuchet MS"/>
                <a:cs typeface="Trebuchet MS"/>
                <a:sym typeface="Trebuchet MS"/>
              </a:rPr>
              <a:t>blue fold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 (can be seen as validation data)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After done with all splits (combination of K-1 training parts and 1 validation part)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Average out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 all of K 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evaluation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 metrics to become the final metric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As basis to choose the best hyperparameter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What number is K?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5 is a good default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3 is minimum, 10 when your machine allows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4">
            <a:alphaModFix/>
          </a:blip>
          <a:srcRect b="77066" l="10339" r="31310" t="13755"/>
          <a:stretch/>
        </p:blipFill>
        <p:spPr>
          <a:xfrm>
            <a:off x="5426026" y="1375875"/>
            <a:ext cx="3601625" cy="3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/>
        </p:nvSpPr>
        <p:spPr>
          <a:xfrm>
            <a:off x="4984380" y="1693150"/>
            <a:ext cx="3564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Help maximizing data size value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4984363" y="189013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More robust results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0" y="0"/>
            <a:ext cx="3961765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279060" y="1998403"/>
            <a:ext cx="2971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id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+/- of Cross Validation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4157907" y="160790"/>
            <a:ext cx="408622" cy="408622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3974520" y="195326"/>
            <a:ext cx="77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id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1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4157907" y="1664923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984363" y="3445743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Heavier computation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4157907" y="3417523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CC41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762650" y="442952"/>
            <a:ext cx="4030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By validating the trained model multiple times, we will get more stable results on the model performance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And hence the correctness of the optimal hyperparameters chosen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4762650" y="1890752"/>
            <a:ext cx="40305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Cross validation is extremely helpful when our dataset is not too big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id" sz="1200">
                <a:solidFill>
                  <a:schemeClr val="dk1"/>
                </a:solidFill>
              </a:rPr>
              <a:t>i.e. &lt; 100K rows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In a way, it gives us a free validation data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4762650" y="3625767"/>
            <a:ext cx="4030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d" sz="1200">
                <a:solidFill>
                  <a:schemeClr val="dk1"/>
                </a:solidFill>
              </a:rPr>
              <a:t>Since it takes K times training processes to finish one complete round of model training with a specific hyperparameter value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3974520" y="1690170"/>
            <a:ext cx="77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id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1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3974520" y="3442770"/>
            <a:ext cx="77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id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endParaRPr b="1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206" name="Google Shape;206;p31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31"/>
          <p:cNvSpPr txBox="1"/>
          <p:nvPr/>
        </p:nvSpPr>
        <p:spPr>
          <a:xfrm>
            <a:off x="520780" y="2076469"/>
            <a:ext cx="71283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id" sz="16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We will tune </a:t>
            </a:r>
            <a:r>
              <a:rPr b="1" lang="id" sz="16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lambda</a:t>
            </a:r>
            <a:r>
              <a:rPr lang="id" sz="16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, which regulates the level of regularization of the regression</a:t>
            </a:r>
            <a:endParaRPr sz="16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31"/>
          <p:cNvSpPr txBox="1"/>
          <p:nvPr>
            <p:ph type="title"/>
          </p:nvPr>
        </p:nvSpPr>
        <p:spPr>
          <a:xfrm>
            <a:off x="508000" y="640675"/>
            <a:ext cx="6402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latin typeface="Georgia"/>
                <a:ea typeface="Georgia"/>
                <a:cs typeface="Georgia"/>
                <a:sym typeface="Georgia"/>
              </a:rPr>
              <a:t>Penalized Regression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3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45075" y="2295126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9600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9600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1160000" y="2959539"/>
            <a:ext cx="289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800">
                <a:latin typeface="Poppins"/>
                <a:ea typeface="Poppins"/>
                <a:cs typeface="Poppins"/>
                <a:sym typeface="Poppins"/>
              </a:rPr>
              <a:t>Ridge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1013275" y="3455614"/>
            <a:ext cx="3516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Lambda e</a:t>
            </a:r>
            <a:r>
              <a:rPr lang="id">
                <a:solidFill>
                  <a:schemeClr val="dk1"/>
                </a:solidFill>
              </a:rPr>
              <a:t>ffect to the model coefficients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Coeff will become smaller (larger lambda == smaller coeff)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d">
                <a:solidFill>
                  <a:schemeClr val="dk1"/>
                </a:solidFill>
              </a:rPr>
              <a:t>Yet they all never be exactly zero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4703050" y="2295126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9600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9600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5117975" y="2959539"/>
            <a:ext cx="32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d" sz="1800">
                <a:latin typeface="Poppins"/>
                <a:ea typeface="Poppins"/>
                <a:cs typeface="Poppins"/>
                <a:sym typeface="Poppins"/>
              </a:rPr>
              <a:t>LASSO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4823275" y="3455614"/>
            <a:ext cx="3516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Lambda effect to the model coefficients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Coeff will become smaller (larger lambda == smaller coeff)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d">
                <a:solidFill>
                  <a:schemeClr val="dk1"/>
                </a:solidFill>
              </a:rPr>
              <a:t>Some of them will be </a:t>
            </a:r>
            <a:r>
              <a:rPr b="1" lang="id" u="sng">
                <a:solidFill>
                  <a:schemeClr val="dk1"/>
                </a:solidFill>
              </a:rPr>
              <a:t>exactly zero</a:t>
            </a:r>
            <a:r>
              <a:rPr b="1" lang="id">
                <a:solidFill>
                  <a:schemeClr val="dk1"/>
                </a:solidFill>
              </a:rPr>
              <a:t> (eliminated from the model)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We’ll use GridSearchCV function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4217975" y="1502019"/>
            <a:ext cx="4919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GridSearchCV is a function from </a:t>
            </a: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sklearn library </a:t>
            </a: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to do hyperparameter tuning based on Cross Validation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Essentially, what it does is to</a:t>
            </a: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 try every combination of the specified hyperparameter values</a:t>
            </a:r>
            <a:br>
              <a:rPr b="1" lang="id">
                <a:latin typeface="Trebuchet MS"/>
                <a:ea typeface="Trebuchet MS"/>
                <a:cs typeface="Trebuchet MS"/>
                <a:sym typeface="Trebuchet MS"/>
              </a:rPr>
            </a:b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Example on the left: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There will be 5 times the program will do K-fold cross validation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4">
            <a:alphaModFix/>
          </a:blip>
          <a:srcRect b="18592" l="15737" r="43825" t="72971"/>
          <a:stretch/>
        </p:blipFill>
        <p:spPr>
          <a:xfrm>
            <a:off x="804453" y="2409225"/>
            <a:ext cx="25830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 rotWithShape="1">
          <a:blip r:embed="rId4">
            <a:alphaModFix/>
          </a:blip>
          <a:srcRect b="0" l="50004" r="5934" t="86586"/>
          <a:stretch/>
        </p:blipFill>
        <p:spPr>
          <a:xfrm>
            <a:off x="1401224" y="2797149"/>
            <a:ext cx="1592875" cy="3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405775" y="2138100"/>
            <a:ext cx="59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latin typeface="Georgia"/>
                <a:ea typeface="Georgia"/>
                <a:cs typeface="Georgia"/>
                <a:sym typeface="Georgia"/>
              </a:rPr>
              <a:t>ƛ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1035250" y="2070975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   0.01   0.1      1        5        10  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If &gt; 1 types of hyperparameter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75" y="1547425"/>
            <a:ext cx="3615175" cy="28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/>
        </p:nvSpPr>
        <p:spPr>
          <a:xfrm>
            <a:off x="4217975" y="1502019"/>
            <a:ext cx="491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GridSearchCV will </a:t>
            </a: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try every combination pair of the specified hyperparameter values</a:t>
            </a:r>
            <a:br>
              <a:rPr b="1" lang="id">
                <a:latin typeface="Trebuchet MS"/>
                <a:ea typeface="Trebuchet MS"/>
                <a:cs typeface="Trebuchet MS"/>
                <a:sym typeface="Trebuchet MS"/>
              </a:rPr>
            </a:b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Example on the left: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Hyperparameter 1: 10 distinct values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Hyperparameter 2: 8 distinct values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○"/>
            </a:pPr>
            <a:r>
              <a:rPr lang="id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 there are 10 x 8 = </a:t>
            </a:r>
            <a:r>
              <a:rPr b="1" lang="id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80 times</a:t>
            </a:r>
            <a:r>
              <a:rPr lang="id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K-fold cross validation!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Penalized Regression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" y="1581925"/>
            <a:ext cx="6477000" cy="272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4"/>
          <p:cNvCxnSpPr/>
          <p:nvPr/>
        </p:nvCxnSpPr>
        <p:spPr>
          <a:xfrm>
            <a:off x="4736050" y="2882000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" name="Google Shape;244;p34"/>
          <p:cNvSpPr txBox="1"/>
          <p:nvPr/>
        </p:nvSpPr>
        <p:spPr>
          <a:xfrm>
            <a:off x="5551474" y="2678119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tested lambda values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45" name="Google Shape;245;p34"/>
          <p:cNvCxnSpPr/>
          <p:nvPr/>
        </p:nvCxnSpPr>
        <p:spPr>
          <a:xfrm>
            <a:off x="6107650" y="3720200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" name="Google Shape;246;p34"/>
          <p:cNvSpPr txBox="1"/>
          <p:nvPr/>
        </p:nvSpPr>
        <p:spPr>
          <a:xfrm>
            <a:off x="6923074" y="3516319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5-fold CV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47" name="Google Shape;247;p34"/>
          <p:cNvCxnSpPr/>
          <p:nvPr/>
        </p:nvCxnSpPr>
        <p:spPr>
          <a:xfrm>
            <a:off x="5421850" y="4101200"/>
            <a:ext cx="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" name="Google Shape;248;p34"/>
          <p:cNvSpPr txBox="1"/>
          <p:nvPr/>
        </p:nvSpPr>
        <p:spPr>
          <a:xfrm>
            <a:off x="4359875" y="4340350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Evaluation metric used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49" name="Google Shape;249;p34"/>
          <p:cNvCxnSpPr/>
          <p:nvPr/>
        </p:nvCxnSpPr>
        <p:spPr>
          <a:xfrm>
            <a:off x="3758924" y="2377756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" name="Google Shape;250;p34"/>
          <p:cNvSpPr txBox="1"/>
          <p:nvPr/>
        </p:nvSpPr>
        <p:spPr>
          <a:xfrm>
            <a:off x="4574349" y="2173874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ensure reproducibility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For Ridge (LASSO is quite similar)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Penalized Regression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9" name="Google Shape;25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408701"/>
            <a:ext cx="5619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00" y="2208800"/>
            <a:ext cx="4683300" cy="2830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35"/>
          <p:cNvCxnSpPr/>
          <p:nvPr/>
        </p:nvCxnSpPr>
        <p:spPr>
          <a:xfrm>
            <a:off x="5157473" y="4816156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" name="Google Shape;262;p35"/>
          <p:cNvSpPr txBox="1"/>
          <p:nvPr/>
        </p:nvSpPr>
        <p:spPr>
          <a:xfrm>
            <a:off x="5972898" y="4612274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Best model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Penalized Regression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best model obtained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74" y="1500576"/>
            <a:ext cx="58102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862" y="3554601"/>
            <a:ext cx="584835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/>
        </p:nvSpPr>
        <p:spPr>
          <a:xfrm>
            <a:off x="673177" y="2015950"/>
            <a:ext cx="45378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300"/>
              <a:buFont typeface="Trebuchet MS"/>
              <a:buChar char="●"/>
            </a:pPr>
            <a:r>
              <a:rPr lang="id" sz="13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sz="13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300"/>
              <a:buFont typeface="Trebuchet MS"/>
              <a:buChar char="●"/>
            </a:pPr>
            <a:r>
              <a:rPr lang="id" sz="13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sz="13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300"/>
              <a:buFont typeface="Trebuchet MS"/>
              <a:buChar char="○"/>
            </a:pPr>
            <a:r>
              <a:rPr lang="id" sz="1300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sz="13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0" name="Google Shape;28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39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291" name="Google Shape;291;p39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9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39"/>
          <p:cNvSpPr txBox="1"/>
          <p:nvPr/>
        </p:nvSpPr>
        <p:spPr>
          <a:xfrm>
            <a:off x="139777" y="2228875"/>
            <a:ext cx="3823200" cy="29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Recall: KNN classifies the label of a data point based on the majority label of its K nearest neighbors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Naturally, we can tune K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i.e. the number of neighbors we want to look at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 sz="11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Pattern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Smaller K: higher variance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■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more likely to overfitting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Vice versa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508000" y="640675"/>
            <a:ext cx="64026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latin typeface="Georgia"/>
                <a:ea typeface="Georgia"/>
                <a:cs typeface="Georgia"/>
                <a:sym typeface="Georgia"/>
              </a:rPr>
              <a:t>K-Nearest Neighbors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latin typeface="Georgia"/>
                <a:ea typeface="Georgia"/>
                <a:cs typeface="Georgia"/>
                <a:sym typeface="Georgia"/>
              </a:rPr>
              <a:t>Classifier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95" name="Google Shape;2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175" y="2181812"/>
            <a:ext cx="5092825" cy="29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/>
          <p:nvPr/>
        </p:nvSpPr>
        <p:spPr>
          <a:xfrm>
            <a:off x="5757761" y="0"/>
            <a:ext cx="3716612" cy="5143500"/>
          </a:xfrm>
          <a:custGeom>
            <a:rect b="b" l="l" r="r" t="t"/>
            <a:pathLst>
              <a:path extrusionOk="0" h="10287000" w="8902065">
                <a:moveTo>
                  <a:pt x="8901532" y="10287000"/>
                </a:moveTo>
                <a:lnTo>
                  <a:pt x="2473700" y="10287000"/>
                </a:lnTo>
                <a:lnTo>
                  <a:pt x="2449070" y="10267288"/>
                </a:lnTo>
                <a:lnTo>
                  <a:pt x="2407286" y="10233286"/>
                </a:lnTo>
                <a:lnTo>
                  <a:pt x="2365780" y="10198934"/>
                </a:lnTo>
                <a:lnTo>
                  <a:pt x="2324562" y="10164248"/>
                </a:lnTo>
                <a:lnTo>
                  <a:pt x="2283633" y="10129231"/>
                </a:lnTo>
                <a:lnTo>
                  <a:pt x="2242992" y="10093881"/>
                </a:lnTo>
                <a:lnTo>
                  <a:pt x="2202639" y="10058202"/>
                </a:lnTo>
                <a:lnTo>
                  <a:pt x="2162574" y="10022192"/>
                </a:lnTo>
                <a:lnTo>
                  <a:pt x="2122804" y="9985846"/>
                </a:lnTo>
                <a:lnTo>
                  <a:pt x="2083338" y="9949184"/>
                </a:lnTo>
                <a:lnTo>
                  <a:pt x="2044176" y="9912203"/>
                </a:lnTo>
                <a:lnTo>
                  <a:pt x="2005318" y="9874905"/>
                </a:lnTo>
                <a:lnTo>
                  <a:pt x="1966764" y="9837288"/>
                </a:lnTo>
                <a:lnTo>
                  <a:pt x="1928513" y="9799351"/>
                </a:lnTo>
                <a:lnTo>
                  <a:pt x="1890574" y="9761100"/>
                </a:lnTo>
                <a:lnTo>
                  <a:pt x="1852955" y="9722544"/>
                </a:lnTo>
                <a:lnTo>
                  <a:pt x="1815654" y="9683683"/>
                </a:lnTo>
                <a:lnTo>
                  <a:pt x="1778673" y="9644520"/>
                </a:lnTo>
                <a:lnTo>
                  <a:pt x="1742012" y="9605055"/>
                </a:lnTo>
                <a:lnTo>
                  <a:pt x="1705670" y="9565290"/>
                </a:lnTo>
                <a:lnTo>
                  <a:pt x="1669654" y="9525220"/>
                </a:lnTo>
                <a:lnTo>
                  <a:pt x="1633972" y="9484863"/>
                </a:lnTo>
                <a:lnTo>
                  <a:pt x="1598624" y="9444220"/>
                </a:lnTo>
                <a:lnTo>
                  <a:pt x="1563609" y="9403290"/>
                </a:lnTo>
                <a:lnTo>
                  <a:pt x="1528928" y="9362071"/>
                </a:lnTo>
                <a:lnTo>
                  <a:pt x="1494580" y="9320563"/>
                </a:lnTo>
                <a:lnTo>
                  <a:pt x="1460573" y="9278785"/>
                </a:lnTo>
                <a:lnTo>
                  <a:pt x="1426914" y="9236733"/>
                </a:lnTo>
                <a:lnTo>
                  <a:pt x="1393602" y="9194406"/>
                </a:lnTo>
                <a:lnTo>
                  <a:pt x="1360638" y="9151808"/>
                </a:lnTo>
                <a:lnTo>
                  <a:pt x="1328021" y="9108939"/>
                </a:lnTo>
                <a:lnTo>
                  <a:pt x="1295751" y="9065801"/>
                </a:lnTo>
                <a:lnTo>
                  <a:pt x="1263835" y="9022399"/>
                </a:lnTo>
                <a:lnTo>
                  <a:pt x="1232280" y="8978741"/>
                </a:lnTo>
                <a:lnTo>
                  <a:pt x="1201086" y="8934828"/>
                </a:lnTo>
                <a:lnTo>
                  <a:pt x="1170252" y="8890663"/>
                </a:lnTo>
                <a:lnTo>
                  <a:pt x="1139778" y="8846247"/>
                </a:lnTo>
                <a:lnTo>
                  <a:pt x="1109664" y="8801584"/>
                </a:lnTo>
                <a:lnTo>
                  <a:pt x="1079917" y="8756665"/>
                </a:lnTo>
                <a:lnTo>
                  <a:pt x="1050542" y="8711510"/>
                </a:lnTo>
                <a:lnTo>
                  <a:pt x="1021539" y="8666120"/>
                </a:lnTo>
                <a:lnTo>
                  <a:pt x="992909" y="8620495"/>
                </a:lnTo>
                <a:lnTo>
                  <a:pt x="964650" y="8574636"/>
                </a:lnTo>
                <a:lnTo>
                  <a:pt x="936764" y="8528543"/>
                </a:lnTo>
                <a:lnTo>
                  <a:pt x="909257" y="8482214"/>
                </a:lnTo>
                <a:lnTo>
                  <a:pt x="882133" y="8435669"/>
                </a:lnTo>
                <a:lnTo>
                  <a:pt x="855393" y="8388909"/>
                </a:lnTo>
                <a:lnTo>
                  <a:pt x="829036" y="8341934"/>
                </a:lnTo>
                <a:lnTo>
                  <a:pt x="803063" y="8294744"/>
                </a:lnTo>
                <a:lnTo>
                  <a:pt x="777473" y="8247339"/>
                </a:lnTo>
                <a:lnTo>
                  <a:pt x="752271" y="8199725"/>
                </a:lnTo>
                <a:lnTo>
                  <a:pt x="727463" y="8151911"/>
                </a:lnTo>
                <a:lnTo>
                  <a:pt x="703049" y="8103898"/>
                </a:lnTo>
                <a:lnTo>
                  <a:pt x="679029" y="8055688"/>
                </a:lnTo>
                <a:lnTo>
                  <a:pt x="655402" y="8007281"/>
                </a:lnTo>
                <a:lnTo>
                  <a:pt x="632169" y="7958680"/>
                </a:lnTo>
                <a:lnTo>
                  <a:pt x="609334" y="7909881"/>
                </a:lnTo>
                <a:lnTo>
                  <a:pt x="586902" y="7860906"/>
                </a:lnTo>
                <a:lnTo>
                  <a:pt x="564873" y="7811754"/>
                </a:lnTo>
                <a:lnTo>
                  <a:pt x="543247" y="7762424"/>
                </a:lnTo>
                <a:lnTo>
                  <a:pt x="522023" y="7712915"/>
                </a:lnTo>
                <a:lnTo>
                  <a:pt x="501203" y="7663227"/>
                </a:lnTo>
                <a:lnTo>
                  <a:pt x="480791" y="7613370"/>
                </a:lnTo>
                <a:lnTo>
                  <a:pt x="460789" y="7563354"/>
                </a:lnTo>
                <a:lnTo>
                  <a:pt x="441198" y="7513179"/>
                </a:lnTo>
                <a:lnTo>
                  <a:pt x="422019" y="7462844"/>
                </a:lnTo>
                <a:lnTo>
                  <a:pt x="403251" y="7412348"/>
                </a:lnTo>
                <a:lnTo>
                  <a:pt x="384895" y="7361690"/>
                </a:lnTo>
                <a:lnTo>
                  <a:pt x="366952" y="7310894"/>
                </a:lnTo>
                <a:lnTo>
                  <a:pt x="349429" y="7259958"/>
                </a:lnTo>
                <a:lnTo>
                  <a:pt x="332324" y="7208883"/>
                </a:lnTo>
                <a:lnTo>
                  <a:pt x="315637" y="7157670"/>
                </a:lnTo>
                <a:lnTo>
                  <a:pt x="299369" y="7106320"/>
                </a:lnTo>
                <a:lnTo>
                  <a:pt x="283519" y="7054832"/>
                </a:lnTo>
                <a:lnTo>
                  <a:pt x="268092" y="7003217"/>
                </a:lnTo>
                <a:lnTo>
                  <a:pt x="253089" y="6951484"/>
                </a:lnTo>
                <a:lnTo>
                  <a:pt x="238510" y="6899632"/>
                </a:lnTo>
                <a:lnTo>
                  <a:pt x="224357" y="6847662"/>
                </a:lnTo>
                <a:lnTo>
                  <a:pt x="210628" y="6795573"/>
                </a:lnTo>
                <a:lnTo>
                  <a:pt x="197325" y="6743366"/>
                </a:lnTo>
                <a:lnTo>
                  <a:pt x="184448" y="6691051"/>
                </a:lnTo>
                <a:lnTo>
                  <a:pt x="172002" y="6638640"/>
                </a:lnTo>
                <a:lnTo>
                  <a:pt x="159985" y="6586135"/>
                </a:lnTo>
                <a:lnTo>
                  <a:pt x="148399" y="6533534"/>
                </a:lnTo>
                <a:lnTo>
                  <a:pt x="137242" y="6480841"/>
                </a:lnTo>
                <a:lnTo>
                  <a:pt x="126516" y="6428054"/>
                </a:lnTo>
                <a:lnTo>
                  <a:pt x="116222" y="6375171"/>
                </a:lnTo>
                <a:lnTo>
                  <a:pt x="106362" y="6322213"/>
                </a:lnTo>
                <a:lnTo>
                  <a:pt x="96936" y="6269180"/>
                </a:lnTo>
                <a:lnTo>
                  <a:pt x="87945" y="6216073"/>
                </a:lnTo>
                <a:lnTo>
                  <a:pt x="79388" y="6162891"/>
                </a:lnTo>
                <a:lnTo>
                  <a:pt x="71265" y="6109634"/>
                </a:lnTo>
                <a:lnTo>
                  <a:pt x="63578" y="6056303"/>
                </a:lnTo>
                <a:lnTo>
                  <a:pt x="56329" y="6002922"/>
                </a:lnTo>
                <a:lnTo>
                  <a:pt x="49517" y="5949490"/>
                </a:lnTo>
                <a:lnTo>
                  <a:pt x="43142" y="5896005"/>
                </a:lnTo>
                <a:lnTo>
                  <a:pt x="37205" y="5842466"/>
                </a:lnTo>
                <a:lnTo>
                  <a:pt x="31705" y="5788871"/>
                </a:lnTo>
                <a:lnTo>
                  <a:pt x="26644" y="5735242"/>
                </a:lnTo>
                <a:lnTo>
                  <a:pt x="22022" y="5681575"/>
                </a:lnTo>
                <a:lnTo>
                  <a:pt x="17840" y="5627873"/>
                </a:lnTo>
                <a:lnTo>
                  <a:pt x="14097" y="5574139"/>
                </a:lnTo>
                <a:lnTo>
                  <a:pt x="10794" y="5520374"/>
                </a:lnTo>
                <a:lnTo>
                  <a:pt x="7931" y="5466580"/>
                </a:lnTo>
                <a:lnTo>
                  <a:pt x="5507" y="5412755"/>
                </a:lnTo>
                <a:lnTo>
                  <a:pt x="3524" y="5358921"/>
                </a:lnTo>
                <a:lnTo>
                  <a:pt x="1982" y="5305079"/>
                </a:lnTo>
                <a:lnTo>
                  <a:pt x="881" y="5251227"/>
                </a:lnTo>
                <a:lnTo>
                  <a:pt x="220" y="5197367"/>
                </a:lnTo>
                <a:lnTo>
                  <a:pt x="0" y="5143498"/>
                </a:lnTo>
                <a:lnTo>
                  <a:pt x="220" y="5089630"/>
                </a:lnTo>
                <a:lnTo>
                  <a:pt x="881" y="5035770"/>
                </a:lnTo>
                <a:lnTo>
                  <a:pt x="1982" y="4981918"/>
                </a:lnTo>
                <a:lnTo>
                  <a:pt x="3524" y="4928076"/>
                </a:lnTo>
                <a:lnTo>
                  <a:pt x="5507" y="4874242"/>
                </a:lnTo>
                <a:lnTo>
                  <a:pt x="7931" y="4820417"/>
                </a:lnTo>
                <a:lnTo>
                  <a:pt x="10794" y="4766623"/>
                </a:lnTo>
                <a:lnTo>
                  <a:pt x="14097" y="4712858"/>
                </a:lnTo>
                <a:lnTo>
                  <a:pt x="17840" y="4659123"/>
                </a:lnTo>
                <a:lnTo>
                  <a:pt x="22022" y="4605422"/>
                </a:lnTo>
                <a:lnTo>
                  <a:pt x="26644" y="4551755"/>
                </a:lnTo>
                <a:lnTo>
                  <a:pt x="31705" y="4498126"/>
                </a:lnTo>
                <a:lnTo>
                  <a:pt x="37205" y="4444531"/>
                </a:lnTo>
                <a:lnTo>
                  <a:pt x="43142" y="4390992"/>
                </a:lnTo>
                <a:lnTo>
                  <a:pt x="49517" y="4337507"/>
                </a:lnTo>
                <a:lnTo>
                  <a:pt x="56329" y="4284075"/>
                </a:lnTo>
                <a:lnTo>
                  <a:pt x="63578" y="4230694"/>
                </a:lnTo>
                <a:lnTo>
                  <a:pt x="71265" y="4177362"/>
                </a:lnTo>
                <a:lnTo>
                  <a:pt x="79388" y="4124106"/>
                </a:lnTo>
                <a:lnTo>
                  <a:pt x="87945" y="4070924"/>
                </a:lnTo>
                <a:lnTo>
                  <a:pt x="96936" y="4017817"/>
                </a:lnTo>
                <a:lnTo>
                  <a:pt x="106362" y="3964784"/>
                </a:lnTo>
                <a:lnTo>
                  <a:pt x="116222" y="3911826"/>
                </a:lnTo>
                <a:lnTo>
                  <a:pt x="126516" y="3858943"/>
                </a:lnTo>
                <a:lnTo>
                  <a:pt x="137242" y="3806156"/>
                </a:lnTo>
                <a:lnTo>
                  <a:pt x="148399" y="3753462"/>
                </a:lnTo>
                <a:lnTo>
                  <a:pt x="159985" y="3700862"/>
                </a:lnTo>
                <a:lnTo>
                  <a:pt x="172002" y="3648356"/>
                </a:lnTo>
                <a:lnTo>
                  <a:pt x="184448" y="3595946"/>
                </a:lnTo>
                <a:lnTo>
                  <a:pt x="197325" y="3543631"/>
                </a:lnTo>
                <a:lnTo>
                  <a:pt x="210628" y="3491424"/>
                </a:lnTo>
                <a:lnTo>
                  <a:pt x="224357" y="3439335"/>
                </a:lnTo>
                <a:lnTo>
                  <a:pt x="238510" y="3387364"/>
                </a:lnTo>
                <a:lnTo>
                  <a:pt x="253089" y="3335513"/>
                </a:lnTo>
                <a:lnTo>
                  <a:pt x="268092" y="3283779"/>
                </a:lnTo>
                <a:lnTo>
                  <a:pt x="283519" y="3232165"/>
                </a:lnTo>
                <a:lnTo>
                  <a:pt x="299369" y="3180677"/>
                </a:lnTo>
                <a:lnTo>
                  <a:pt x="315637" y="3129327"/>
                </a:lnTo>
                <a:lnTo>
                  <a:pt x="332324" y="3078114"/>
                </a:lnTo>
                <a:lnTo>
                  <a:pt x="349429" y="3027039"/>
                </a:lnTo>
                <a:lnTo>
                  <a:pt x="366952" y="2976103"/>
                </a:lnTo>
                <a:lnTo>
                  <a:pt x="384895" y="2925307"/>
                </a:lnTo>
                <a:lnTo>
                  <a:pt x="403251" y="2874649"/>
                </a:lnTo>
                <a:lnTo>
                  <a:pt x="422019" y="2824153"/>
                </a:lnTo>
                <a:lnTo>
                  <a:pt x="441198" y="2773817"/>
                </a:lnTo>
                <a:lnTo>
                  <a:pt x="460789" y="2723642"/>
                </a:lnTo>
                <a:lnTo>
                  <a:pt x="480791" y="2673627"/>
                </a:lnTo>
                <a:lnTo>
                  <a:pt x="501203" y="2623770"/>
                </a:lnTo>
                <a:lnTo>
                  <a:pt x="522023" y="2574082"/>
                </a:lnTo>
                <a:lnTo>
                  <a:pt x="543247" y="2524573"/>
                </a:lnTo>
                <a:lnTo>
                  <a:pt x="564873" y="2475243"/>
                </a:lnTo>
                <a:lnTo>
                  <a:pt x="586902" y="2426091"/>
                </a:lnTo>
                <a:lnTo>
                  <a:pt x="609334" y="2377115"/>
                </a:lnTo>
                <a:lnTo>
                  <a:pt x="632169" y="2328316"/>
                </a:lnTo>
                <a:lnTo>
                  <a:pt x="655402" y="2279715"/>
                </a:lnTo>
                <a:lnTo>
                  <a:pt x="679029" y="2231309"/>
                </a:lnTo>
                <a:lnTo>
                  <a:pt x="703049" y="2183098"/>
                </a:lnTo>
                <a:lnTo>
                  <a:pt x="727463" y="2135086"/>
                </a:lnTo>
                <a:lnTo>
                  <a:pt x="752271" y="2087272"/>
                </a:lnTo>
                <a:lnTo>
                  <a:pt x="777473" y="2039658"/>
                </a:lnTo>
                <a:lnTo>
                  <a:pt x="803063" y="1992244"/>
                </a:lnTo>
                <a:lnTo>
                  <a:pt x="829036" y="1945051"/>
                </a:lnTo>
                <a:lnTo>
                  <a:pt x="855393" y="1898078"/>
                </a:lnTo>
                <a:lnTo>
                  <a:pt x="882133" y="1851322"/>
                </a:lnTo>
                <a:lnTo>
                  <a:pt x="909257" y="1804781"/>
                </a:lnTo>
                <a:lnTo>
                  <a:pt x="936764" y="1758453"/>
                </a:lnTo>
                <a:lnTo>
                  <a:pt x="964650" y="1712361"/>
                </a:lnTo>
                <a:lnTo>
                  <a:pt x="992909" y="1666502"/>
                </a:lnTo>
                <a:lnTo>
                  <a:pt x="1021539" y="1620877"/>
                </a:lnTo>
                <a:lnTo>
                  <a:pt x="1050542" y="1575486"/>
                </a:lnTo>
                <a:lnTo>
                  <a:pt x="1079917" y="1530332"/>
                </a:lnTo>
                <a:lnTo>
                  <a:pt x="1109664" y="1485413"/>
                </a:lnTo>
                <a:lnTo>
                  <a:pt x="1139778" y="1440750"/>
                </a:lnTo>
                <a:lnTo>
                  <a:pt x="1170252" y="1396334"/>
                </a:lnTo>
                <a:lnTo>
                  <a:pt x="1201086" y="1352169"/>
                </a:lnTo>
                <a:lnTo>
                  <a:pt x="1232280" y="1308256"/>
                </a:lnTo>
                <a:lnTo>
                  <a:pt x="1263835" y="1264598"/>
                </a:lnTo>
                <a:lnTo>
                  <a:pt x="1295751" y="1221196"/>
                </a:lnTo>
                <a:lnTo>
                  <a:pt x="1328021" y="1178058"/>
                </a:lnTo>
                <a:lnTo>
                  <a:pt x="1360638" y="1135190"/>
                </a:lnTo>
                <a:lnTo>
                  <a:pt x="1393602" y="1092592"/>
                </a:lnTo>
                <a:lnTo>
                  <a:pt x="1426914" y="1050266"/>
                </a:lnTo>
                <a:lnTo>
                  <a:pt x="1460573" y="1008211"/>
                </a:lnTo>
                <a:lnTo>
                  <a:pt x="1494580" y="966426"/>
                </a:lnTo>
                <a:lnTo>
                  <a:pt x="1528928" y="924920"/>
                </a:lnTo>
                <a:lnTo>
                  <a:pt x="1563609" y="883703"/>
                </a:lnTo>
                <a:lnTo>
                  <a:pt x="1598624" y="842774"/>
                </a:lnTo>
                <a:lnTo>
                  <a:pt x="1633972" y="802133"/>
                </a:lnTo>
                <a:lnTo>
                  <a:pt x="1669654" y="761780"/>
                </a:lnTo>
                <a:lnTo>
                  <a:pt x="1705670" y="721715"/>
                </a:lnTo>
                <a:lnTo>
                  <a:pt x="1742012" y="681944"/>
                </a:lnTo>
                <a:lnTo>
                  <a:pt x="1778673" y="642478"/>
                </a:lnTo>
                <a:lnTo>
                  <a:pt x="1815654" y="603316"/>
                </a:lnTo>
                <a:lnTo>
                  <a:pt x="1852955" y="564458"/>
                </a:lnTo>
                <a:lnTo>
                  <a:pt x="1890574" y="525904"/>
                </a:lnTo>
                <a:lnTo>
                  <a:pt x="1928513" y="487654"/>
                </a:lnTo>
                <a:lnTo>
                  <a:pt x="1966764" y="449715"/>
                </a:lnTo>
                <a:lnTo>
                  <a:pt x="2005318" y="412095"/>
                </a:lnTo>
                <a:lnTo>
                  <a:pt x="2044176" y="374795"/>
                </a:lnTo>
                <a:lnTo>
                  <a:pt x="2083338" y="337814"/>
                </a:lnTo>
                <a:lnTo>
                  <a:pt x="2122804" y="301152"/>
                </a:lnTo>
                <a:lnTo>
                  <a:pt x="2162574" y="264810"/>
                </a:lnTo>
                <a:lnTo>
                  <a:pt x="2202639" y="228795"/>
                </a:lnTo>
                <a:lnTo>
                  <a:pt x="2242992" y="193113"/>
                </a:lnTo>
                <a:lnTo>
                  <a:pt x="2283633" y="157764"/>
                </a:lnTo>
                <a:lnTo>
                  <a:pt x="2324562" y="122750"/>
                </a:lnTo>
                <a:lnTo>
                  <a:pt x="2365780" y="88068"/>
                </a:lnTo>
                <a:lnTo>
                  <a:pt x="2407286" y="53721"/>
                </a:lnTo>
                <a:lnTo>
                  <a:pt x="2449070" y="19714"/>
                </a:lnTo>
                <a:lnTo>
                  <a:pt x="2473702" y="0"/>
                </a:lnTo>
                <a:lnTo>
                  <a:pt x="8901532" y="0"/>
                </a:lnTo>
                <a:lnTo>
                  <a:pt x="8901532" y="10287000"/>
                </a:lnTo>
                <a:close/>
              </a:path>
            </a:pathLst>
          </a:custGeom>
          <a:solidFill>
            <a:srgbClr val="48A8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6097450" y="1599588"/>
            <a:ext cx="3940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id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K Nearest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id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Neighbor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595350" y="337975"/>
            <a:ext cx="42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460113" y="3653638"/>
            <a:ext cx="5151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d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K = 3, then we only check 3 of its nearest neighbors.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d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Since out of 3 of its nearest neighbors, 2 are Class A, and 1 is Class B, we will predict it to be Class A.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038" y="1336250"/>
            <a:ext cx="4519650" cy="213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/>
          <p:nvPr/>
        </p:nvSpPr>
        <p:spPr>
          <a:xfrm>
            <a:off x="5757761" y="0"/>
            <a:ext cx="3716612" cy="5143500"/>
          </a:xfrm>
          <a:custGeom>
            <a:rect b="b" l="l" r="r" t="t"/>
            <a:pathLst>
              <a:path extrusionOk="0" h="10287000" w="8902065">
                <a:moveTo>
                  <a:pt x="8901532" y="10287000"/>
                </a:moveTo>
                <a:lnTo>
                  <a:pt x="2473700" y="10287000"/>
                </a:lnTo>
                <a:lnTo>
                  <a:pt x="2449070" y="10267288"/>
                </a:lnTo>
                <a:lnTo>
                  <a:pt x="2407286" y="10233286"/>
                </a:lnTo>
                <a:lnTo>
                  <a:pt x="2365780" y="10198934"/>
                </a:lnTo>
                <a:lnTo>
                  <a:pt x="2324562" y="10164248"/>
                </a:lnTo>
                <a:lnTo>
                  <a:pt x="2283633" y="10129231"/>
                </a:lnTo>
                <a:lnTo>
                  <a:pt x="2242992" y="10093881"/>
                </a:lnTo>
                <a:lnTo>
                  <a:pt x="2202639" y="10058202"/>
                </a:lnTo>
                <a:lnTo>
                  <a:pt x="2162574" y="10022192"/>
                </a:lnTo>
                <a:lnTo>
                  <a:pt x="2122804" y="9985846"/>
                </a:lnTo>
                <a:lnTo>
                  <a:pt x="2083338" y="9949184"/>
                </a:lnTo>
                <a:lnTo>
                  <a:pt x="2044176" y="9912203"/>
                </a:lnTo>
                <a:lnTo>
                  <a:pt x="2005318" y="9874905"/>
                </a:lnTo>
                <a:lnTo>
                  <a:pt x="1966764" y="9837288"/>
                </a:lnTo>
                <a:lnTo>
                  <a:pt x="1928513" y="9799351"/>
                </a:lnTo>
                <a:lnTo>
                  <a:pt x="1890574" y="9761100"/>
                </a:lnTo>
                <a:lnTo>
                  <a:pt x="1852955" y="9722544"/>
                </a:lnTo>
                <a:lnTo>
                  <a:pt x="1815654" y="9683683"/>
                </a:lnTo>
                <a:lnTo>
                  <a:pt x="1778673" y="9644520"/>
                </a:lnTo>
                <a:lnTo>
                  <a:pt x="1742012" y="9605055"/>
                </a:lnTo>
                <a:lnTo>
                  <a:pt x="1705670" y="9565290"/>
                </a:lnTo>
                <a:lnTo>
                  <a:pt x="1669654" y="9525220"/>
                </a:lnTo>
                <a:lnTo>
                  <a:pt x="1633972" y="9484863"/>
                </a:lnTo>
                <a:lnTo>
                  <a:pt x="1598624" y="9444220"/>
                </a:lnTo>
                <a:lnTo>
                  <a:pt x="1563609" y="9403290"/>
                </a:lnTo>
                <a:lnTo>
                  <a:pt x="1528928" y="9362071"/>
                </a:lnTo>
                <a:lnTo>
                  <a:pt x="1494580" y="9320563"/>
                </a:lnTo>
                <a:lnTo>
                  <a:pt x="1460573" y="9278785"/>
                </a:lnTo>
                <a:lnTo>
                  <a:pt x="1426914" y="9236733"/>
                </a:lnTo>
                <a:lnTo>
                  <a:pt x="1393602" y="9194406"/>
                </a:lnTo>
                <a:lnTo>
                  <a:pt x="1360638" y="9151808"/>
                </a:lnTo>
                <a:lnTo>
                  <a:pt x="1328021" y="9108939"/>
                </a:lnTo>
                <a:lnTo>
                  <a:pt x="1295751" y="9065801"/>
                </a:lnTo>
                <a:lnTo>
                  <a:pt x="1263835" y="9022399"/>
                </a:lnTo>
                <a:lnTo>
                  <a:pt x="1232280" y="8978741"/>
                </a:lnTo>
                <a:lnTo>
                  <a:pt x="1201086" y="8934828"/>
                </a:lnTo>
                <a:lnTo>
                  <a:pt x="1170252" y="8890663"/>
                </a:lnTo>
                <a:lnTo>
                  <a:pt x="1139778" y="8846247"/>
                </a:lnTo>
                <a:lnTo>
                  <a:pt x="1109664" y="8801584"/>
                </a:lnTo>
                <a:lnTo>
                  <a:pt x="1079917" y="8756665"/>
                </a:lnTo>
                <a:lnTo>
                  <a:pt x="1050542" y="8711510"/>
                </a:lnTo>
                <a:lnTo>
                  <a:pt x="1021539" y="8666120"/>
                </a:lnTo>
                <a:lnTo>
                  <a:pt x="992909" y="8620495"/>
                </a:lnTo>
                <a:lnTo>
                  <a:pt x="964650" y="8574636"/>
                </a:lnTo>
                <a:lnTo>
                  <a:pt x="936764" y="8528543"/>
                </a:lnTo>
                <a:lnTo>
                  <a:pt x="909257" y="8482214"/>
                </a:lnTo>
                <a:lnTo>
                  <a:pt x="882133" y="8435669"/>
                </a:lnTo>
                <a:lnTo>
                  <a:pt x="855393" y="8388909"/>
                </a:lnTo>
                <a:lnTo>
                  <a:pt x="829036" y="8341934"/>
                </a:lnTo>
                <a:lnTo>
                  <a:pt x="803063" y="8294744"/>
                </a:lnTo>
                <a:lnTo>
                  <a:pt x="777473" y="8247339"/>
                </a:lnTo>
                <a:lnTo>
                  <a:pt x="752271" y="8199725"/>
                </a:lnTo>
                <a:lnTo>
                  <a:pt x="727463" y="8151911"/>
                </a:lnTo>
                <a:lnTo>
                  <a:pt x="703049" y="8103898"/>
                </a:lnTo>
                <a:lnTo>
                  <a:pt x="679029" y="8055688"/>
                </a:lnTo>
                <a:lnTo>
                  <a:pt x="655402" y="8007281"/>
                </a:lnTo>
                <a:lnTo>
                  <a:pt x="632169" y="7958680"/>
                </a:lnTo>
                <a:lnTo>
                  <a:pt x="609334" y="7909881"/>
                </a:lnTo>
                <a:lnTo>
                  <a:pt x="586902" y="7860906"/>
                </a:lnTo>
                <a:lnTo>
                  <a:pt x="564873" y="7811754"/>
                </a:lnTo>
                <a:lnTo>
                  <a:pt x="543247" y="7762424"/>
                </a:lnTo>
                <a:lnTo>
                  <a:pt x="522023" y="7712915"/>
                </a:lnTo>
                <a:lnTo>
                  <a:pt x="501203" y="7663227"/>
                </a:lnTo>
                <a:lnTo>
                  <a:pt x="480791" y="7613370"/>
                </a:lnTo>
                <a:lnTo>
                  <a:pt x="460789" y="7563354"/>
                </a:lnTo>
                <a:lnTo>
                  <a:pt x="441198" y="7513179"/>
                </a:lnTo>
                <a:lnTo>
                  <a:pt x="422019" y="7462844"/>
                </a:lnTo>
                <a:lnTo>
                  <a:pt x="403251" y="7412348"/>
                </a:lnTo>
                <a:lnTo>
                  <a:pt x="384895" y="7361690"/>
                </a:lnTo>
                <a:lnTo>
                  <a:pt x="366952" y="7310894"/>
                </a:lnTo>
                <a:lnTo>
                  <a:pt x="349429" y="7259958"/>
                </a:lnTo>
                <a:lnTo>
                  <a:pt x="332324" y="7208883"/>
                </a:lnTo>
                <a:lnTo>
                  <a:pt x="315637" y="7157670"/>
                </a:lnTo>
                <a:lnTo>
                  <a:pt x="299369" y="7106320"/>
                </a:lnTo>
                <a:lnTo>
                  <a:pt x="283519" y="7054832"/>
                </a:lnTo>
                <a:lnTo>
                  <a:pt x="268092" y="7003217"/>
                </a:lnTo>
                <a:lnTo>
                  <a:pt x="253089" y="6951484"/>
                </a:lnTo>
                <a:lnTo>
                  <a:pt x="238510" y="6899632"/>
                </a:lnTo>
                <a:lnTo>
                  <a:pt x="224357" y="6847662"/>
                </a:lnTo>
                <a:lnTo>
                  <a:pt x="210628" y="6795573"/>
                </a:lnTo>
                <a:lnTo>
                  <a:pt x="197325" y="6743366"/>
                </a:lnTo>
                <a:lnTo>
                  <a:pt x="184448" y="6691051"/>
                </a:lnTo>
                <a:lnTo>
                  <a:pt x="172002" y="6638640"/>
                </a:lnTo>
                <a:lnTo>
                  <a:pt x="159985" y="6586135"/>
                </a:lnTo>
                <a:lnTo>
                  <a:pt x="148399" y="6533534"/>
                </a:lnTo>
                <a:lnTo>
                  <a:pt x="137242" y="6480841"/>
                </a:lnTo>
                <a:lnTo>
                  <a:pt x="126516" y="6428054"/>
                </a:lnTo>
                <a:lnTo>
                  <a:pt x="116222" y="6375171"/>
                </a:lnTo>
                <a:lnTo>
                  <a:pt x="106362" y="6322213"/>
                </a:lnTo>
                <a:lnTo>
                  <a:pt x="96936" y="6269180"/>
                </a:lnTo>
                <a:lnTo>
                  <a:pt x="87945" y="6216073"/>
                </a:lnTo>
                <a:lnTo>
                  <a:pt x="79388" y="6162891"/>
                </a:lnTo>
                <a:lnTo>
                  <a:pt x="71265" y="6109634"/>
                </a:lnTo>
                <a:lnTo>
                  <a:pt x="63578" y="6056303"/>
                </a:lnTo>
                <a:lnTo>
                  <a:pt x="56329" y="6002922"/>
                </a:lnTo>
                <a:lnTo>
                  <a:pt x="49517" y="5949490"/>
                </a:lnTo>
                <a:lnTo>
                  <a:pt x="43142" y="5896005"/>
                </a:lnTo>
                <a:lnTo>
                  <a:pt x="37205" y="5842466"/>
                </a:lnTo>
                <a:lnTo>
                  <a:pt x="31705" y="5788871"/>
                </a:lnTo>
                <a:lnTo>
                  <a:pt x="26644" y="5735242"/>
                </a:lnTo>
                <a:lnTo>
                  <a:pt x="22022" y="5681575"/>
                </a:lnTo>
                <a:lnTo>
                  <a:pt x="17840" y="5627873"/>
                </a:lnTo>
                <a:lnTo>
                  <a:pt x="14097" y="5574139"/>
                </a:lnTo>
                <a:lnTo>
                  <a:pt x="10794" y="5520374"/>
                </a:lnTo>
                <a:lnTo>
                  <a:pt x="7931" y="5466580"/>
                </a:lnTo>
                <a:lnTo>
                  <a:pt x="5507" y="5412755"/>
                </a:lnTo>
                <a:lnTo>
                  <a:pt x="3524" y="5358921"/>
                </a:lnTo>
                <a:lnTo>
                  <a:pt x="1982" y="5305079"/>
                </a:lnTo>
                <a:lnTo>
                  <a:pt x="881" y="5251227"/>
                </a:lnTo>
                <a:lnTo>
                  <a:pt x="220" y="5197367"/>
                </a:lnTo>
                <a:lnTo>
                  <a:pt x="0" y="5143498"/>
                </a:lnTo>
                <a:lnTo>
                  <a:pt x="220" y="5089630"/>
                </a:lnTo>
                <a:lnTo>
                  <a:pt x="881" y="5035770"/>
                </a:lnTo>
                <a:lnTo>
                  <a:pt x="1982" y="4981918"/>
                </a:lnTo>
                <a:lnTo>
                  <a:pt x="3524" y="4928076"/>
                </a:lnTo>
                <a:lnTo>
                  <a:pt x="5507" y="4874242"/>
                </a:lnTo>
                <a:lnTo>
                  <a:pt x="7931" y="4820417"/>
                </a:lnTo>
                <a:lnTo>
                  <a:pt x="10794" y="4766623"/>
                </a:lnTo>
                <a:lnTo>
                  <a:pt x="14097" y="4712858"/>
                </a:lnTo>
                <a:lnTo>
                  <a:pt x="17840" y="4659123"/>
                </a:lnTo>
                <a:lnTo>
                  <a:pt x="22022" y="4605422"/>
                </a:lnTo>
                <a:lnTo>
                  <a:pt x="26644" y="4551755"/>
                </a:lnTo>
                <a:lnTo>
                  <a:pt x="31705" y="4498126"/>
                </a:lnTo>
                <a:lnTo>
                  <a:pt x="37205" y="4444531"/>
                </a:lnTo>
                <a:lnTo>
                  <a:pt x="43142" y="4390992"/>
                </a:lnTo>
                <a:lnTo>
                  <a:pt x="49517" y="4337507"/>
                </a:lnTo>
                <a:lnTo>
                  <a:pt x="56329" y="4284075"/>
                </a:lnTo>
                <a:lnTo>
                  <a:pt x="63578" y="4230694"/>
                </a:lnTo>
                <a:lnTo>
                  <a:pt x="71265" y="4177362"/>
                </a:lnTo>
                <a:lnTo>
                  <a:pt x="79388" y="4124106"/>
                </a:lnTo>
                <a:lnTo>
                  <a:pt x="87945" y="4070924"/>
                </a:lnTo>
                <a:lnTo>
                  <a:pt x="96936" y="4017817"/>
                </a:lnTo>
                <a:lnTo>
                  <a:pt x="106362" y="3964784"/>
                </a:lnTo>
                <a:lnTo>
                  <a:pt x="116222" y="3911826"/>
                </a:lnTo>
                <a:lnTo>
                  <a:pt x="126516" y="3858943"/>
                </a:lnTo>
                <a:lnTo>
                  <a:pt x="137242" y="3806156"/>
                </a:lnTo>
                <a:lnTo>
                  <a:pt x="148399" y="3753462"/>
                </a:lnTo>
                <a:lnTo>
                  <a:pt x="159985" y="3700862"/>
                </a:lnTo>
                <a:lnTo>
                  <a:pt x="172002" y="3648356"/>
                </a:lnTo>
                <a:lnTo>
                  <a:pt x="184448" y="3595946"/>
                </a:lnTo>
                <a:lnTo>
                  <a:pt x="197325" y="3543631"/>
                </a:lnTo>
                <a:lnTo>
                  <a:pt x="210628" y="3491424"/>
                </a:lnTo>
                <a:lnTo>
                  <a:pt x="224357" y="3439335"/>
                </a:lnTo>
                <a:lnTo>
                  <a:pt x="238510" y="3387364"/>
                </a:lnTo>
                <a:lnTo>
                  <a:pt x="253089" y="3335513"/>
                </a:lnTo>
                <a:lnTo>
                  <a:pt x="268092" y="3283779"/>
                </a:lnTo>
                <a:lnTo>
                  <a:pt x="283519" y="3232165"/>
                </a:lnTo>
                <a:lnTo>
                  <a:pt x="299369" y="3180677"/>
                </a:lnTo>
                <a:lnTo>
                  <a:pt x="315637" y="3129327"/>
                </a:lnTo>
                <a:lnTo>
                  <a:pt x="332324" y="3078114"/>
                </a:lnTo>
                <a:lnTo>
                  <a:pt x="349429" y="3027039"/>
                </a:lnTo>
                <a:lnTo>
                  <a:pt x="366952" y="2976103"/>
                </a:lnTo>
                <a:lnTo>
                  <a:pt x="384895" y="2925307"/>
                </a:lnTo>
                <a:lnTo>
                  <a:pt x="403251" y="2874649"/>
                </a:lnTo>
                <a:lnTo>
                  <a:pt x="422019" y="2824153"/>
                </a:lnTo>
                <a:lnTo>
                  <a:pt x="441198" y="2773817"/>
                </a:lnTo>
                <a:lnTo>
                  <a:pt x="460789" y="2723642"/>
                </a:lnTo>
                <a:lnTo>
                  <a:pt x="480791" y="2673627"/>
                </a:lnTo>
                <a:lnTo>
                  <a:pt x="501203" y="2623770"/>
                </a:lnTo>
                <a:lnTo>
                  <a:pt x="522023" y="2574082"/>
                </a:lnTo>
                <a:lnTo>
                  <a:pt x="543247" y="2524573"/>
                </a:lnTo>
                <a:lnTo>
                  <a:pt x="564873" y="2475243"/>
                </a:lnTo>
                <a:lnTo>
                  <a:pt x="586902" y="2426091"/>
                </a:lnTo>
                <a:lnTo>
                  <a:pt x="609334" y="2377115"/>
                </a:lnTo>
                <a:lnTo>
                  <a:pt x="632169" y="2328316"/>
                </a:lnTo>
                <a:lnTo>
                  <a:pt x="655402" y="2279715"/>
                </a:lnTo>
                <a:lnTo>
                  <a:pt x="679029" y="2231309"/>
                </a:lnTo>
                <a:lnTo>
                  <a:pt x="703049" y="2183098"/>
                </a:lnTo>
                <a:lnTo>
                  <a:pt x="727463" y="2135086"/>
                </a:lnTo>
                <a:lnTo>
                  <a:pt x="752271" y="2087272"/>
                </a:lnTo>
                <a:lnTo>
                  <a:pt x="777473" y="2039658"/>
                </a:lnTo>
                <a:lnTo>
                  <a:pt x="803063" y="1992244"/>
                </a:lnTo>
                <a:lnTo>
                  <a:pt x="829036" y="1945051"/>
                </a:lnTo>
                <a:lnTo>
                  <a:pt x="855393" y="1898078"/>
                </a:lnTo>
                <a:lnTo>
                  <a:pt x="882133" y="1851322"/>
                </a:lnTo>
                <a:lnTo>
                  <a:pt x="909257" y="1804781"/>
                </a:lnTo>
                <a:lnTo>
                  <a:pt x="936764" y="1758453"/>
                </a:lnTo>
                <a:lnTo>
                  <a:pt x="964650" y="1712361"/>
                </a:lnTo>
                <a:lnTo>
                  <a:pt x="992909" y="1666502"/>
                </a:lnTo>
                <a:lnTo>
                  <a:pt x="1021539" y="1620877"/>
                </a:lnTo>
                <a:lnTo>
                  <a:pt x="1050542" y="1575486"/>
                </a:lnTo>
                <a:lnTo>
                  <a:pt x="1079917" y="1530332"/>
                </a:lnTo>
                <a:lnTo>
                  <a:pt x="1109664" y="1485413"/>
                </a:lnTo>
                <a:lnTo>
                  <a:pt x="1139778" y="1440750"/>
                </a:lnTo>
                <a:lnTo>
                  <a:pt x="1170252" y="1396334"/>
                </a:lnTo>
                <a:lnTo>
                  <a:pt x="1201086" y="1352169"/>
                </a:lnTo>
                <a:lnTo>
                  <a:pt x="1232280" y="1308256"/>
                </a:lnTo>
                <a:lnTo>
                  <a:pt x="1263835" y="1264598"/>
                </a:lnTo>
                <a:lnTo>
                  <a:pt x="1295751" y="1221196"/>
                </a:lnTo>
                <a:lnTo>
                  <a:pt x="1328021" y="1178058"/>
                </a:lnTo>
                <a:lnTo>
                  <a:pt x="1360638" y="1135190"/>
                </a:lnTo>
                <a:lnTo>
                  <a:pt x="1393602" y="1092592"/>
                </a:lnTo>
                <a:lnTo>
                  <a:pt x="1426914" y="1050266"/>
                </a:lnTo>
                <a:lnTo>
                  <a:pt x="1460573" y="1008211"/>
                </a:lnTo>
                <a:lnTo>
                  <a:pt x="1494580" y="966426"/>
                </a:lnTo>
                <a:lnTo>
                  <a:pt x="1528928" y="924920"/>
                </a:lnTo>
                <a:lnTo>
                  <a:pt x="1563609" y="883703"/>
                </a:lnTo>
                <a:lnTo>
                  <a:pt x="1598624" y="842774"/>
                </a:lnTo>
                <a:lnTo>
                  <a:pt x="1633972" y="802133"/>
                </a:lnTo>
                <a:lnTo>
                  <a:pt x="1669654" y="761780"/>
                </a:lnTo>
                <a:lnTo>
                  <a:pt x="1705670" y="721715"/>
                </a:lnTo>
                <a:lnTo>
                  <a:pt x="1742012" y="681944"/>
                </a:lnTo>
                <a:lnTo>
                  <a:pt x="1778673" y="642478"/>
                </a:lnTo>
                <a:lnTo>
                  <a:pt x="1815654" y="603316"/>
                </a:lnTo>
                <a:lnTo>
                  <a:pt x="1852955" y="564458"/>
                </a:lnTo>
                <a:lnTo>
                  <a:pt x="1890574" y="525904"/>
                </a:lnTo>
                <a:lnTo>
                  <a:pt x="1928513" y="487654"/>
                </a:lnTo>
                <a:lnTo>
                  <a:pt x="1966764" y="449715"/>
                </a:lnTo>
                <a:lnTo>
                  <a:pt x="2005318" y="412095"/>
                </a:lnTo>
                <a:lnTo>
                  <a:pt x="2044176" y="374795"/>
                </a:lnTo>
                <a:lnTo>
                  <a:pt x="2083338" y="337814"/>
                </a:lnTo>
                <a:lnTo>
                  <a:pt x="2122804" y="301152"/>
                </a:lnTo>
                <a:lnTo>
                  <a:pt x="2162574" y="264810"/>
                </a:lnTo>
                <a:lnTo>
                  <a:pt x="2202639" y="228795"/>
                </a:lnTo>
                <a:lnTo>
                  <a:pt x="2242992" y="193113"/>
                </a:lnTo>
                <a:lnTo>
                  <a:pt x="2283633" y="157764"/>
                </a:lnTo>
                <a:lnTo>
                  <a:pt x="2324562" y="122750"/>
                </a:lnTo>
                <a:lnTo>
                  <a:pt x="2365780" y="88068"/>
                </a:lnTo>
                <a:lnTo>
                  <a:pt x="2407286" y="53721"/>
                </a:lnTo>
                <a:lnTo>
                  <a:pt x="2449070" y="19714"/>
                </a:lnTo>
                <a:lnTo>
                  <a:pt x="2473702" y="0"/>
                </a:lnTo>
                <a:lnTo>
                  <a:pt x="8901532" y="0"/>
                </a:lnTo>
                <a:lnTo>
                  <a:pt x="8901532" y="10287000"/>
                </a:lnTo>
                <a:close/>
              </a:path>
            </a:pathLst>
          </a:custGeom>
          <a:solidFill>
            <a:srgbClr val="48A8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1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6097450" y="1599588"/>
            <a:ext cx="3940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id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K Nearest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id" sz="50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Neighbor</a:t>
            </a:r>
            <a:endParaRPr b="1" i="0" sz="50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595350" y="337975"/>
            <a:ext cx="42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460113" y="3653638"/>
            <a:ext cx="5151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d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K = 7, then we only check 7 of its nearest neighbors.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d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Now the situation changes, 4 Class B vs 3 Class A.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id" sz="15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Then in this case, the circle belongs to Class B</a:t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650" y="903188"/>
            <a:ext cx="4571450" cy="216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KNN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75" y="1299675"/>
            <a:ext cx="6052375" cy="271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2"/>
          <p:cNvCxnSpPr/>
          <p:nvPr/>
        </p:nvCxnSpPr>
        <p:spPr>
          <a:xfrm>
            <a:off x="4278850" y="2760963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4" name="Google Shape;324;p42"/>
          <p:cNvSpPr txBox="1"/>
          <p:nvPr/>
        </p:nvSpPr>
        <p:spPr>
          <a:xfrm>
            <a:off x="5094275" y="2557075"/>
            <a:ext cx="33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tested number of considered neighbors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25" name="Google Shape;325;p42"/>
          <p:cNvCxnSpPr/>
          <p:nvPr/>
        </p:nvCxnSpPr>
        <p:spPr>
          <a:xfrm>
            <a:off x="5650450" y="3691044"/>
            <a:ext cx="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6" name="Google Shape;326;p42"/>
          <p:cNvSpPr txBox="1"/>
          <p:nvPr/>
        </p:nvSpPr>
        <p:spPr>
          <a:xfrm>
            <a:off x="4588475" y="3930194"/>
            <a:ext cx="218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Evaluation metric used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(Note: can be adjusted based on condition)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KNN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2" name="Google Shape;332;p4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4" name="Google Shape;334;p43"/>
          <p:cNvCxnSpPr/>
          <p:nvPr/>
        </p:nvCxnSpPr>
        <p:spPr>
          <a:xfrm>
            <a:off x="5081273" y="4180402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5" name="Google Shape;335;p43"/>
          <p:cNvSpPr txBox="1"/>
          <p:nvPr/>
        </p:nvSpPr>
        <p:spPr>
          <a:xfrm>
            <a:off x="5896698" y="3976521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Best model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6" name="Google Shape;33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37" y="1417526"/>
            <a:ext cx="559117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3"/>
          <p:cNvPicPr preferRelativeResize="0"/>
          <p:nvPr/>
        </p:nvPicPr>
        <p:blipFill rotWithShape="1">
          <a:blip r:embed="rId5">
            <a:alphaModFix/>
          </a:blip>
          <a:srcRect b="0" l="0" r="0" t="26621"/>
          <a:stretch/>
        </p:blipFill>
        <p:spPr>
          <a:xfrm>
            <a:off x="437672" y="2389075"/>
            <a:ext cx="4936403" cy="2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KNN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Evaluating the best model obtained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5" name="Google Shape;34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37" y="1563300"/>
            <a:ext cx="5992400" cy="33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/>
          <p:nvPr/>
        </p:nvSpPr>
        <p:spPr>
          <a:xfrm>
            <a:off x="1082450" y="3219500"/>
            <a:ext cx="5992500" cy="69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5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55" name="Google Shape;35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47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366" name="Google Shape;366;p47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7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47"/>
          <p:cNvSpPr txBox="1"/>
          <p:nvPr/>
        </p:nvSpPr>
        <p:spPr>
          <a:xfrm>
            <a:off x="139775" y="2092150"/>
            <a:ext cx="40917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Recall: K Means algorithm is a unsupervised model to find K similar groups in data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The relevant metric is </a:t>
            </a:r>
            <a:r>
              <a:rPr b="1"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Sum of Squared Error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“error” refers to the deviation/distance between a data point and its centroid.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Naturally, we can tune K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i.e. the number of clusters we want to have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47"/>
          <p:cNvSpPr txBox="1"/>
          <p:nvPr>
            <p:ph type="title"/>
          </p:nvPr>
        </p:nvSpPr>
        <p:spPr>
          <a:xfrm>
            <a:off x="508000" y="640675"/>
            <a:ext cx="6402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latin typeface="Georgia"/>
                <a:ea typeface="Georgia"/>
                <a:cs typeface="Georgia"/>
                <a:sym typeface="Georgia"/>
              </a:rPr>
              <a:t>K-Means Clustering</a:t>
            </a:r>
            <a:endParaRPr sz="3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944" y="2447124"/>
            <a:ext cx="5010350" cy="252750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 txBox="1"/>
          <p:nvPr/>
        </p:nvSpPr>
        <p:spPr>
          <a:xfrm>
            <a:off x="8107556" y="3314226"/>
            <a:ext cx="32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2" name="Google Shape;372;p47"/>
          <p:cNvSpPr txBox="1"/>
          <p:nvPr/>
        </p:nvSpPr>
        <p:spPr>
          <a:xfrm>
            <a:off x="7359030" y="4000026"/>
            <a:ext cx="32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3" name="Google Shape;373;p47"/>
          <p:cNvSpPr txBox="1"/>
          <p:nvPr/>
        </p:nvSpPr>
        <p:spPr>
          <a:xfrm>
            <a:off x="8347423" y="4212944"/>
            <a:ext cx="32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K-Means Algorithm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-91850" y="1302575"/>
            <a:ext cx="4232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NO, we won’t use GridSearchCV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Instead, we will use the </a:t>
            </a:r>
            <a:r>
              <a:rPr b="1" lang="id">
                <a:latin typeface="Trebuchet MS"/>
                <a:ea typeface="Trebuchet MS"/>
                <a:cs typeface="Trebuchet MS"/>
                <a:sym typeface="Trebuchet MS"/>
              </a:rPr>
              <a:t>Elbow Method</a:t>
            </a:r>
            <a:br>
              <a:rPr b="1" lang="id">
                <a:latin typeface="Trebuchet MS"/>
                <a:ea typeface="Trebuchet MS"/>
                <a:cs typeface="Trebuchet MS"/>
                <a:sym typeface="Trebuchet MS"/>
              </a:rPr>
            </a:b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We plot the sum of squared errors (SSE) for various K values</a:t>
            </a:r>
            <a:br>
              <a:rPr lang="id"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</a:pPr>
            <a:r>
              <a:rPr lang="id">
                <a:latin typeface="Trebuchet MS"/>
                <a:ea typeface="Trebuchet MS"/>
                <a:cs typeface="Trebuchet MS"/>
                <a:sym typeface="Trebuchet MS"/>
              </a:rPr>
              <a:t>Choose the K value at which the SSE decline slopes change significantly (forming an “elbow” shape)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1" name="Google Shape;38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4911" y="1147275"/>
            <a:ext cx="5229088" cy="34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37" y="1419937"/>
            <a:ext cx="3742200" cy="22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9"/>
          <p:cNvSpPr txBox="1"/>
          <p:nvPr>
            <p:ph type="title"/>
          </p:nvPr>
        </p:nvSpPr>
        <p:spPr>
          <a:xfrm>
            <a:off x="508000" y="463575"/>
            <a:ext cx="81327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K-Means Algorithm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49"/>
          <p:cNvCxnSpPr/>
          <p:nvPr/>
        </p:nvCxnSpPr>
        <p:spPr>
          <a:xfrm>
            <a:off x="3557273" y="2639926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0" name="Google Shape;390;p49"/>
          <p:cNvSpPr txBox="1"/>
          <p:nvPr/>
        </p:nvSpPr>
        <p:spPr>
          <a:xfrm>
            <a:off x="4372698" y="2436044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tested k = [1,2,3,..., 10]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91" name="Google Shape;391;p49"/>
          <p:cNvCxnSpPr/>
          <p:nvPr/>
        </p:nvCxnSpPr>
        <p:spPr>
          <a:xfrm>
            <a:off x="3191955" y="3628319"/>
            <a:ext cx="0" cy="2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2" name="Google Shape;392;p49"/>
          <p:cNvSpPr txBox="1"/>
          <p:nvPr/>
        </p:nvSpPr>
        <p:spPr>
          <a:xfrm>
            <a:off x="2188304" y="3988969"/>
            <a:ext cx="20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Sum of Squared Error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 txBox="1"/>
          <p:nvPr>
            <p:ph type="title"/>
          </p:nvPr>
        </p:nvSpPr>
        <p:spPr>
          <a:xfrm>
            <a:off x="508000" y="463575"/>
            <a:ext cx="81327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K-Means Algorithm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5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50"/>
          <p:cNvPicPr preferRelativeResize="0"/>
          <p:nvPr/>
        </p:nvPicPr>
        <p:blipFill rotWithShape="1">
          <a:blip r:embed="rId4">
            <a:alphaModFix/>
          </a:blip>
          <a:srcRect b="0" l="0" r="0" t="45313"/>
          <a:stretch/>
        </p:blipFill>
        <p:spPr>
          <a:xfrm>
            <a:off x="418988" y="1314863"/>
            <a:ext cx="3501625" cy="19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8701" y="1246326"/>
            <a:ext cx="4922703" cy="339952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0"/>
          <p:cNvSpPr/>
          <p:nvPr/>
        </p:nvSpPr>
        <p:spPr>
          <a:xfrm>
            <a:off x="4832338" y="3262762"/>
            <a:ext cx="360600" cy="360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p5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1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10" name="Google Shape;41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 txBox="1"/>
          <p:nvPr/>
        </p:nvSpPr>
        <p:spPr>
          <a:xfrm>
            <a:off x="376177" y="1727075"/>
            <a:ext cx="38232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Recall: Random Forest is a group of decision trees that predict target variable </a:t>
            </a:r>
            <a:r>
              <a:rPr b="1"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by taking majority votes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among them</a:t>
            </a:r>
            <a:b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There are several things that can be optimized: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number of trees in the “forest”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max tree depth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max number of leafs for each tree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etc 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1" name="Google Shape;421;p53"/>
          <p:cNvSpPr txBox="1"/>
          <p:nvPr>
            <p:ph type="title"/>
          </p:nvPr>
        </p:nvSpPr>
        <p:spPr>
          <a:xfrm>
            <a:off x="508000" y="640675"/>
            <a:ext cx="6402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sz="3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22" name="Google Shape;42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375" y="1161100"/>
            <a:ext cx="4938749" cy="37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82" y="1147275"/>
            <a:ext cx="5407072" cy="341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4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Random Forest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9" name="Google Shape;429;p5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54"/>
          <p:cNvCxnSpPr/>
          <p:nvPr/>
        </p:nvCxnSpPr>
        <p:spPr>
          <a:xfrm>
            <a:off x="4422532" y="2734809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1" name="Google Shape;431;p54"/>
          <p:cNvSpPr txBox="1"/>
          <p:nvPr/>
        </p:nvSpPr>
        <p:spPr>
          <a:xfrm>
            <a:off x="5237958" y="2530922"/>
            <a:ext cx="33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Hyperparam 1: number of trees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2" name="Google Shape;432;p54"/>
          <p:cNvSpPr txBox="1"/>
          <p:nvPr/>
        </p:nvSpPr>
        <p:spPr>
          <a:xfrm>
            <a:off x="6713357" y="3930194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Evaluation metric used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33" name="Google Shape;433;p54"/>
          <p:cNvCxnSpPr/>
          <p:nvPr/>
        </p:nvCxnSpPr>
        <p:spPr>
          <a:xfrm>
            <a:off x="4422532" y="2972127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4" name="Google Shape;434;p54"/>
          <p:cNvSpPr txBox="1"/>
          <p:nvPr/>
        </p:nvSpPr>
        <p:spPr>
          <a:xfrm>
            <a:off x="5237958" y="2768239"/>
            <a:ext cx="33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Hyperparam 2: max tree depth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35" name="Google Shape;435;p54"/>
          <p:cNvCxnSpPr/>
          <p:nvPr/>
        </p:nvCxnSpPr>
        <p:spPr>
          <a:xfrm>
            <a:off x="5787675" y="4132563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Random Forest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3" name="Google Shape;443;p55"/>
          <p:cNvCxnSpPr/>
          <p:nvPr/>
        </p:nvCxnSpPr>
        <p:spPr>
          <a:xfrm>
            <a:off x="5386073" y="2184027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4" name="Google Shape;444;p55"/>
          <p:cNvSpPr txBox="1"/>
          <p:nvPr/>
        </p:nvSpPr>
        <p:spPr>
          <a:xfrm>
            <a:off x="6201501" y="1980150"/>
            <a:ext cx="27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Sorted from the best model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45" name="Google Shape;44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484901"/>
            <a:ext cx="5482571" cy="350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6"/>
          <p:cNvPicPr preferRelativeResize="0"/>
          <p:nvPr/>
        </p:nvPicPr>
        <p:blipFill rotWithShape="1">
          <a:blip r:embed="rId3">
            <a:alphaModFix/>
          </a:blip>
          <a:srcRect b="35237" l="0" r="0" t="35921"/>
          <a:stretch/>
        </p:blipFill>
        <p:spPr>
          <a:xfrm>
            <a:off x="448475" y="1383550"/>
            <a:ext cx="5407075" cy="9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6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RandomizedSearchCV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2" name="Google Shape;452;p5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56"/>
          <p:cNvCxnSpPr/>
          <p:nvPr/>
        </p:nvCxnSpPr>
        <p:spPr>
          <a:xfrm>
            <a:off x="4422532" y="1866259"/>
            <a:ext cx="7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4" name="Google Shape;454;p56"/>
          <p:cNvSpPr txBox="1"/>
          <p:nvPr/>
        </p:nvSpPr>
        <p:spPr>
          <a:xfrm>
            <a:off x="5237958" y="1557757"/>
            <a:ext cx="334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There are 5 x 5 = 25 combinations!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Can be long to run (compute)!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5" name="Google Shape;455;p56"/>
          <p:cNvSpPr txBox="1"/>
          <p:nvPr/>
        </p:nvSpPr>
        <p:spPr>
          <a:xfrm>
            <a:off x="366725" y="2439375"/>
            <a:ext cx="450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In such cases, we may use </a:t>
            </a:r>
            <a:r>
              <a:rPr b="1" lang="id">
                <a:latin typeface="Georgia"/>
                <a:ea typeface="Georgia"/>
                <a:cs typeface="Georgia"/>
                <a:sym typeface="Georgia"/>
              </a:rPr>
              <a:t>RandomizedSearchCV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id">
                <a:latin typeface="Georgia"/>
                <a:ea typeface="Georgia"/>
                <a:cs typeface="Georgia"/>
                <a:sym typeface="Georgia"/>
              </a:rPr>
              <a:t>It only considers a </a:t>
            </a:r>
            <a:r>
              <a:rPr b="1" lang="id">
                <a:latin typeface="Georgia"/>
                <a:ea typeface="Georgia"/>
                <a:cs typeface="Georgia"/>
                <a:sym typeface="Georgia"/>
              </a:rPr>
              <a:t>subset of random combinations</a:t>
            </a:r>
            <a:r>
              <a:rPr lang="id">
                <a:latin typeface="Georgia"/>
                <a:ea typeface="Georgia"/>
                <a:cs typeface="Georgia"/>
                <a:sym typeface="Georgia"/>
              </a:rPr>
              <a:t> of hyperparameter values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6" name="Google Shape;45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7400" y="2212700"/>
            <a:ext cx="3798525" cy="30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6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For faster training duration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0" y="1127675"/>
            <a:ext cx="6482393" cy="26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7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Random Forest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4" name="Google Shape;464;p5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7"/>
          <p:cNvSpPr txBox="1"/>
          <p:nvPr/>
        </p:nvSpPr>
        <p:spPr>
          <a:xfrm>
            <a:off x="6988907" y="3200169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Number of pairs tested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66" name="Google Shape;466;p57"/>
          <p:cNvCxnSpPr/>
          <p:nvPr/>
        </p:nvCxnSpPr>
        <p:spPr>
          <a:xfrm>
            <a:off x="6606700" y="3400263"/>
            <a:ext cx="38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82" y="1484901"/>
            <a:ext cx="5665190" cy="35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8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Random Forest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3" name="Google Shape;473;p5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8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results using RandomizedSearchCV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75" name="Google Shape;475;p58"/>
          <p:cNvCxnSpPr/>
          <p:nvPr/>
        </p:nvCxnSpPr>
        <p:spPr>
          <a:xfrm>
            <a:off x="6063155" y="2819780"/>
            <a:ext cx="37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6" name="Google Shape;476;p58"/>
          <p:cNvSpPr txBox="1"/>
          <p:nvPr/>
        </p:nvSpPr>
        <p:spPr>
          <a:xfrm>
            <a:off x="6430101" y="2615903"/>
            <a:ext cx="275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Same as GridSearchCV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Note that this is NOT always the case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484900"/>
            <a:ext cx="6242575" cy="3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9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Tuning Random Forest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3" name="Google Shape;483;p5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9"/>
          <p:cNvSpPr txBox="1"/>
          <p:nvPr/>
        </p:nvSpPr>
        <p:spPr>
          <a:xfrm>
            <a:off x="508000" y="1079901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6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Evaluating the best model obtained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85" name="Google Shape;485;p59"/>
          <p:cNvCxnSpPr/>
          <p:nvPr/>
        </p:nvCxnSpPr>
        <p:spPr>
          <a:xfrm>
            <a:off x="6376673" y="3725463"/>
            <a:ext cx="38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6" name="Google Shape;486;p59"/>
          <p:cNvSpPr txBox="1"/>
          <p:nvPr/>
        </p:nvSpPr>
        <p:spPr>
          <a:xfrm>
            <a:off x="6726177" y="3512879"/>
            <a:ext cx="2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Georgia"/>
                <a:ea typeface="Georgia"/>
                <a:cs typeface="Georgia"/>
                <a:sym typeface="Georgia"/>
              </a:rPr>
              <a:t>Better than KNN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0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2" name="Google Shape;492;p6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60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95" name="Google Shape;495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2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Bayesian Optimization - Optuna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6" name="Google Shape;506;p6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2"/>
          <p:cNvSpPr txBox="1"/>
          <p:nvPr/>
        </p:nvSpPr>
        <p:spPr>
          <a:xfrm>
            <a:off x="243000" y="1156275"/>
            <a:ext cx="85230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Optuna adalah library Python open-source untuk hyperparameter optimization yang otomatis, efisien, dan flexible. Dikembangkan oleh Preferred Networks.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Cara Kerja Optuna (Konsep Inti)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1.Trial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Satu kali percobaan Optuna dalam menguji satu kombinasi hyperparameter disebut Trial.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2. Study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Kumpulan dari trial-trial tersebut disebut Study. Setiap study bertujuan untuk minimize atau maximize nilai objective (misalnya: error, loss, atau akurasi).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4450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3. Sampler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Optuna menggunakan sampler untuk memilih kombinasi parameter yang patut dicoba. Secara default, menggunakan : TPE (Tree-structured Parzen Estimator): model probabilistik yang belajar dari trial sebelumnya, lalu menebak kombinasi parameter selanjutnya yang menjanjikan.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3"/>
          <p:cNvSpPr txBox="1"/>
          <p:nvPr>
            <p:ph type="title"/>
          </p:nvPr>
        </p:nvSpPr>
        <p:spPr>
          <a:xfrm>
            <a:off x="508000" y="463575"/>
            <a:ext cx="8132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Bayesian Optimization - Optuna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3" name="Google Shape;513;p6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243000" y="1156275"/>
            <a:ext cx="85230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Simulasi Cara Kerja Optuna (Secara Intuitif)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Analogi: Cari Resep Kue Terenak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Misalnya dengan 3 parameter: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Jumlah gula (g): 100–300 gram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Suhu oven (s): 160–220 derajat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Waktu panggang (t): 20–60 menit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💡 Grid Search: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Mencoba semua kombinasi, boros waktu dan bahan.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💡 Random Search: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Mencoba kombinasi acak. Bisa hoki, bisa zonk.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💡 Optuna: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Melakukan beberapa kali percobaan (trial awal)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Mencatat hasil setiap percobaan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Menganalisis percobaan yang memiliki performa baik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mencari kombinasi yang mirip dari hasil analisis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Trebuchet MS"/>
              <a:buChar char="●"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Ulangi hingga menemukan kombinasi terbaik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d" sz="11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Optuna akan belajar dari hasil sebelumnya dan mengarahkan pencarian ke arah yang lebih menjanjikan (eksploitasi), sambil sesekali coba hal baru (eksplorasi).</a:t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4"/>
          <p:cNvSpPr txBox="1"/>
          <p:nvPr>
            <p:ph type="title"/>
          </p:nvPr>
        </p:nvSpPr>
        <p:spPr>
          <a:xfrm>
            <a:off x="508000" y="463575"/>
            <a:ext cx="8132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TPE (Tree-structured Parzen Estimator)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4"/>
          <p:cNvSpPr txBox="1"/>
          <p:nvPr/>
        </p:nvSpPr>
        <p:spPr>
          <a:xfrm>
            <a:off x="508000" y="1156275"/>
            <a:ext cx="82581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1: x = -6.2 → f(x) = 88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2: x = 5.1 → f(x) = 4.41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3: x = 2.8 → f(x) = 1.04 ← promising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4: x = 3.1 → f(x) = 1.01 ← even better!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5: x = 2.95 → f(x) = 1.002 ← hampir best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7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Trial 6: x = 3.0 → f(x) = 1.000 ← optimal!</a:t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title"/>
          </p:nvPr>
        </p:nvSpPr>
        <p:spPr>
          <a:xfrm>
            <a:off x="508000" y="463575"/>
            <a:ext cx="8132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TPE (Tree-structured Parzen Estimator)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7" name="Google Shape;527;p6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5"/>
          <p:cNvSpPr txBox="1"/>
          <p:nvPr/>
        </p:nvSpPr>
        <p:spPr>
          <a:xfrm>
            <a:off x="508000" y="1156275"/>
            <a:ext cx="82581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</a:rPr>
              <a:t>Kumpulkan Trial-Result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TPE menyimpan semua kombinasi parameter dan hasilnya.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</a:rPr>
              <a:t>Pisahkan Trial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Trial dibagi jadi 2 kelompok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id" sz="1100">
                <a:solidFill>
                  <a:schemeClr val="dk1"/>
                </a:solidFill>
              </a:rPr>
              <a:t>Good (L)</a:t>
            </a:r>
            <a:r>
              <a:rPr lang="id" sz="1100">
                <a:solidFill>
                  <a:schemeClr val="dk1"/>
                </a:solidFill>
              </a:rPr>
              <a:t> → trial dengan loss di bawah threshold (misal 20% terbaik)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id" sz="1100">
                <a:solidFill>
                  <a:schemeClr val="dk1"/>
                </a:solidFill>
              </a:rPr>
              <a:t>Bad (G)</a:t>
            </a:r>
            <a:r>
              <a:rPr lang="id" sz="1100">
                <a:solidFill>
                  <a:schemeClr val="dk1"/>
                </a:solidFill>
              </a:rPr>
              <a:t> → sisanya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</a:rPr>
              <a:t>Bangun 2 Distribusi Probabilitas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Buat model probabilitas parameter berdasarkan: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l(x) = P(x | y &lt; threshold)</a:t>
            </a:r>
            <a:r>
              <a:rPr lang="id" sz="1100">
                <a:solidFill>
                  <a:schemeClr val="dk1"/>
                </a:solidFill>
              </a:rPr>
              <a:t> → parameter yang muncul di trial bagus</a:t>
            </a:r>
            <a:br>
              <a:rPr lang="id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g(x) = P(x | y ≥ threshold)</a:t>
            </a:r>
            <a:r>
              <a:rPr lang="id" sz="1100">
                <a:solidFill>
                  <a:schemeClr val="dk1"/>
                </a:solidFill>
              </a:rPr>
              <a:t> → parameter yang muncul di trial jelek</a:t>
            </a:r>
            <a:br>
              <a:rPr lang="id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</a:rPr>
              <a:t>Pilih Parameter</a:t>
            </a:r>
            <a:br>
              <a:rPr b="1" lang="id" sz="1100">
                <a:solidFill>
                  <a:schemeClr val="dk1"/>
                </a:solidFill>
              </a:rPr>
            </a:br>
            <a:r>
              <a:rPr lang="id" sz="1100">
                <a:solidFill>
                  <a:schemeClr val="dk1"/>
                </a:solidFill>
              </a:rPr>
              <a:t>Parameter baru diambil dari distribusi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l(x)</a:t>
            </a:r>
            <a:r>
              <a:rPr lang="id" sz="1100">
                <a:solidFill>
                  <a:schemeClr val="dk1"/>
                </a:solidFill>
              </a:rPr>
              <a:t> yang </a:t>
            </a:r>
            <a:r>
              <a:rPr b="1" lang="id" sz="1100">
                <a:solidFill>
                  <a:schemeClr val="dk1"/>
                </a:solidFill>
              </a:rPr>
              <a:t>memaksimalkan EI</a:t>
            </a:r>
            <a:r>
              <a:rPr lang="id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EI(x) ∝ l(x) / g(x)</a:t>
            </a:r>
            <a:endParaRPr sz="1100">
              <a:solidFill>
                <a:schemeClr val="dk1"/>
              </a:solidFill>
            </a:endParaRPr>
          </a:p>
          <a:p>
            <a:pPr indent="0" lvl="0" marL="469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7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 txBox="1"/>
          <p:nvPr>
            <p:ph type="title"/>
          </p:nvPr>
        </p:nvSpPr>
        <p:spPr>
          <a:xfrm>
            <a:off x="508000" y="463575"/>
            <a:ext cx="8132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TPE (Tree-structured Parzen Estimator)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4" name="Google Shape;534;p6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6"/>
          <p:cNvSpPr txBox="1"/>
          <p:nvPr/>
        </p:nvSpPr>
        <p:spPr>
          <a:xfrm>
            <a:off x="508000" y="1156275"/>
            <a:ext cx="82581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700">
                <a:solidFill>
                  <a:schemeClr val="dk1"/>
                </a:solidFill>
              </a:rPr>
              <a:t>Analogi Sederhana: Cari Toko Kue Terbaik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solidFill>
                  <a:schemeClr val="dk1"/>
                </a:solidFill>
              </a:rPr>
              <a:t>Mencari </a:t>
            </a:r>
            <a:r>
              <a:rPr b="1" lang="id" sz="1100">
                <a:solidFill>
                  <a:schemeClr val="dk1"/>
                </a:solidFill>
              </a:rPr>
              <a:t>toko kue terbaik</a:t>
            </a:r>
            <a:r>
              <a:rPr lang="id" sz="1100">
                <a:solidFill>
                  <a:schemeClr val="dk1"/>
                </a:solidFill>
              </a:rPr>
              <a:t> di kota konoha: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kumpulkan</a:t>
            </a:r>
            <a:r>
              <a:rPr lang="id" sz="1100">
                <a:solidFill>
                  <a:schemeClr val="dk1"/>
                </a:solidFill>
              </a:rPr>
              <a:t> review dari 100 toko kue.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bagi menjadi 2 kelompok: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20 toko dengan review terbaik (kelompok L)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80 sisanya (kelompok 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analisis</a:t>
            </a:r>
            <a:r>
              <a:rPr lang="id" sz="1100">
                <a:solidFill>
                  <a:schemeClr val="dk1"/>
                </a:solidFill>
              </a:rPr>
              <a:t> </a:t>
            </a:r>
            <a:r>
              <a:rPr lang="id" sz="1100">
                <a:solidFill>
                  <a:schemeClr val="dk1"/>
                </a:solidFill>
              </a:rPr>
              <a:t>karakteristik grup </a:t>
            </a:r>
            <a:r>
              <a:rPr b="1" lang="id" sz="1100">
                <a:solidFill>
                  <a:schemeClr val="dk1"/>
                </a:solidFill>
              </a:rPr>
              <a:t>L</a:t>
            </a:r>
            <a:r>
              <a:rPr lang="id" sz="1100">
                <a:solidFill>
                  <a:schemeClr val="dk1"/>
                </a:solidFill>
              </a:rPr>
              <a:t> 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Harga: 30–50 ribu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Lokasi: di tengah kota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Tipe kue: cheesecake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analisis karakteristik</a:t>
            </a:r>
            <a:r>
              <a:rPr lang="id" sz="1100">
                <a:solidFill>
                  <a:schemeClr val="dk1"/>
                </a:solidFill>
              </a:rPr>
              <a:t> grup </a:t>
            </a:r>
            <a:r>
              <a:rPr b="1" lang="id" sz="1100">
                <a:solidFill>
                  <a:schemeClr val="dk1"/>
                </a:solidFill>
              </a:rPr>
              <a:t>G</a:t>
            </a:r>
            <a:r>
              <a:rPr lang="id" sz="1100">
                <a:solidFill>
                  <a:schemeClr val="dk1"/>
                </a:solidFill>
              </a:rPr>
              <a:t> (review jelek):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Harga: 15–25 ribu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Lokasi: pinggiran kota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d" sz="1100">
                <a:solidFill>
                  <a:schemeClr val="dk1"/>
                </a:solidFill>
              </a:rPr>
              <a:t>Tipe kue: bolu kering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Maka, </a:t>
            </a:r>
            <a:r>
              <a:rPr b="1" lang="id" sz="1100">
                <a:solidFill>
                  <a:schemeClr val="dk1"/>
                </a:solidFill>
              </a:rPr>
              <a:t>eksplorasi toko baru</a:t>
            </a:r>
            <a:r>
              <a:rPr lang="id" sz="1100">
                <a:solidFill>
                  <a:schemeClr val="dk1"/>
                </a:solidFill>
              </a:rPr>
              <a:t> yang harganya 40 ribu, di pusat kota, jual cheesecake.</a:t>
            </a:r>
            <a:endParaRPr sz="1100">
              <a:solidFill>
                <a:schemeClr val="dk1"/>
              </a:solidFill>
            </a:endParaRPr>
          </a:p>
          <a:p>
            <a:pPr indent="0" lvl="0" marL="469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67"/>
          <p:cNvGrpSpPr/>
          <p:nvPr/>
        </p:nvGrpSpPr>
        <p:grpSpPr>
          <a:xfrm>
            <a:off x="0" y="2"/>
            <a:ext cx="9144000" cy="2081532"/>
            <a:chOff x="0" y="2"/>
            <a:chExt cx="9144000" cy="2081532"/>
          </a:xfrm>
        </p:grpSpPr>
        <p:sp>
          <p:nvSpPr>
            <p:cNvPr id="541" name="Google Shape;541;p67"/>
            <p:cNvSpPr/>
            <p:nvPr/>
          </p:nvSpPr>
          <p:spPr>
            <a:xfrm>
              <a:off x="0" y="2"/>
              <a:ext cx="9144000" cy="2081530"/>
            </a:xfrm>
            <a:custGeom>
              <a:rect b="b" l="l" r="r" t="t"/>
              <a:pathLst>
                <a:path extrusionOk="0" h="2081530" w="9144000">
                  <a:moveTo>
                    <a:pt x="9143981" y="2081208"/>
                  </a:moveTo>
                  <a:lnTo>
                    <a:pt x="0" y="2081208"/>
                  </a:lnTo>
                  <a:lnTo>
                    <a:pt x="0" y="0"/>
                  </a:lnTo>
                  <a:lnTo>
                    <a:pt x="9143981" y="0"/>
                  </a:lnTo>
                  <a:lnTo>
                    <a:pt x="9143981" y="2081208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67"/>
            <p:cNvSpPr/>
            <p:nvPr/>
          </p:nvSpPr>
          <p:spPr>
            <a:xfrm>
              <a:off x="7061935" y="4"/>
              <a:ext cx="2081529" cy="2081530"/>
            </a:xfrm>
            <a:custGeom>
              <a:rect b="b" l="l" r="r" t="t"/>
              <a:pathLst>
                <a:path extrusionOk="0" h="2081530" w="2081529">
                  <a:moveTo>
                    <a:pt x="926748" y="2081200"/>
                  </a:moveTo>
                  <a:lnTo>
                    <a:pt x="0" y="2081200"/>
                  </a:lnTo>
                  <a:lnTo>
                    <a:pt x="124" y="2056950"/>
                  </a:lnTo>
                  <a:lnTo>
                    <a:pt x="1224" y="2008648"/>
                  </a:lnTo>
                  <a:lnTo>
                    <a:pt x="3424" y="1960623"/>
                  </a:lnTo>
                  <a:lnTo>
                    <a:pt x="6699" y="1912888"/>
                  </a:lnTo>
                  <a:lnTo>
                    <a:pt x="11049" y="1865453"/>
                  </a:lnTo>
                  <a:lnTo>
                    <a:pt x="16424" y="1818331"/>
                  </a:lnTo>
                  <a:lnTo>
                    <a:pt x="22874" y="1771533"/>
                  </a:lnTo>
                  <a:lnTo>
                    <a:pt x="30349" y="1725074"/>
                  </a:lnTo>
                  <a:lnTo>
                    <a:pt x="38824" y="1678964"/>
                  </a:lnTo>
                  <a:lnTo>
                    <a:pt x="48324" y="1633214"/>
                  </a:lnTo>
                  <a:lnTo>
                    <a:pt x="58824" y="1587834"/>
                  </a:lnTo>
                  <a:lnTo>
                    <a:pt x="70299" y="1542841"/>
                  </a:lnTo>
                  <a:lnTo>
                    <a:pt x="82749" y="1498246"/>
                  </a:lnTo>
                  <a:lnTo>
                    <a:pt x="96149" y="1454059"/>
                  </a:lnTo>
                  <a:lnTo>
                    <a:pt x="110499" y="1410292"/>
                  </a:lnTo>
                  <a:lnTo>
                    <a:pt x="125774" y="1366957"/>
                  </a:lnTo>
                  <a:lnTo>
                    <a:pt x="141999" y="1324067"/>
                  </a:lnTo>
                  <a:lnTo>
                    <a:pt x="159124" y="1281634"/>
                  </a:lnTo>
                  <a:lnTo>
                    <a:pt x="177149" y="1239670"/>
                  </a:lnTo>
                  <a:lnTo>
                    <a:pt x="196049" y="1198187"/>
                  </a:lnTo>
                  <a:lnTo>
                    <a:pt x="215849" y="1157195"/>
                  </a:lnTo>
                  <a:lnTo>
                    <a:pt x="236499" y="1116710"/>
                  </a:lnTo>
                  <a:lnTo>
                    <a:pt x="257999" y="1076737"/>
                  </a:lnTo>
                  <a:lnTo>
                    <a:pt x="280324" y="1037295"/>
                  </a:lnTo>
                  <a:lnTo>
                    <a:pt x="303499" y="998395"/>
                  </a:lnTo>
                  <a:lnTo>
                    <a:pt x="327474" y="960045"/>
                  </a:lnTo>
                  <a:lnTo>
                    <a:pt x="352274" y="922260"/>
                  </a:lnTo>
                  <a:lnTo>
                    <a:pt x="377849" y="885053"/>
                  </a:lnTo>
                  <a:lnTo>
                    <a:pt x="404224" y="848430"/>
                  </a:lnTo>
                  <a:lnTo>
                    <a:pt x="431349" y="812410"/>
                  </a:lnTo>
                  <a:lnTo>
                    <a:pt x="459224" y="777003"/>
                  </a:lnTo>
                  <a:lnTo>
                    <a:pt x="487849" y="742221"/>
                  </a:lnTo>
                  <a:lnTo>
                    <a:pt x="517198" y="708073"/>
                  </a:lnTo>
                  <a:lnTo>
                    <a:pt x="547298" y="674573"/>
                  </a:lnTo>
                  <a:lnTo>
                    <a:pt x="578073" y="641733"/>
                  </a:lnTo>
                  <a:lnTo>
                    <a:pt x="609548" y="609566"/>
                  </a:lnTo>
                  <a:lnTo>
                    <a:pt x="641723" y="578083"/>
                  </a:lnTo>
                  <a:lnTo>
                    <a:pt x="674573" y="547296"/>
                  </a:lnTo>
                  <a:lnTo>
                    <a:pt x="708073" y="517216"/>
                  </a:lnTo>
                  <a:lnTo>
                    <a:pt x="742223" y="487856"/>
                  </a:lnTo>
                  <a:lnTo>
                    <a:pt x="776998" y="459229"/>
                  </a:lnTo>
                  <a:lnTo>
                    <a:pt x="812398" y="431346"/>
                  </a:lnTo>
                  <a:lnTo>
                    <a:pt x="848423" y="404219"/>
                  </a:lnTo>
                  <a:lnTo>
                    <a:pt x="885048" y="377859"/>
                  </a:lnTo>
                  <a:lnTo>
                    <a:pt x="922248" y="352279"/>
                  </a:lnTo>
                  <a:lnTo>
                    <a:pt x="960048" y="327491"/>
                  </a:lnTo>
                  <a:lnTo>
                    <a:pt x="998397" y="303506"/>
                  </a:lnTo>
                  <a:lnTo>
                    <a:pt x="1037297" y="280339"/>
                  </a:lnTo>
                  <a:lnTo>
                    <a:pt x="1076722" y="257996"/>
                  </a:lnTo>
                  <a:lnTo>
                    <a:pt x="1116697" y="236496"/>
                  </a:lnTo>
                  <a:lnTo>
                    <a:pt x="1157197" y="215847"/>
                  </a:lnTo>
                  <a:lnTo>
                    <a:pt x="1198172" y="196061"/>
                  </a:lnTo>
                  <a:lnTo>
                    <a:pt x="1239672" y="177150"/>
                  </a:lnTo>
                  <a:lnTo>
                    <a:pt x="1281622" y="159127"/>
                  </a:lnTo>
                  <a:lnTo>
                    <a:pt x="1324072" y="142004"/>
                  </a:lnTo>
                  <a:lnTo>
                    <a:pt x="1366947" y="125792"/>
                  </a:lnTo>
                  <a:lnTo>
                    <a:pt x="1410297" y="110504"/>
                  </a:lnTo>
                  <a:lnTo>
                    <a:pt x="1454047" y="96151"/>
                  </a:lnTo>
                  <a:lnTo>
                    <a:pt x="1498246" y="82746"/>
                  </a:lnTo>
                  <a:lnTo>
                    <a:pt x="1542846" y="70300"/>
                  </a:lnTo>
                  <a:lnTo>
                    <a:pt x="1587821" y="58825"/>
                  </a:lnTo>
                  <a:lnTo>
                    <a:pt x="1633221" y="48334"/>
                  </a:lnTo>
                  <a:lnTo>
                    <a:pt x="1678971" y="38838"/>
                  </a:lnTo>
                  <a:lnTo>
                    <a:pt x="1725071" y="30349"/>
                  </a:lnTo>
                  <a:lnTo>
                    <a:pt x="1771521" y="22880"/>
                  </a:lnTo>
                  <a:lnTo>
                    <a:pt x="1818321" y="16441"/>
                  </a:lnTo>
                  <a:lnTo>
                    <a:pt x="1865446" y="11046"/>
                  </a:lnTo>
                  <a:lnTo>
                    <a:pt x="1912896" y="6706"/>
                  </a:lnTo>
                  <a:lnTo>
                    <a:pt x="1960621" y="3434"/>
                  </a:lnTo>
                  <a:lnTo>
                    <a:pt x="2008645" y="1240"/>
                  </a:lnTo>
                  <a:lnTo>
                    <a:pt x="2056945" y="137"/>
                  </a:lnTo>
                  <a:lnTo>
                    <a:pt x="2081195" y="0"/>
                  </a:lnTo>
                  <a:lnTo>
                    <a:pt x="2081195" y="926750"/>
                  </a:lnTo>
                  <a:lnTo>
                    <a:pt x="2057045" y="926998"/>
                  </a:lnTo>
                  <a:lnTo>
                    <a:pt x="2033020" y="927738"/>
                  </a:lnTo>
                  <a:lnTo>
                    <a:pt x="1985321" y="930675"/>
                  </a:lnTo>
                  <a:lnTo>
                    <a:pt x="1938196" y="935520"/>
                  </a:lnTo>
                  <a:lnTo>
                    <a:pt x="1891621" y="942240"/>
                  </a:lnTo>
                  <a:lnTo>
                    <a:pt x="1845696" y="950793"/>
                  </a:lnTo>
                  <a:lnTo>
                    <a:pt x="1800396" y="961140"/>
                  </a:lnTo>
                  <a:lnTo>
                    <a:pt x="1755821" y="973243"/>
                  </a:lnTo>
                  <a:lnTo>
                    <a:pt x="1711946" y="987063"/>
                  </a:lnTo>
                  <a:lnTo>
                    <a:pt x="1668871" y="1002562"/>
                  </a:lnTo>
                  <a:lnTo>
                    <a:pt x="1626596" y="1019705"/>
                  </a:lnTo>
                  <a:lnTo>
                    <a:pt x="1585171" y="1038447"/>
                  </a:lnTo>
                  <a:lnTo>
                    <a:pt x="1544646" y="1058752"/>
                  </a:lnTo>
                  <a:lnTo>
                    <a:pt x="1505046" y="1080582"/>
                  </a:lnTo>
                  <a:lnTo>
                    <a:pt x="1466397" y="1103900"/>
                  </a:lnTo>
                  <a:lnTo>
                    <a:pt x="1428772" y="1128665"/>
                  </a:lnTo>
                  <a:lnTo>
                    <a:pt x="1392172" y="1154840"/>
                  </a:lnTo>
                  <a:lnTo>
                    <a:pt x="1356647" y="1182382"/>
                  </a:lnTo>
                  <a:lnTo>
                    <a:pt x="1322272" y="1211260"/>
                  </a:lnTo>
                  <a:lnTo>
                    <a:pt x="1289022" y="1241429"/>
                  </a:lnTo>
                  <a:lnTo>
                    <a:pt x="1256997" y="1272854"/>
                  </a:lnTo>
                  <a:lnTo>
                    <a:pt x="1226197" y="1305494"/>
                  </a:lnTo>
                  <a:lnTo>
                    <a:pt x="1196647" y="1339314"/>
                  </a:lnTo>
                  <a:lnTo>
                    <a:pt x="1168447" y="1374272"/>
                  </a:lnTo>
                  <a:lnTo>
                    <a:pt x="1141572" y="1410329"/>
                  </a:lnTo>
                  <a:lnTo>
                    <a:pt x="1116097" y="1447449"/>
                  </a:lnTo>
                  <a:lnTo>
                    <a:pt x="1092047" y="1485594"/>
                  </a:lnTo>
                  <a:lnTo>
                    <a:pt x="1069472" y="1524721"/>
                  </a:lnTo>
                  <a:lnTo>
                    <a:pt x="1048397" y="1564796"/>
                  </a:lnTo>
                  <a:lnTo>
                    <a:pt x="1028872" y="1605779"/>
                  </a:lnTo>
                  <a:lnTo>
                    <a:pt x="1010922" y="1647631"/>
                  </a:lnTo>
                  <a:lnTo>
                    <a:pt x="994597" y="1690314"/>
                  </a:lnTo>
                  <a:lnTo>
                    <a:pt x="979948" y="1733789"/>
                  </a:lnTo>
                  <a:lnTo>
                    <a:pt x="966973" y="1778016"/>
                  </a:lnTo>
                  <a:lnTo>
                    <a:pt x="955748" y="1822958"/>
                  </a:lnTo>
                  <a:lnTo>
                    <a:pt x="946298" y="1868578"/>
                  </a:lnTo>
                  <a:lnTo>
                    <a:pt x="938648" y="1914836"/>
                  </a:lnTo>
                  <a:lnTo>
                    <a:pt x="932873" y="1961693"/>
                  </a:lnTo>
                  <a:lnTo>
                    <a:pt x="928973" y="2009108"/>
                  </a:lnTo>
                  <a:lnTo>
                    <a:pt x="926998" y="2057048"/>
                  </a:lnTo>
                  <a:lnTo>
                    <a:pt x="926748" y="2081200"/>
                  </a:lnTo>
                  <a:close/>
                </a:path>
              </a:pathLst>
            </a:custGeom>
            <a:solidFill>
              <a:srgbClr val="FFDD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3" name="Google Shape;543;p67"/>
          <p:cNvSpPr txBox="1"/>
          <p:nvPr/>
        </p:nvSpPr>
        <p:spPr>
          <a:xfrm>
            <a:off x="789387" y="2250194"/>
            <a:ext cx="5593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347344" lvl="0" marL="34036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600"/>
              <a:buFont typeface="Arial"/>
              <a:buChar char="●"/>
            </a:pPr>
            <a:r>
              <a:rPr lang="id" sz="1600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What to submit? Google colab link (don’t forget to share access to me:  arifromadhan19@gmail.com)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7979" lvl="1" marL="798195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23232D"/>
              </a:buClr>
              <a:buSzPts val="1600"/>
              <a:buFont typeface="Arial"/>
              <a:buChar char="○"/>
            </a:pP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Format notebook name: HW_</a:t>
            </a:r>
            <a:r>
              <a:rPr lang="id" sz="1600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HPTUNING</a:t>
            </a: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_&lt;YOUR COMPLETE NAME&gt;</a:t>
            </a:r>
            <a:endParaRPr sz="1600">
              <a:solidFill>
                <a:srgbClr val="23232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4" name="Google Shape;544;p67"/>
          <p:cNvSpPr txBox="1"/>
          <p:nvPr>
            <p:ph type="title"/>
          </p:nvPr>
        </p:nvSpPr>
        <p:spPr>
          <a:xfrm>
            <a:off x="508001" y="605625"/>
            <a:ext cx="46173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Assignment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8"/>
          <p:cNvSpPr/>
          <p:nvPr/>
        </p:nvSpPr>
        <p:spPr>
          <a:xfrm>
            <a:off x="812045" y="629598"/>
            <a:ext cx="1016100" cy="101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1" name="Google Shape;551;p68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2" name="Google Shape;552;p68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Problem 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3" name="Google Shape;553;p68"/>
          <p:cNvSpPr txBox="1"/>
          <p:nvPr/>
        </p:nvSpPr>
        <p:spPr>
          <a:xfrm>
            <a:off x="993575" y="1618725"/>
            <a:ext cx="74409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Load churn.csv as 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Data Frame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10 point 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Student mampu melakukan pembersihan data sebelum pemodelan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10 point 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Student mampu membagi dataset untuk training, validasi, dan testing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10 point </a:t>
            </a: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Student mampu mengidentifikasi fitur yang redundant dan mencegah multicollinearity</a:t>
            </a:r>
            <a:endParaRPr baseline="-25000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15 point Student mampu mentransformasi fitur kategorikal agar dapat digunakan dalam model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10 point Student mampu memilih metrik yang sesuai untuk evaluasi model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30 point Student mampu memilih hyperparameter terbaik menggunakan cross-validation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10 point Student mampu melakukan evaluasi model dan menginterpretasikan hasilnya</a:t>
            </a:r>
            <a:endParaRPr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69"/>
          <p:cNvGrpSpPr/>
          <p:nvPr/>
        </p:nvGrpSpPr>
        <p:grpSpPr>
          <a:xfrm>
            <a:off x="4968834" y="3"/>
            <a:ext cx="4175442" cy="5143609"/>
            <a:chOff x="9937669" y="6"/>
            <a:chExt cx="8350884" cy="10287217"/>
          </a:xfrm>
        </p:grpSpPr>
        <p:sp>
          <p:nvSpPr>
            <p:cNvPr id="559" name="Google Shape;559;p69"/>
            <p:cNvSpPr/>
            <p:nvPr/>
          </p:nvSpPr>
          <p:spPr>
            <a:xfrm>
              <a:off x="9937669" y="6"/>
              <a:ext cx="8350884" cy="10287000"/>
            </a:xfrm>
            <a:custGeom>
              <a:rect b="b" l="l" r="r" t="t"/>
              <a:pathLst>
                <a:path extrusionOk="0" h="10287000" w="8350884">
                  <a:moveTo>
                    <a:pt x="8350331" y="10286994"/>
                  </a:moveTo>
                  <a:lnTo>
                    <a:pt x="0" y="10286994"/>
                  </a:lnTo>
                  <a:lnTo>
                    <a:pt x="0" y="0"/>
                  </a:lnTo>
                  <a:lnTo>
                    <a:pt x="8350331" y="0"/>
                  </a:lnTo>
                  <a:lnTo>
                    <a:pt x="8350331" y="10286994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69"/>
            <p:cNvSpPr/>
            <p:nvPr/>
          </p:nvSpPr>
          <p:spPr>
            <a:xfrm>
              <a:off x="9944099" y="6"/>
              <a:ext cx="8343900" cy="10287000"/>
            </a:xfrm>
            <a:custGeom>
              <a:rect b="b" l="l" r="r" t="t"/>
              <a:pathLst>
                <a:path extrusionOk="0" h="10287000" w="8343900">
                  <a:moveTo>
                    <a:pt x="0" y="4580800"/>
                  </a:moveTo>
                  <a:lnTo>
                    <a:pt x="0" y="0"/>
                  </a:lnTo>
                  <a:lnTo>
                    <a:pt x="88899" y="344"/>
                  </a:lnTo>
                  <a:lnTo>
                    <a:pt x="165099" y="1377"/>
                  </a:lnTo>
                  <a:lnTo>
                    <a:pt x="253999" y="3096"/>
                  </a:lnTo>
                  <a:lnTo>
                    <a:pt x="342899" y="5498"/>
                  </a:lnTo>
                  <a:lnTo>
                    <a:pt x="419099" y="8580"/>
                  </a:lnTo>
                  <a:lnTo>
                    <a:pt x="507999" y="12339"/>
                  </a:lnTo>
                  <a:lnTo>
                    <a:pt x="596899" y="16773"/>
                  </a:lnTo>
                  <a:lnTo>
                    <a:pt x="673099" y="21880"/>
                  </a:lnTo>
                  <a:lnTo>
                    <a:pt x="761999" y="27657"/>
                  </a:lnTo>
                  <a:lnTo>
                    <a:pt x="838199" y="34100"/>
                  </a:lnTo>
                  <a:lnTo>
                    <a:pt x="927099" y="41208"/>
                  </a:lnTo>
                  <a:lnTo>
                    <a:pt x="1015999" y="48977"/>
                  </a:lnTo>
                  <a:lnTo>
                    <a:pt x="1092199" y="57406"/>
                  </a:lnTo>
                  <a:lnTo>
                    <a:pt x="1181099" y="66491"/>
                  </a:lnTo>
                  <a:lnTo>
                    <a:pt x="1257299" y="76230"/>
                  </a:lnTo>
                  <a:lnTo>
                    <a:pt x="1346199" y="86620"/>
                  </a:lnTo>
                  <a:lnTo>
                    <a:pt x="1422399" y="97658"/>
                  </a:lnTo>
                  <a:lnTo>
                    <a:pt x="1511299" y="109342"/>
                  </a:lnTo>
                  <a:lnTo>
                    <a:pt x="1587499" y="121670"/>
                  </a:lnTo>
                  <a:lnTo>
                    <a:pt x="1663699" y="134638"/>
                  </a:lnTo>
                  <a:lnTo>
                    <a:pt x="1752599" y="148244"/>
                  </a:lnTo>
                  <a:lnTo>
                    <a:pt x="1828799" y="162485"/>
                  </a:lnTo>
                  <a:lnTo>
                    <a:pt x="1917699" y="177359"/>
                  </a:lnTo>
                  <a:lnTo>
                    <a:pt x="1993899" y="192862"/>
                  </a:lnTo>
                  <a:lnTo>
                    <a:pt x="2070099" y="208993"/>
                  </a:lnTo>
                  <a:lnTo>
                    <a:pt x="2158999" y="225749"/>
                  </a:lnTo>
                  <a:lnTo>
                    <a:pt x="2235199" y="243127"/>
                  </a:lnTo>
                  <a:lnTo>
                    <a:pt x="2311399" y="261124"/>
                  </a:lnTo>
                  <a:lnTo>
                    <a:pt x="2387599" y="279737"/>
                  </a:lnTo>
                  <a:lnTo>
                    <a:pt x="2476499" y="298965"/>
                  </a:lnTo>
                  <a:lnTo>
                    <a:pt x="2552699" y="318804"/>
                  </a:lnTo>
                  <a:lnTo>
                    <a:pt x="2628899" y="339252"/>
                  </a:lnTo>
                  <a:lnTo>
                    <a:pt x="2705099" y="360306"/>
                  </a:lnTo>
                  <a:lnTo>
                    <a:pt x="2781299" y="381964"/>
                  </a:lnTo>
                  <a:lnTo>
                    <a:pt x="2870199" y="404223"/>
                  </a:lnTo>
                  <a:lnTo>
                    <a:pt x="2946399" y="427079"/>
                  </a:lnTo>
                  <a:lnTo>
                    <a:pt x="3022599" y="450531"/>
                  </a:lnTo>
                  <a:lnTo>
                    <a:pt x="3098799" y="474576"/>
                  </a:lnTo>
                  <a:lnTo>
                    <a:pt x="3174999" y="499212"/>
                  </a:lnTo>
                  <a:lnTo>
                    <a:pt x="3251199" y="524435"/>
                  </a:lnTo>
                  <a:lnTo>
                    <a:pt x="3327399" y="550242"/>
                  </a:lnTo>
                  <a:lnTo>
                    <a:pt x="3403599" y="576632"/>
                  </a:lnTo>
                  <a:lnTo>
                    <a:pt x="3479799" y="603602"/>
                  </a:lnTo>
                  <a:lnTo>
                    <a:pt x="3555999" y="631149"/>
                  </a:lnTo>
                  <a:lnTo>
                    <a:pt x="3632199" y="659270"/>
                  </a:lnTo>
                  <a:lnTo>
                    <a:pt x="3708399" y="687963"/>
                  </a:lnTo>
                  <a:lnTo>
                    <a:pt x="3784599" y="717225"/>
                  </a:lnTo>
                  <a:lnTo>
                    <a:pt x="3860799" y="747053"/>
                  </a:lnTo>
                  <a:lnTo>
                    <a:pt x="3924299" y="777445"/>
                  </a:lnTo>
                  <a:lnTo>
                    <a:pt x="4000499" y="808399"/>
                  </a:lnTo>
                  <a:lnTo>
                    <a:pt x="4076699" y="839910"/>
                  </a:lnTo>
                  <a:lnTo>
                    <a:pt x="4152899" y="871978"/>
                  </a:lnTo>
                  <a:lnTo>
                    <a:pt x="4229099" y="904599"/>
                  </a:lnTo>
                  <a:lnTo>
                    <a:pt x="4292599" y="937770"/>
                  </a:lnTo>
                  <a:lnTo>
                    <a:pt x="4368799" y="971489"/>
                  </a:lnTo>
                  <a:lnTo>
                    <a:pt x="4444999" y="1005753"/>
                  </a:lnTo>
                  <a:lnTo>
                    <a:pt x="4508499" y="1040560"/>
                  </a:lnTo>
                  <a:lnTo>
                    <a:pt x="4584699" y="1075907"/>
                  </a:lnTo>
                  <a:lnTo>
                    <a:pt x="4660899" y="1111791"/>
                  </a:lnTo>
                  <a:lnTo>
                    <a:pt x="4724399" y="1148210"/>
                  </a:lnTo>
                  <a:lnTo>
                    <a:pt x="4800599" y="1185161"/>
                  </a:lnTo>
                  <a:lnTo>
                    <a:pt x="4864099" y="1222641"/>
                  </a:lnTo>
                  <a:lnTo>
                    <a:pt x="4940299" y="1260648"/>
                  </a:lnTo>
                  <a:lnTo>
                    <a:pt x="5003799" y="1299179"/>
                  </a:lnTo>
                  <a:lnTo>
                    <a:pt x="5079999" y="1338231"/>
                  </a:lnTo>
                  <a:lnTo>
                    <a:pt x="5143499" y="1377802"/>
                  </a:lnTo>
                  <a:lnTo>
                    <a:pt x="5219699" y="1417890"/>
                  </a:lnTo>
                  <a:lnTo>
                    <a:pt x="5283199" y="1458490"/>
                  </a:lnTo>
                  <a:lnTo>
                    <a:pt x="5346699" y="1499602"/>
                  </a:lnTo>
                  <a:lnTo>
                    <a:pt x="5422899" y="1541221"/>
                  </a:lnTo>
                  <a:lnTo>
                    <a:pt x="5486399" y="1583347"/>
                  </a:lnTo>
                  <a:lnTo>
                    <a:pt x="5549899" y="1625975"/>
                  </a:lnTo>
                  <a:lnTo>
                    <a:pt x="5613399" y="1669103"/>
                  </a:lnTo>
                  <a:lnTo>
                    <a:pt x="5689599" y="1712729"/>
                  </a:lnTo>
                  <a:lnTo>
                    <a:pt x="5753099" y="1756850"/>
                  </a:lnTo>
                  <a:lnTo>
                    <a:pt x="5816599" y="1801463"/>
                  </a:lnTo>
                  <a:lnTo>
                    <a:pt x="5880099" y="1846566"/>
                  </a:lnTo>
                  <a:lnTo>
                    <a:pt x="5943599" y="1892155"/>
                  </a:lnTo>
                  <a:lnTo>
                    <a:pt x="6007099" y="1938230"/>
                  </a:lnTo>
                  <a:lnTo>
                    <a:pt x="6070599" y="1984785"/>
                  </a:lnTo>
                  <a:lnTo>
                    <a:pt x="6134099" y="2031820"/>
                  </a:lnTo>
                  <a:lnTo>
                    <a:pt x="6197599" y="2079331"/>
                  </a:lnTo>
                  <a:lnTo>
                    <a:pt x="6261099" y="2127316"/>
                  </a:lnTo>
                  <a:lnTo>
                    <a:pt x="6324599" y="2175773"/>
                  </a:lnTo>
                  <a:lnTo>
                    <a:pt x="6388099" y="2224697"/>
                  </a:lnTo>
                  <a:lnTo>
                    <a:pt x="6451599" y="2274088"/>
                  </a:lnTo>
                  <a:lnTo>
                    <a:pt x="6515099" y="2323941"/>
                  </a:lnTo>
                  <a:lnTo>
                    <a:pt x="6578599" y="2374255"/>
                  </a:lnTo>
                  <a:lnTo>
                    <a:pt x="6629399" y="2425027"/>
                  </a:lnTo>
                  <a:lnTo>
                    <a:pt x="6692899" y="2476254"/>
                  </a:lnTo>
                  <a:lnTo>
                    <a:pt x="6756399" y="2527934"/>
                  </a:lnTo>
                  <a:lnTo>
                    <a:pt x="6819899" y="2580064"/>
                  </a:lnTo>
                  <a:lnTo>
                    <a:pt x="6870699" y="2632641"/>
                  </a:lnTo>
                  <a:lnTo>
                    <a:pt x="6934199" y="2685662"/>
                  </a:lnTo>
                  <a:lnTo>
                    <a:pt x="6984999" y="2739126"/>
                  </a:lnTo>
                  <a:lnTo>
                    <a:pt x="7048499" y="2793029"/>
                  </a:lnTo>
                  <a:lnTo>
                    <a:pt x="7099299" y="2847369"/>
                  </a:lnTo>
                  <a:lnTo>
                    <a:pt x="7162799" y="2902142"/>
                  </a:lnTo>
                  <a:lnTo>
                    <a:pt x="7213599" y="2957347"/>
                  </a:lnTo>
                  <a:lnTo>
                    <a:pt x="7277099" y="3012981"/>
                  </a:lnTo>
                  <a:lnTo>
                    <a:pt x="7378699" y="3125524"/>
                  </a:lnTo>
                  <a:lnTo>
                    <a:pt x="7442199" y="3182429"/>
                  </a:lnTo>
                  <a:lnTo>
                    <a:pt x="7543799" y="3297489"/>
                  </a:lnTo>
                  <a:lnTo>
                    <a:pt x="7607299" y="3355640"/>
                  </a:lnTo>
                  <a:lnTo>
                    <a:pt x="7658099" y="3414201"/>
                  </a:lnTo>
                  <a:lnTo>
                    <a:pt x="7810499" y="3592318"/>
                  </a:lnTo>
                  <a:lnTo>
                    <a:pt x="7962899" y="3774033"/>
                  </a:lnTo>
                  <a:lnTo>
                    <a:pt x="8115299" y="3959272"/>
                  </a:lnTo>
                  <a:lnTo>
                    <a:pt x="8153399" y="4021790"/>
                  </a:lnTo>
                  <a:lnTo>
                    <a:pt x="8305799" y="4211618"/>
                  </a:lnTo>
                  <a:lnTo>
                    <a:pt x="8343899" y="4275645"/>
                  </a:lnTo>
                  <a:lnTo>
                    <a:pt x="8343899" y="10286993"/>
                  </a:lnTo>
                  <a:lnTo>
                    <a:pt x="5702299" y="10286993"/>
                  </a:lnTo>
                  <a:lnTo>
                    <a:pt x="5702299" y="9950013"/>
                  </a:lnTo>
                  <a:lnTo>
                    <a:pt x="5689599" y="9902280"/>
                  </a:lnTo>
                  <a:lnTo>
                    <a:pt x="5689599" y="9807137"/>
                  </a:lnTo>
                  <a:lnTo>
                    <a:pt x="5676899" y="9759729"/>
                  </a:lnTo>
                  <a:lnTo>
                    <a:pt x="5676899" y="9665250"/>
                  </a:lnTo>
                  <a:lnTo>
                    <a:pt x="5664199" y="9618182"/>
                  </a:lnTo>
                  <a:lnTo>
                    <a:pt x="5664199" y="9571231"/>
                  </a:lnTo>
                  <a:lnTo>
                    <a:pt x="5651499" y="9524397"/>
                  </a:lnTo>
                  <a:lnTo>
                    <a:pt x="5651499" y="9477683"/>
                  </a:lnTo>
                  <a:lnTo>
                    <a:pt x="5638799" y="9431090"/>
                  </a:lnTo>
                  <a:lnTo>
                    <a:pt x="5638799" y="9384619"/>
                  </a:lnTo>
                  <a:lnTo>
                    <a:pt x="5613399" y="9292052"/>
                  </a:lnTo>
                  <a:lnTo>
                    <a:pt x="5613399" y="9245959"/>
                  </a:lnTo>
                  <a:lnTo>
                    <a:pt x="5587999" y="9154162"/>
                  </a:lnTo>
                  <a:lnTo>
                    <a:pt x="5587999" y="9108461"/>
                  </a:lnTo>
                  <a:lnTo>
                    <a:pt x="5537199" y="8927009"/>
                  </a:lnTo>
                  <a:lnTo>
                    <a:pt x="5537199" y="8881992"/>
                  </a:lnTo>
                  <a:lnTo>
                    <a:pt x="5435599" y="8527093"/>
                  </a:lnTo>
                  <a:lnTo>
                    <a:pt x="5410199" y="8483409"/>
                  </a:lnTo>
                  <a:lnTo>
                    <a:pt x="5359399" y="8310246"/>
                  </a:lnTo>
                  <a:lnTo>
                    <a:pt x="5333999" y="8267357"/>
                  </a:lnTo>
                  <a:lnTo>
                    <a:pt x="5308599" y="8182072"/>
                  </a:lnTo>
                  <a:lnTo>
                    <a:pt x="5283199" y="8139680"/>
                  </a:lnTo>
                  <a:lnTo>
                    <a:pt x="5257799" y="8055402"/>
                  </a:lnTo>
                  <a:lnTo>
                    <a:pt x="5232399" y="8013520"/>
                  </a:lnTo>
                  <a:lnTo>
                    <a:pt x="5219699" y="7971812"/>
                  </a:lnTo>
                  <a:lnTo>
                    <a:pt x="5194299" y="7930278"/>
                  </a:lnTo>
                  <a:lnTo>
                    <a:pt x="5181599" y="7888921"/>
                  </a:lnTo>
                  <a:lnTo>
                    <a:pt x="5156199" y="7847742"/>
                  </a:lnTo>
                  <a:lnTo>
                    <a:pt x="5143499" y="7806743"/>
                  </a:lnTo>
                  <a:lnTo>
                    <a:pt x="5118099" y="7765925"/>
                  </a:lnTo>
                  <a:lnTo>
                    <a:pt x="5105399" y="7725289"/>
                  </a:lnTo>
                  <a:lnTo>
                    <a:pt x="5054599" y="7644574"/>
                  </a:lnTo>
                  <a:lnTo>
                    <a:pt x="5041899" y="7604497"/>
                  </a:lnTo>
                  <a:lnTo>
                    <a:pt x="4991099" y="7524913"/>
                  </a:lnTo>
                  <a:lnTo>
                    <a:pt x="4978399" y="7485408"/>
                  </a:lnTo>
                  <a:lnTo>
                    <a:pt x="4851399" y="7290826"/>
                  </a:lnTo>
                  <a:lnTo>
                    <a:pt x="4838699" y="7252509"/>
                  </a:lnTo>
                  <a:lnTo>
                    <a:pt x="4711699" y="7064008"/>
                  </a:lnTo>
                  <a:lnTo>
                    <a:pt x="4610099" y="6917003"/>
                  </a:lnTo>
                  <a:lnTo>
                    <a:pt x="4584699" y="6880792"/>
                  </a:lnTo>
                  <a:lnTo>
                    <a:pt x="4546599" y="6844800"/>
                  </a:lnTo>
                  <a:lnTo>
                    <a:pt x="4444999" y="6703059"/>
                  </a:lnTo>
                  <a:lnTo>
                    <a:pt x="4406899" y="6668187"/>
                  </a:lnTo>
                  <a:lnTo>
                    <a:pt x="4330699" y="6564953"/>
                  </a:lnTo>
                  <a:lnTo>
                    <a:pt x="4292599" y="6531007"/>
                  </a:lnTo>
                  <a:lnTo>
                    <a:pt x="4241799" y="6463821"/>
                  </a:lnTo>
                  <a:lnTo>
                    <a:pt x="4203699" y="6430585"/>
                  </a:lnTo>
                  <a:lnTo>
                    <a:pt x="4178299" y="6397588"/>
                  </a:lnTo>
                  <a:lnTo>
                    <a:pt x="4140199" y="6364834"/>
                  </a:lnTo>
                  <a:lnTo>
                    <a:pt x="4114799" y="6332322"/>
                  </a:lnTo>
                  <a:lnTo>
                    <a:pt x="4076699" y="6300055"/>
                  </a:lnTo>
                  <a:lnTo>
                    <a:pt x="4051299" y="6268034"/>
                  </a:lnTo>
                  <a:lnTo>
                    <a:pt x="4013199" y="6236261"/>
                  </a:lnTo>
                  <a:lnTo>
                    <a:pt x="3987799" y="6204738"/>
                  </a:lnTo>
                  <a:lnTo>
                    <a:pt x="3949699" y="6173465"/>
                  </a:lnTo>
                  <a:lnTo>
                    <a:pt x="3924299" y="6142445"/>
                  </a:lnTo>
                  <a:lnTo>
                    <a:pt x="3886199" y="6111680"/>
                  </a:lnTo>
                  <a:lnTo>
                    <a:pt x="3860799" y="6081170"/>
                  </a:lnTo>
                  <a:lnTo>
                    <a:pt x="3822699" y="6050917"/>
                  </a:lnTo>
                  <a:lnTo>
                    <a:pt x="3784599" y="6020923"/>
                  </a:lnTo>
                  <a:lnTo>
                    <a:pt x="3759199" y="5991190"/>
                  </a:lnTo>
                  <a:lnTo>
                    <a:pt x="3721099" y="5961719"/>
                  </a:lnTo>
                  <a:lnTo>
                    <a:pt x="3682999" y="5932512"/>
                  </a:lnTo>
                  <a:lnTo>
                    <a:pt x="3657599" y="5903570"/>
                  </a:lnTo>
                  <a:lnTo>
                    <a:pt x="3619499" y="5874894"/>
                  </a:lnTo>
                  <a:lnTo>
                    <a:pt x="3581399" y="5846488"/>
                  </a:lnTo>
                  <a:lnTo>
                    <a:pt x="3543299" y="5818351"/>
                  </a:lnTo>
                  <a:lnTo>
                    <a:pt x="3517899" y="5790486"/>
                  </a:lnTo>
                  <a:lnTo>
                    <a:pt x="3479799" y="5762894"/>
                  </a:lnTo>
                  <a:lnTo>
                    <a:pt x="3441699" y="5735577"/>
                  </a:lnTo>
                  <a:lnTo>
                    <a:pt x="3403599" y="5708536"/>
                  </a:lnTo>
                  <a:lnTo>
                    <a:pt x="3365499" y="5681773"/>
                  </a:lnTo>
                  <a:lnTo>
                    <a:pt x="3327399" y="5655289"/>
                  </a:lnTo>
                  <a:lnTo>
                    <a:pt x="3301999" y="5629087"/>
                  </a:lnTo>
                  <a:lnTo>
                    <a:pt x="3263899" y="5603168"/>
                  </a:lnTo>
                  <a:lnTo>
                    <a:pt x="3225799" y="5577532"/>
                  </a:lnTo>
                  <a:lnTo>
                    <a:pt x="3187699" y="5552183"/>
                  </a:lnTo>
                  <a:lnTo>
                    <a:pt x="3149599" y="5527121"/>
                  </a:lnTo>
                  <a:lnTo>
                    <a:pt x="3111499" y="5502348"/>
                  </a:lnTo>
                  <a:lnTo>
                    <a:pt x="3073399" y="5477866"/>
                  </a:lnTo>
                  <a:lnTo>
                    <a:pt x="3035299" y="5453676"/>
                  </a:lnTo>
                  <a:lnTo>
                    <a:pt x="2997199" y="5429780"/>
                  </a:lnTo>
                  <a:lnTo>
                    <a:pt x="2959099" y="5406179"/>
                  </a:lnTo>
                  <a:lnTo>
                    <a:pt x="2920999" y="5382875"/>
                  </a:lnTo>
                  <a:lnTo>
                    <a:pt x="2882899" y="5359869"/>
                  </a:lnTo>
                  <a:lnTo>
                    <a:pt x="2844799" y="5337164"/>
                  </a:lnTo>
                  <a:lnTo>
                    <a:pt x="2806699" y="5314760"/>
                  </a:lnTo>
                  <a:lnTo>
                    <a:pt x="2755899" y="5292660"/>
                  </a:lnTo>
                  <a:lnTo>
                    <a:pt x="2717799" y="5270865"/>
                  </a:lnTo>
                  <a:lnTo>
                    <a:pt x="2679699" y="5249376"/>
                  </a:lnTo>
                  <a:lnTo>
                    <a:pt x="2641599" y="5228195"/>
                  </a:lnTo>
                  <a:lnTo>
                    <a:pt x="2603499" y="5207324"/>
                  </a:lnTo>
                  <a:lnTo>
                    <a:pt x="2565399" y="5186764"/>
                  </a:lnTo>
                  <a:lnTo>
                    <a:pt x="2527299" y="5166517"/>
                  </a:lnTo>
                  <a:lnTo>
                    <a:pt x="2476499" y="5146584"/>
                  </a:lnTo>
                  <a:lnTo>
                    <a:pt x="2438399" y="5126967"/>
                  </a:lnTo>
                  <a:lnTo>
                    <a:pt x="2400299" y="5107668"/>
                  </a:lnTo>
                  <a:lnTo>
                    <a:pt x="2362199" y="5088687"/>
                  </a:lnTo>
                  <a:lnTo>
                    <a:pt x="2311399" y="5070028"/>
                  </a:lnTo>
                  <a:lnTo>
                    <a:pt x="2273299" y="5051691"/>
                  </a:lnTo>
                  <a:lnTo>
                    <a:pt x="2235199" y="5033678"/>
                  </a:lnTo>
                  <a:lnTo>
                    <a:pt x="2184399" y="5015990"/>
                  </a:lnTo>
                  <a:lnTo>
                    <a:pt x="2146299" y="4998629"/>
                  </a:lnTo>
                  <a:lnTo>
                    <a:pt x="2108199" y="4981597"/>
                  </a:lnTo>
                  <a:lnTo>
                    <a:pt x="2057399" y="4964896"/>
                  </a:lnTo>
                  <a:lnTo>
                    <a:pt x="2019299" y="4948526"/>
                  </a:lnTo>
                  <a:lnTo>
                    <a:pt x="1981199" y="4932489"/>
                  </a:lnTo>
                  <a:lnTo>
                    <a:pt x="1930399" y="4916787"/>
                  </a:lnTo>
                  <a:lnTo>
                    <a:pt x="1892299" y="4901422"/>
                  </a:lnTo>
                  <a:lnTo>
                    <a:pt x="1841499" y="4886396"/>
                  </a:lnTo>
                  <a:lnTo>
                    <a:pt x="1803399" y="4871709"/>
                  </a:lnTo>
                  <a:lnTo>
                    <a:pt x="1765299" y="4857363"/>
                  </a:lnTo>
                  <a:lnTo>
                    <a:pt x="1714499" y="4843360"/>
                  </a:lnTo>
                  <a:lnTo>
                    <a:pt x="1676399" y="4829702"/>
                  </a:lnTo>
                  <a:lnTo>
                    <a:pt x="1625599" y="4816389"/>
                  </a:lnTo>
                  <a:lnTo>
                    <a:pt x="1587499" y="4803425"/>
                  </a:lnTo>
                  <a:lnTo>
                    <a:pt x="1536699" y="4790809"/>
                  </a:lnTo>
                  <a:lnTo>
                    <a:pt x="1498599" y="4778545"/>
                  </a:lnTo>
                  <a:lnTo>
                    <a:pt x="1447799" y="4766633"/>
                  </a:lnTo>
                  <a:lnTo>
                    <a:pt x="1409699" y="4755074"/>
                  </a:lnTo>
                  <a:lnTo>
                    <a:pt x="1358899" y="4743872"/>
                  </a:lnTo>
                  <a:lnTo>
                    <a:pt x="1320799" y="4733027"/>
                  </a:lnTo>
                  <a:lnTo>
                    <a:pt x="1269999" y="4722540"/>
                  </a:lnTo>
                  <a:lnTo>
                    <a:pt x="1219199" y="4712414"/>
                  </a:lnTo>
                  <a:lnTo>
                    <a:pt x="1181099" y="4702649"/>
                  </a:lnTo>
                  <a:lnTo>
                    <a:pt x="1130299" y="4693248"/>
                  </a:lnTo>
                  <a:lnTo>
                    <a:pt x="1092199" y="4684213"/>
                  </a:lnTo>
                  <a:lnTo>
                    <a:pt x="1041399" y="4675544"/>
                  </a:lnTo>
                  <a:lnTo>
                    <a:pt x="990599" y="4667243"/>
                  </a:lnTo>
                  <a:lnTo>
                    <a:pt x="952499" y="4659312"/>
                  </a:lnTo>
                  <a:lnTo>
                    <a:pt x="901699" y="4651752"/>
                  </a:lnTo>
                  <a:lnTo>
                    <a:pt x="850899" y="4644566"/>
                  </a:lnTo>
                  <a:lnTo>
                    <a:pt x="812799" y="4637754"/>
                  </a:lnTo>
                  <a:lnTo>
                    <a:pt x="761999" y="4631318"/>
                  </a:lnTo>
                  <a:lnTo>
                    <a:pt x="711199" y="4625260"/>
                  </a:lnTo>
                  <a:lnTo>
                    <a:pt x="673099" y="4619582"/>
                  </a:lnTo>
                  <a:lnTo>
                    <a:pt x="622299" y="4614284"/>
                  </a:lnTo>
                  <a:lnTo>
                    <a:pt x="571499" y="4609369"/>
                  </a:lnTo>
                  <a:lnTo>
                    <a:pt x="533399" y="4604838"/>
                  </a:lnTo>
                  <a:lnTo>
                    <a:pt x="482599" y="4600692"/>
                  </a:lnTo>
                  <a:lnTo>
                    <a:pt x="431799" y="4596934"/>
                  </a:lnTo>
                  <a:lnTo>
                    <a:pt x="380999" y="4593565"/>
                  </a:lnTo>
                  <a:lnTo>
                    <a:pt x="342899" y="4590586"/>
                  </a:lnTo>
                  <a:lnTo>
                    <a:pt x="292099" y="4588000"/>
                  </a:lnTo>
                  <a:lnTo>
                    <a:pt x="241299" y="4585806"/>
                  </a:lnTo>
                  <a:lnTo>
                    <a:pt x="190499" y="4584008"/>
                  </a:lnTo>
                  <a:lnTo>
                    <a:pt x="139699" y="4582607"/>
                  </a:lnTo>
                  <a:lnTo>
                    <a:pt x="101599" y="4581605"/>
                  </a:lnTo>
                  <a:lnTo>
                    <a:pt x="50799" y="4581002"/>
                  </a:lnTo>
                  <a:lnTo>
                    <a:pt x="0" y="4580800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9"/>
            <p:cNvSpPr/>
            <p:nvPr/>
          </p:nvSpPr>
          <p:spPr>
            <a:xfrm>
              <a:off x="9949694" y="3822923"/>
              <a:ext cx="6540500" cy="6464300"/>
            </a:xfrm>
            <a:custGeom>
              <a:rect b="b" l="l" r="r" t="t"/>
              <a:pathLst>
                <a:path extrusionOk="0" h="6464300" w="6540500">
                  <a:moveTo>
                    <a:pt x="0" y="2918139"/>
                  </a:moveTo>
                  <a:lnTo>
                    <a:pt x="0" y="0"/>
                  </a:lnTo>
                  <a:lnTo>
                    <a:pt x="50799" y="219"/>
                  </a:lnTo>
                  <a:lnTo>
                    <a:pt x="101599" y="877"/>
                  </a:lnTo>
                  <a:lnTo>
                    <a:pt x="152399" y="1972"/>
                  </a:lnTo>
                  <a:lnTo>
                    <a:pt x="215899" y="3502"/>
                  </a:lnTo>
                  <a:lnTo>
                    <a:pt x="266699" y="5465"/>
                  </a:lnTo>
                  <a:lnTo>
                    <a:pt x="317499" y="7860"/>
                  </a:lnTo>
                  <a:lnTo>
                    <a:pt x="368299" y="10685"/>
                  </a:lnTo>
                  <a:lnTo>
                    <a:pt x="419099" y="13938"/>
                  </a:lnTo>
                  <a:lnTo>
                    <a:pt x="482599" y="17618"/>
                  </a:lnTo>
                  <a:lnTo>
                    <a:pt x="533399" y="21723"/>
                  </a:lnTo>
                  <a:lnTo>
                    <a:pt x="584199" y="26251"/>
                  </a:lnTo>
                  <a:lnTo>
                    <a:pt x="634999" y="31200"/>
                  </a:lnTo>
                  <a:lnTo>
                    <a:pt x="685799" y="36570"/>
                  </a:lnTo>
                  <a:lnTo>
                    <a:pt x="749299" y="42357"/>
                  </a:lnTo>
                  <a:lnTo>
                    <a:pt x="800099" y="48561"/>
                  </a:lnTo>
                  <a:lnTo>
                    <a:pt x="850899" y="55180"/>
                  </a:lnTo>
                  <a:lnTo>
                    <a:pt x="901699" y="62212"/>
                  </a:lnTo>
                  <a:lnTo>
                    <a:pt x="952499" y="69655"/>
                  </a:lnTo>
                  <a:lnTo>
                    <a:pt x="1003299" y="77508"/>
                  </a:lnTo>
                  <a:lnTo>
                    <a:pt x="1054099" y="85769"/>
                  </a:lnTo>
                  <a:lnTo>
                    <a:pt x="1104899" y="94437"/>
                  </a:lnTo>
                  <a:lnTo>
                    <a:pt x="1155699" y="103509"/>
                  </a:lnTo>
                  <a:lnTo>
                    <a:pt x="1206499" y="112984"/>
                  </a:lnTo>
                  <a:lnTo>
                    <a:pt x="1269999" y="122860"/>
                  </a:lnTo>
                  <a:lnTo>
                    <a:pt x="1320799" y="133136"/>
                  </a:lnTo>
                  <a:lnTo>
                    <a:pt x="1371599" y="143810"/>
                  </a:lnTo>
                  <a:lnTo>
                    <a:pt x="1422399" y="154881"/>
                  </a:lnTo>
                  <a:lnTo>
                    <a:pt x="1473199" y="166345"/>
                  </a:lnTo>
                  <a:lnTo>
                    <a:pt x="1523999" y="178203"/>
                  </a:lnTo>
                  <a:lnTo>
                    <a:pt x="1574799" y="190452"/>
                  </a:lnTo>
                  <a:lnTo>
                    <a:pt x="1625599" y="203090"/>
                  </a:lnTo>
                  <a:lnTo>
                    <a:pt x="1663699" y="216116"/>
                  </a:lnTo>
                  <a:lnTo>
                    <a:pt x="1714499" y="229529"/>
                  </a:lnTo>
                  <a:lnTo>
                    <a:pt x="1765299" y="243325"/>
                  </a:lnTo>
                  <a:lnTo>
                    <a:pt x="1816099" y="257505"/>
                  </a:lnTo>
                  <a:lnTo>
                    <a:pt x="1866899" y="272065"/>
                  </a:lnTo>
                  <a:lnTo>
                    <a:pt x="1917699" y="287005"/>
                  </a:lnTo>
                  <a:lnTo>
                    <a:pt x="1968499" y="302323"/>
                  </a:lnTo>
                  <a:lnTo>
                    <a:pt x="2019299" y="318016"/>
                  </a:lnTo>
                  <a:lnTo>
                    <a:pt x="2070099" y="334084"/>
                  </a:lnTo>
                  <a:lnTo>
                    <a:pt x="2108199" y="350525"/>
                  </a:lnTo>
                  <a:lnTo>
                    <a:pt x="2158999" y="367336"/>
                  </a:lnTo>
                  <a:lnTo>
                    <a:pt x="2209799" y="384517"/>
                  </a:lnTo>
                  <a:lnTo>
                    <a:pt x="2260599" y="402065"/>
                  </a:lnTo>
                  <a:lnTo>
                    <a:pt x="2311399" y="419980"/>
                  </a:lnTo>
                  <a:lnTo>
                    <a:pt x="2349499" y="438258"/>
                  </a:lnTo>
                  <a:lnTo>
                    <a:pt x="2400299" y="456899"/>
                  </a:lnTo>
                  <a:lnTo>
                    <a:pt x="2451099" y="475901"/>
                  </a:lnTo>
                  <a:lnTo>
                    <a:pt x="2501899" y="495261"/>
                  </a:lnTo>
                  <a:lnTo>
                    <a:pt x="2539999" y="514980"/>
                  </a:lnTo>
                  <a:lnTo>
                    <a:pt x="2590799" y="535054"/>
                  </a:lnTo>
                  <a:lnTo>
                    <a:pt x="2641599" y="555482"/>
                  </a:lnTo>
                  <a:lnTo>
                    <a:pt x="2679699" y="576263"/>
                  </a:lnTo>
                  <a:lnTo>
                    <a:pt x="2730499" y="597394"/>
                  </a:lnTo>
                  <a:lnTo>
                    <a:pt x="2781299" y="618874"/>
                  </a:lnTo>
                  <a:lnTo>
                    <a:pt x="2819399" y="640702"/>
                  </a:lnTo>
                  <a:lnTo>
                    <a:pt x="2870199" y="662875"/>
                  </a:lnTo>
                  <a:lnTo>
                    <a:pt x="2920999" y="685393"/>
                  </a:lnTo>
                  <a:lnTo>
                    <a:pt x="2959099" y="708252"/>
                  </a:lnTo>
                  <a:lnTo>
                    <a:pt x="3009899" y="731452"/>
                  </a:lnTo>
                  <a:lnTo>
                    <a:pt x="3047999" y="754991"/>
                  </a:lnTo>
                  <a:lnTo>
                    <a:pt x="3098799" y="778868"/>
                  </a:lnTo>
                  <a:lnTo>
                    <a:pt x="3136899" y="803079"/>
                  </a:lnTo>
                  <a:lnTo>
                    <a:pt x="3187699" y="827625"/>
                  </a:lnTo>
                  <a:lnTo>
                    <a:pt x="3225799" y="852503"/>
                  </a:lnTo>
                  <a:lnTo>
                    <a:pt x="3276599" y="877711"/>
                  </a:lnTo>
                  <a:lnTo>
                    <a:pt x="3314699" y="903248"/>
                  </a:lnTo>
                  <a:lnTo>
                    <a:pt x="3365499" y="929112"/>
                  </a:lnTo>
                  <a:lnTo>
                    <a:pt x="3403599" y="955302"/>
                  </a:lnTo>
                  <a:lnTo>
                    <a:pt x="3441699" y="981815"/>
                  </a:lnTo>
                  <a:lnTo>
                    <a:pt x="3492499" y="1008650"/>
                  </a:lnTo>
                  <a:lnTo>
                    <a:pt x="3530599" y="1035806"/>
                  </a:lnTo>
                  <a:lnTo>
                    <a:pt x="3568699" y="1063280"/>
                  </a:lnTo>
                  <a:lnTo>
                    <a:pt x="3619499" y="1091072"/>
                  </a:lnTo>
                  <a:lnTo>
                    <a:pt x="3657599" y="1119178"/>
                  </a:lnTo>
                  <a:lnTo>
                    <a:pt x="3695699" y="1147598"/>
                  </a:lnTo>
                  <a:lnTo>
                    <a:pt x="3746499" y="1176331"/>
                  </a:lnTo>
                  <a:lnTo>
                    <a:pt x="3784599" y="1205373"/>
                  </a:lnTo>
                  <a:lnTo>
                    <a:pt x="3822699" y="1234724"/>
                  </a:lnTo>
                  <a:lnTo>
                    <a:pt x="3860799" y="1264382"/>
                  </a:lnTo>
                  <a:lnTo>
                    <a:pt x="3898899" y="1294345"/>
                  </a:lnTo>
                  <a:lnTo>
                    <a:pt x="3949699" y="1324611"/>
                  </a:lnTo>
                  <a:lnTo>
                    <a:pt x="3987799" y="1355179"/>
                  </a:lnTo>
                  <a:lnTo>
                    <a:pt x="4025899" y="1386048"/>
                  </a:lnTo>
                  <a:lnTo>
                    <a:pt x="4063999" y="1417214"/>
                  </a:lnTo>
                  <a:lnTo>
                    <a:pt x="4102099" y="1448678"/>
                  </a:lnTo>
                  <a:lnTo>
                    <a:pt x="4140199" y="1480436"/>
                  </a:lnTo>
                  <a:lnTo>
                    <a:pt x="4178299" y="1512488"/>
                  </a:lnTo>
                  <a:lnTo>
                    <a:pt x="4216399" y="1544832"/>
                  </a:lnTo>
                  <a:lnTo>
                    <a:pt x="4254499" y="1577466"/>
                  </a:lnTo>
                  <a:lnTo>
                    <a:pt x="4292599" y="1610388"/>
                  </a:lnTo>
                  <a:lnTo>
                    <a:pt x="4368799" y="1677090"/>
                  </a:lnTo>
                  <a:lnTo>
                    <a:pt x="4444999" y="1744925"/>
                  </a:lnTo>
                  <a:lnTo>
                    <a:pt x="4521199" y="1813879"/>
                  </a:lnTo>
                  <a:lnTo>
                    <a:pt x="4597399" y="1883940"/>
                  </a:lnTo>
                  <a:lnTo>
                    <a:pt x="4622799" y="1919380"/>
                  </a:lnTo>
                  <a:lnTo>
                    <a:pt x="4660899" y="1955093"/>
                  </a:lnTo>
                  <a:lnTo>
                    <a:pt x="4737099" y="2027325"/>
                  </a:lnTo>
                  <a:lnTo>
                    <a:pt x="4762499" y="2063841"/>
                  </a:lnTo>
                  <a:lnTo>
                    <a:pt x="4838699" y="2137667"/>
                  </a:lnTo>
                  <a:lnTo>
                    <a:pt x="4864099" y="2174972"/>
                  </a:lnTo>
                  <a:lnTo>
                    <a:pt x="4940299" y="2250360"/>
                  </a:lnTo>
                  <a:lnTo>
                    <a:pt x="4965699" y="2288440"/>
                  </a:lnTo>
                  <a:lnTo>
                    <a:pt x="5003799" y="2326774"/>
                  </a:lnTo>
                  <a:lnTo>
                    <a:pt x="5029199" y="2365360"/>
                  </a:lnTo>
                  <a:lnTo>
                    <a:pt x="5067299" y="2404198"/>
                  </a:lnTo>
                  <a:lnTo>
                    <a:pt x="5092699" y="2443286"/>
                  </a:lnTo>
                  <a:lnTo>
                    <a:pt x="5130799" y="2482621"/>
                  </a:lnTo>
                  <a:lnTo>
                    <a:pt x="5156199" y="2522203"/>
                  </a:lnTo>
                  <a:lnTo>
                    <a:pt x="5194299" y="2562029"/>
                  </a:lnTo>
                  <a:lnTo>
                    <a:pt x="5219699" y="2602098"/>
                  </a:lnTo>
                  <a:lnTo>
                    <a:pt x="5257799" y="2642407"/>
                  </a:lnTo>
                  <a:lnTo>
                    <a:pt x="5308599" y="2723744"/>
                  </a:lnTo>
                  <a:lnTo>
                    <a:pt x="5346699" y="2764767"/>
                  </a:lnTo>
                  <a:lnTo>
                    <a:pt x="5422899" y="2889235"/>
                  </a:lnTo>
                  <a:lnTo>
                    <a:pt x="5460999" y="2931185"/>
                  </a:lnTo>
                  <a:lnTo>
                    <a:pt x="5537199" y="3058395"/>
                  </a:lnTo>
                  <a:lnTo>
                    <a:pt x="5689599" y="3318777"/>
                  </a:lnTo>
                  <a:lnTo>
                    <a:pt x="5867399" y="3632195"/>
                  </a:lnTo>
                  <a:lnTo>
                    <a:pt x="5880099" y="3677785"/>
                  </a:lnTo>
                  <a:lnTo>
                    <a:pt x="5956299" y="3815742"/>
                  </a:lnTo>
                  <a:lnTo>
                    <a:pt x="5968999" y="3862117"/>
                  </a:lnTo>
                  <a:lnTo>
                    <a:pt x="5994399" y="3908685"/>
                  </a:lnTo>
                  <a:lnTo>
                    <a:pt x="6007099" y="3955443"/>
                  </a:lnTo>
                  <a:lnTo>
                    <a:pt x="6057899" y="4049525"/>
                  </a:lnTo>
                  <a:lnTo>
                    <a:pt x="6070599" y="4096844"/>
                  </a:lnTo>
                  <a:lnTo>
                    <a:pt x="6095999" y="4144348"/>
                  </a:lnTo>
                  <a:lnTo>
                    <a:pt x="6121399" y="4239899"/>
                  </a:lnTo>
                  <a:lnTo>
                    <a:pt x="6146799" y="4287943"/>
                  </a:lnTo>
                  <a:lnTo>
                    <a:pt x="6159499" y="4336165"/>
                  </a:lnTo>
                  <a:lnTo>
                    <a:pt x="6184899" y="4384562"/>
                  </a:lnTo>
                  <a:lnTo>
                    <a:pt x="6210299" y="4481874"/>
                  </a:lnTo>
                  <a:lnTo>
                    <a:pt x="6235699" y="4530787"/>
                  </a:lnTo>
                  <a:lnTo>
                    <a:pt x="6311899" y="4827743"/>
                  </a:lnTo>
                  <a:lnTo>
                    <a:pt x="6337299" y="4877801"/>
                  </a:lnTo>
                  <a:lnTo>
                    <a:pt x="6375399" y="5028906"/>
                  </a:lnTo>
                  <a:lnTo>
                    <a:pt x="6375399" y="5079580"/>
                  </a:lnTo>
                  <a:lnTo>
                    <a:pt x="6438899" y="5335167"/>
                  </a:lnTo>
                  <a:lnTo>
                    <a:pt x="6438899" y="5386716"/>
                  </a:lnTo>
                  <a:lnTo>
                    <a:pt x="6464299" y="5490232"/>
                  </a:lnTo>
                  <a:lnTo>
                    <a:pt x="6464299" y="5542195"/>
                  </a:lnTo>
                  <a:lnTo>
                    <a:pt x="6489699" y="5646525"/>
                  </a:lnTo>
                  <a:lnTo>
                    <a:pt x="6489699" y="5698888"/>
                  </a:lnTo>
                  <a:lnTo>
                    <a:pt x="6502399" y="5751381"/>
                  </a:lnTo>
                  <a:lnTo>
                    <a:pt x="6502399" y="5804002"/>
                  </a:lnTo>
                  <a:lnTo>
                    <a:pt x="6515099" y="5856749"/>
                  </a:lnTo>
                  <a:lnTo>
                    <a:pt x="6515099" y="5962616"/>
                  </a:lnTo>
                  <a:lnTo>
                    <a:pt x="6527799" y="6015732"/>
                  </a:lnTo>
                  <a:lnTo>
                    <a:pt x="6527799" y="6122322"/>
                  </a:lnTo>
                  <a:lnTo>
                    <a:pt x="6540499" y="6175793"/>
                  </a:lnTo>
                  <a:lnTo>
                    <a:pt x="6540499" y="6464076"/>
                  </a:lnTo>
                  <a:lnTo>
                    <a:pt x="3632199" y="6464076"/>
                  </a:lnTo>
                  <a:lnTo>
                    <a:pt x="3632199" y="6408173"/>
                  </a:lnTo>
                  <a:lnTo>
                    <a:pt x="3619499" y="6360146"/>
                  </a:lnTo>
                  <a:lnTo>
                    <a:pt x="3619499" y="6217065"/>
                  </a:lnTo>
                  <a:lnTo>
                    <a:pt x="3606799" y="6169718"/>
                  </a:lnTo>
                  <a:lnTo>
                    <a:pt x="3606799" y="6122550"/>
                  </a:lnTo>
                  <a:lnTo>
                    <a:pt x="3594099" y="6075566"/>
                  </a:lnTo>
                  <a:lnTo>
                    <a:pt x="3594099" y="6028770"/>
                  </a:lnTo>
                  <a:lnTo>
                    <a:pt x="3581399" y="5982165"/>
                  </a:lnTo>
                  <a:lnTo>
                    <a:pt x="3581399" y="5935755"/>
                  </a:lnTo>
                  <a:lnTo>
                    <a:pt x="3555999" y="5843538"/>
                  </a:lnTo>
                  <a:lnTo>
                    <a:pt x="3555999" y="5797739"/>
                  </a:lnTo>
                  <a:lnTo>
                    <a:pt x="3416299" y="5308740"/>
                  </a:lnTo>
                  <a:lnTo>
                    <a:pt x="3390899" y="5265733"/>
                  </a:lnTo>
                  <a:lnTo>
                    <a:pt x="3365499" y="5180497"/>
                  </a:lnTo>
                  <a:lnTo>
                    <a:pt x="3340099" y="5138276"/>
                  </a:lnTo>
                  <a:lnTo>
                    <a:pt x="3327399" y="5096326"/>
                  </a:lnTo>
                  <a:lnTo>
                    <a:pt x="3301999" y="5054649"/>
                  </a:lnTo>
                  <a:lnTo>
                    <a:pt x="3289299" y="5013250"/>
                  </a:lnTo>
                  <a:lnTo>
                    <a:pt x="3263899" y="4972133"/>
                  </a:lnTo>
                  <a:lnTo>
                    <a:pt x="3251199" y="4931302"/>
                  </a:lnTo>
                  <a:lnTo>
                    <a:pt x="3225799" y="4890760"/>
                  </a:lnTo>
                  <a:lnTo>
                    <a:pt x="3213099" y="4850512"/>
                  </a:lnTo>
                  <a:lnTo>
                    <a:pt x="3136899" y="4731568"/>
                  </a:lnTo>
                  <a:lnTo>
                    <a:pt x="3111499" y="4692533"/>
                  </a:lnTo>
                  <a:lnTo>
                    <a:pt x="3098799" y="4653812"/>
                  </a:lnTo>
                  <a:lnTo>
                    <a:pt x="3022599" y="4539565"/>
                  </a:lnTo>
                  <a:lnTo>
                    <a:pt x="2946399" y="4428279"/>
                  </a:lnTo>
                  <a:lnTo>
                    <a:pt x="2895599" y="4355785"/>
                  </a:lnTo>
                  <a:lnTo>
                    <a:pt x="2857499" y="4320059"/>
                  </a:lnTo>
                  <a:lnTo>
                    <a:pt x="2806699" y="4249668"/>
                  </a:lnTo>
                  <a:lnTo>
                    <a:pt x="2781299" y="4215011"/>
                  </a:lnTo>
                  <a:lnTo>
                    <a:pt x="2743199" y="4180718"/>
                  </a:lnTo>
                  <a:lnTo>
                    <a:pt x="2692399" y="4113241"/>
                  </a:lnTo>
                  <a:lnTo>
                    <a:pt x="2654299" y="4080064"/>
                  </a:lnTo>
                  <a:lnTo>
                    <a:pt x="2628899" y="4047267"/>
                  </a:lnTo>
                  <a:lnTo>
                    <a:pt x="2590799" y="4014855"/>
                  </a:lnTo>
                  <a:lnTo>
                    <a:pt x="2565399" y="3982829"/>
                  </a:lnTo>
                  <a:lnTo>
                    <a:pt x="2527299" y="3951196"/>
                  </a:lnTo>
                  <a:lnTo>
                    <a:pt x="2501899" y="3919958"/>
                  </a:lnTo>
                  <a:lnTo>
                    <a:pt x="2463799" y="3889120"/>
                  </a:lnTo>
                  <a:lnTo>
                    <a:pt x="2438399" y="3858685"/>
                  </a:lnTo>
                  <a:lnTo>
                    <a:pt x="2400299" y="3828658"/>
                  </a:lnTo>
                  <a:lnTo>
                    <a:pt x="2362199" y="3799042"/>
                  </a:lnTo>
                  <a:lnTo>
                    <a:pt x="2336799" y="3769841"/>
                  </a:lnTo>
                  <a:lnTo>
                    <a:pt x="2298699" y="3741059"/>
                  </a:lnTo>
                  <a:lnTo>
                    <a:pt x="2260599" y="3712701"/>
                  </a:lnTo>
                  <a:lnTo>
                    <a:pt x="2222499" y="3684769"/>
                  </a:lnTo>
                  <a:lnTo>
                    <a:pt x="2197099" y="3657269"/>
                  </a:lnTo>
                  <a:lnTo>
                    <a:pt x="2158999" y="3630203"/>
                  </a:lnTo>
                  <a:lnTo>
                    <a:pt x="2120899" y="3603576"/>
                  </a:lnTo>
                  <a:lnTo>
                    <a:pt x="2082799" y="3577392"/>
                  </a:lnTo>
                  <a:lnTo>
                    <a:pt x="2044699" y="3551655"/>
                  </a:lnTo>
                  <a:lnTo>
                    <a:pt x="2006599" y="3526368"/>
                  </a:lnTo>
                  <a:lnTo>
                    <a:pt x="1968499" y="3501535"/>
                  </a:lnTo>
                  <a:lnTo>
                    <a:pt x="1930399" y="3477161"/>
                  </a:lnTo>
                  <a:lnTo>
                    <a:pt x="1892299" y="3453250"/>
                  </a:lnTo>
                  <a:lnTo>
                    <a:pt x="1854199" y="3429804"/>
                  </a:lnTo>
                  <a:lnTo>
                    <a:pt x="1816099" y="3406829"/>
                  </a:lnTo>
                  <a:lnTo>
                    <a:pt x="1777999" y="3384328"/>
                  </a:lnTo>
                  <a:lnTo>
                    <a:pt x="1739899" y="3362305"/>
                  </a:lnTo>
                  <a:lnTo>
                    <a:pt x="1701799" y="3340764"/>
                  </a:lnTo>
                  <a:lnTo>
                    <a:pt x="1650999" y="3319709"/>
                  </a:lnTo>
                  <a:lnTo>
                    <a:pt x="1612899" y="3299144"/>
                  </a:lnTo>
                  <a:lnTo>
                    <a:pt x="1574799" y="3279072"/>
                  </a:lnTo>
                  <a:lnTo>
                    <a:pt x="1536699" y="3259498"/>
                  </a:lnTo>
                  <a:lnTo>
                    <a:pt x="1498599" y="3240426"/>
                  </a:lnTo>
                  <a:lnTo>
                    <a:pt x="1447799" y="3221860"/>
                  </a:lnTo>
                  <a:lnTo>
                    <a:pt x="1409699" y="3203802"/>
                  </a:lnTo>
                  <a:lnTo>
                    <a:pt x="1371599" y="3186259"/>
                  </a:lnTo>
                  <a:lnTo>
                    <a:pt x="1320799" y="3169232"/>
                  </a:lnTo>
                  <a:lnTo>
                    <a:pt x="1282699" y="3152727"/>
                  </a:lnTo>
                  <a:lnTo>
                    <a:pt x="1244599" y="3136747"/>
                  </a:lnTo>
                  <a:lnTo>
                    <a:pt x="1193799" y="3121296"/>
                  </a:lnTo>
                  <a:lnTo>
                    <a:pt x="1155699" y="3106378"/>
                  </a:lnTo>
                  <a:lnTo>
                    <a:pt x="1104899" y="3091997"/>
                  </a:lnTo>
                  <a:lnTo>
                    <a:pt x="1066799" y="3078157"/>
                  </a:lnTo>
                  <a:lnTo>
                    <a:pt x="1015999" y="3064861"/>
                  </a:lnTo>
                  <a:lnTo>
                    <a:pt x="977899" y="3052114"/>
                  </a:lnTo>
                  <a:lnTo>
                    <a:pt x="927099" y="3039920"/>
                  </a:lnTo>
                  <a:lnTo>
                    <a:pt x="888999" y="3028283"/>
                  </a:lnTo>
                  <a:lnTo>
                    <a:pt x="838199" y="3017206"/>
                  </a:lnTo>
                  <a:lnTo>
                    <a:pt x="800099" y="3006693"/>
                  </a:lnTo>
                  <a:lnTo>
                    <a:pt x="749299" y="2996749"/>
                  </a:lnTo>
                  <a:lnTo>
                    <a:pt x="698499" y="2987377"/>
                  </a:lnTo>
                  <a:lnTo>
                    <a:pt x="660399" y="2978581"/>
                  </a:lnTo>
                  <a:lnTo>
                    <a:pt x="609599" y="2970366"/>
                  </a:lnTo>
                  <a:lnTo>
                    <a:pt x="571499" y="2962734"/>
                  </a:lnTo>
                  <a:lnTo>
                    <a:pt x="520699" y="2955691"/>
                  </a:lnTo>
                  <a:lnTo>
                    <a:pt x="469899" y="2949239"/>
                  </a:lnTo>
                  <a:lnTo>
                    <a:pt x="419099" y="2943383"/>
                  </a:lnTo>
                  <a:lnTo>
                    <a:pt x="380999" y="2938127"/>
                  </a:lnTo>
                  <a:lnTo>
                    <a:pt x="330199" y="2933474"/>
                  </a:lnTo>
                  <a:lnTo>
                    <a:pt x="279399" y="2929429"/>
                  </a:lnTo>
                  <a:lnTo>
                    <a:pt x="241299" y="2925996"/>
                  </a:lnTo>
                  <a:lnTo>
                    <a:pt x="190499" y="2923178"/>
                  </a:lnTo>
                  <a:lnTo>
                    <a:pt x="139699" y="2920979"/>
                  </a:lnTo>
                  <a:lnTo>
                    <a:pt x="88899" y="2919404"/>
                  </a:lnTo>
                  <a:lnTo>
                    <a:pt x="38099" y="2918456"/>
                  </a:lnTo>
                  <a:lnTo>
                    <a:pt x="0" y="291813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69"/>
          <p:cNvSpPr txBox="1"/>
          <p:nvPr>
            <p:ph type="title"/>
          </p:nvPr>
        </p:nvSpPr>
        <p:spPr>
          <a:xfrm>
            <a:off x="508000" y="1238200"/>
            <a:ext cx="3611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3" name="Google Shape;563;p69"/>
          <p:cNvSpPr/>
          <p:nvPr/>
        </p:nvSpPr>
        <p:spPr>
          <a:xfrm>
            <a:off x="0" y="3"/>
            <a:ext cx="843000" cy="819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