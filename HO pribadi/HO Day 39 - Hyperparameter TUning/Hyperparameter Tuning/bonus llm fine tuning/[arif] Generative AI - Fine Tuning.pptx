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Sarabun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Sarabun-bold.fntdata"/><Relationship Id="rId10" Type="http://schemas.openxmlformats.org/officeDocument/2006/relationships/slide" Target="slides/slide4.xml"/><Relationship Id="rId21" Type="http://schemas.openxmlformats.org/officeDocument/2006/relationships/font" Target="fonts/Sarabun-regular.fntdata"/><Relationship Id="rId13" Type="http://schemas.openxmlformats.org/officeDocument/2006/relationships/slide" Target="slides/slide7.xml"/><Relationship Id="rId24" Type="http://schemas.openxmlformats.org/officeDocument/2006/relationships/font" Target="fonts/Sarabun-boldItalic.fntdata"/><Relationship Id="rId12" Type="http://schemas.openxmlformats.org/officeDocument/2006/relationships/slide" Target="slides/slide6.xml"/><Relationship Id="rId23" Type="http://schemas.openxmlformats.org/officeDocument/2006/relationships/font" Target="fonts/Sarabun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18ec7800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/>
          </a:p>
        </p:txBody>
      </p:sp>
      <p:sp>
        <p:nvSpPr>
          <p:cNvPr id="89" name="Google Shape;89;g3718ec78002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fa74915f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fa74915f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fa82d05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fa82d05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fa82d052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fa82d052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075cc3a1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075cc3a1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075cc3a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075cc3a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075cc3a1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075cc3a1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075cc3a1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4075cc3a18_0_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075cc3a18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4075cc3a18_0_3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fa74915f2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fa74915f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075cc3a18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4075cc3a18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075cc3a1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075cc3a1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075cc3a1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075cc3a1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075cc3a18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075cc3a1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4800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b="1" i="0" sz="27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>
  <p:cSld name="CUSTOM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75">
          <p15:clr>
            <a:srgbClr val="FA7B17"/>
          </p15:clr>
        </p15:guide>
        <p15:guide id="2" pos="576">
          <p15:clr>
            <a:srgbClr val="FA7B17"/>
          </p15:clr>
        </p15:guide>
        <p15:guide id="3" pos="809">
          <p15:clr>
            <a:srgbClr val="FA7B17"/>
          </p15:clr>
        </p15:guide>
        <p15:guide id="4" pos="1199">
          <p15:clr>
            <a:srgbClr val="FA7B17"/>
          </p15:clr>
        </p15:guide>
        <p15:guide id="5" pos="1432">
          <p15:clr>
            <a:srgbClr val="FA7B17"/>
          </p15:clr>
        </p15:guide>
        <p15:guide id="6" pos="1822">
          <p15:clr>
            <a:srgbClr val="FA7B17"/>
          </p15:clr>
        </p15:guide>
        <p15:guide id="7" pos="2055">
          <p15:clr>
            <a:srgbClr val="FA7B17"/>
          </p15:clr>
        </p15:guide>
        <p15:guide id="8" pos="2445">
          <p15:clr>
            <a:srgbClr val="FA7B17"/>
          </p15:clr>
        </p15:guide>
        <p15:guide id="9" pos="2679">
          <p15:clr>
            <a:srgbClr val="FA7B17"/>
          </p15:clr>
        </p15:guide>
        <p15:guide id="10" pos="3081">
          <p15:clr>
            <a:srgbClr val="FA7B17"/>
          </p15:clr>
        </p15:guide>
        <p15:guide id="11" pos="3315">
          <p15:clr>
            <a:srgbClr val="FA7B17"/>
          </p15:clr>
        </p15:guide>
        <p15:guide id="12" pos="3705">
          <p15:clr>
            <a:srgbClr val="FA7B17"/>
          </p15:clr>
        </p15:guide>
        <p15:guide id="13" pos="3926">
          <p15:clr>
            <a:srgbClr val="FA7B17"/>
          </p15:clr>
        </p15:guide>
        <p15:guide id="14" pos="4314">
          <p15:clr>
            <a:srgbClr val="FA7B17"/>
          </p15:clr>
        </p15:guide>
        <p15:guide id="15" pos="4561">
          <p15:clr>
            <a:srgbClr val="FA7B17"/>
          </p15:clr>
        </p15:guide>
        <p15:guide id="16" pos="4951">
          <p15:clr>
            <a:srgbClr val="FA7B17"/>
          </p15:clr>
        </p15:guide>
        <p15:guide id="17" pos="5184">
          <p15:clr>
            <a:srgbClr val="FA7B17"/>
          </p15:clr>
        </p15:guide>
        <p15:guide id="18" pos="5589">
          <p15:clr>
            <a:srgbClr val="FA7B17"/>
          </p15:clr>
        </p15:guide>
        <p15:guide id="19" orient="horz" pos="1390">
          <p15:clr>
            <a:srgbClr val="FA7B17"/>
          </p15:clr>
        </p15:guide>
        <p15:guide id="20" orient="horz" pos="1171">
          <p15:clr>
            <a:srgbClr val="FA7B17"/>
          </p15:clr>
        </p15:guide>
        <p15:guide id="21" orient="horz" pos="1044">
          <p15:clr>
            <a:srgbClr val="FA7B17"/>
          </p15:clr>
        </p15:guide>
        <p15:guide id="22" orient="horz" pos="821">
          <p15:clr>
            <a:srgbClr val="FA7B17"/>
          </p15:clr>
        </p15:guide>
        <p15:guide id="23" orient="horz" pos="697">
          <p15:clr>
            <a:srgbClr val="FA7B17"/>
          </p15:clr>
        </p15:guide>
        <p15:guide id="24" orient="horz" pos="479">
          <p15:clr>
            <a:srgbClr val="FA7B17"/>
          </p15:clr>
        </p15:guide>
        <p15:guide id="25" orient="horz" pos="351">
          <p15:clr>
            <a:srgbClr val="FA7B17"/>
          </p15:clr>
        </p15:guide>
        <p15:guide id="26" orient="horz" pos="138">
          <p15:clr>
            <a:srgbClr val="FA7B17"/>
          </p15:clr>
        </p15:guide>
        <p15:guide id="27" orient="horz" pos="1503">
          <p15:clr>
            <a:srgbClr val="FA7B17"/>
          </p15:clr>
        </p15:guide>
        <p15:guide id="28" orient="horz" pos="1737">
          <p15:clr>
            <a:srgbClr val="FA7B17"/>
          </p15:clr>
        </p15:guide>
        <p15:guide id="29" orient="horz" pos="1850">
          <p15:clr>
            <a:srgbClr val="FA7B17"/>
          </p15:clr>
        </p15:guide>
        <p15:guide id="30" orient="horz" pos="2069">
          <p15:clr>
            <a:srgbClr val="FA7B17"/>
          </p15:clr>
        </p15:guide>
        <p15:guide id="31" orient="horz" pos="2196">
          <p15:clr>
            <a:srgbClr val="FA7B17"/>
          </p15:clr>
        </p15:guide>
        <p15:guide id="32" orient="horz" pos="2419">
          <p15:clr>
            <a:srgbClr val="FA7B17"/>
          </p15:clr>
        </p15:guide>
        <p15:guide id="33" orient="horz" pos="2528">
          <p15:clr>
            <a:srgbClr val="FA7B17"/>
          </p15:clr>
        </p15:guide>
        <p15:guide id="34" orient="horz" pos="2748">
          <p15:clr>
            <a:srgbClr val="FA7B17"/>
          </p15:clr>
        </p15:guide>
        <p15:guide id="35" orient="horz" pos="2861">
          <p15:clr>
            <a:srgbClr val="FA7B17"/>
          </p15:clr>
        </p15:guide>
        <p15:guide id="36" orient="horz" pos="3102">
          <p15:clr>
            <a:srgbClr val="FA7B17"/>
          </p15:clr>
        </p15:guide>
        <p15:guide id="37" orient="horz" pos="254">
          <p15:clr>
            <a:srgbClr val="6D9EEB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4491879" y="356866"/>
            <a:ext cx="4294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4565650" y="1465675"/>
            <a:ext cx="37893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4800" u="none" cap="none" strike="noStrike">
                <a:solidFill>
                  <a:srgbClr val="26262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7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youtube.com/watch?v=iwwmTCIeqLo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arn.microsoft.com/en-us/azure/ai-foundry/concepts/fine-tuning-overview" TargetMode="External"/><Relationship Id="rId4" Type="http://schemas.openxmlformats.org/officeDocument/2006/relationships/hyperlink" Target="https://learn.microsoft.com/en-us/azure/ai-services/openai/concepts/models?tabs=global-standard%2Cstandard-chat-completions#fine-tuning-models" TargetMode="External"/><Relationship Id="rId5" Type="http://schemas.openxmlformats.org/officeDocument/2006/relationships/hyperlink" Target="https://learn.microsoft.com/en-us/azure/ai-services/openai/tutorials/fine-tune?tabs=python-new%2Ccommand-lin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21"/>
          <p:cNvGrpSpPr/>
          <p:nvPr/>
        </p:nvGrpSpPr>
        <p:grpSpPr>
          <a:xfrm>
            <a:off x="0" y="0"/>
            <a:ext cx="3867150" cy="5143500"/>
            <a:chOff x="0" y="0"/>
            <a:chExt cx="7734300" cy="10287000"/>
          </a:xfrm>
        </p:grpSpPr>
        <p:sp>
          <p:nvSpPr>
            <p:cNvPr id="92" name="Google Shape;92;p21"/>
            <p:cNvSpPr/>
            <p:nvPr/>
          </p:nvSpPr>
          <p:spPr>
            <a:xfrm>
              <a:off x="0" y="0"/>
              <a:ext cx="7734300" cy="10287000"/>
            </a:xfrm>
            <a:custGeom>
              <a:rect b="b" l="l" r="r" t="t"/>
              <a:pathLst>
                <a:path extrusionOk="0" h="10287000" w="7734300">
                  <a:moveTo>
                    <a:pt x="0" y="10287000"/>
                  </a:moveTo>
                  <a:lnTo>
                    <a:pt x="0" y="0"/>
                  </a:lnTo>
                  <a:lnTo>
                    <a:pt x="7734300" y="0"/>
                  </a:lnTo>
                  <a:lnTo>
                    <a:pt x="77343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48A8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1"/>
            <p:cNvSpPr/>
            <p:nvPr/>
          </p:nvSpPr>
          <p:spPr>
            <a:xfrm>
              <a:off x="0" y="360200"/>
              <a:ext cx="7734300" cy="9918700"/>
            </a:xfrm>
            <a:custGeom>
              <a:rect b="b" l="l" r="r" t="t"/>
              <a:pathLst>
                <a:path extrusionOk="0" h="9918700" w="7734300">
                  <a:moveTo>
                    <a:pt x="2039334" y="9918699"/>
                  </a:moveTo>
                  <a:lnTo>
                    <a:pt x="0" y="9918699"/>
                  </a:lnTo>
                  <a:lnTo>
                    <a:pt x="0" y="3492499"/>
                  </a:lnTo>
                  <a:lnTo>
                    <a:pt x="27364" y="3467099"/>
                  </a:lnTo>
                  <a:lnTo>
                    <a:pt x="79941" y="3403599"/>
                  </a:lnTo>
                  <a:lnTo>
                    <a:pt x="132963" y="3352799"/>
                  </a:lnTo>
                  <a:lnTo>
                    <a:pt x="186426" y="3289299"/>
                  </a:lnTo>
                  <a:lnTo>
                    <a:pt x="240329" y="3238499"/>
                  </a:lnTo>
                  <a:lnTo>
                    <a:pt x="294669" y="3174999"/>
                  </a:lnTo>
                  <a:lnTo>
                    <a:pt x="349443" y="3124199"/>
                  </a:lnTo>
                  <a:lnTo>
                    <a:pt x="404648" y="3060699"/>
                  </a:lnTo>
                  <a:lnTo>
                    <a:pt x="460282" y="3009899"/>
                  </a:lnTo>
                  <a:lnTo>
                    <a:pt x="516342" y="2946399"/>
                  </a:lnTo>
                  <a:lnTo>
                    <a:pt x="629729" y="2844799"/>
                  </a:lnTo>
                  <a:lnTo>
                    <a:pt x="687051" y="2781299"/>
                  </a:lnTo>
                  <a:lnTo>
                    <a:pt x="802940" y="2679699"/>
                  </a:lnTo>
                  <a:lnTo>
                    <a:pt x="979843" y="2527299"/>
                  </a:lnTo>
                  <a:lnTo>
                    <a:pt x="1039619" y="2463799"/>
                  </a:lnTo>
                  <a:lnTo>
                    <a:pt x="1221333" y="2311399"/>
                  </a:lnTo>
                  <a:lnTo>
                    <a:pt x="1282692" y="2273299"/>
                  </a:lnTo>
                  <a:lnTo>
                    <a:pt x="1344439" y="2222499"/>
                  </a:lnTo>
                  <a:lnTo>
                    <a:pt x="1595266" y="2019299"/>
                  </a:lnTo>
                  <a:lnTo>
                    <a:pt x="1658919" y="1981199"/>
                  </a:lnTo>
                  <a:lnTo>
                    <a:pt x="1787342" y="1879599"/>
                  </a:lnTo>
                  <a:lnTo>
                    <a:pt x="1852106" y="1841499"/>
                  </a:lnTo>
                  <a:lnTo>
                    <a:pt x="1917236" y="1790699"/>
                  </a:lnTo>
                  <a:lnTo>
                    <a:pt x="1982728" y="1752599"/>
                  </a:lnTo>
                  <a:lnTo>
                    <a:pt x="2048580" y="1701799"/>
                  </a:lnTo>
                  <a:lnTo>
                    <a:pt x="2181353" y="1625599"/>
                  </a:lnTo>
                  <a:lnTo>
                    <a:pt x="2248269" y="1574799"/>
                  </a:lnTo>
                  <a:lnTo>
                    <a:pt x="2383147" y="1498599"/>
                  </a:lnTo>
                  <a:lnTo>
                    <a:pt x="2451103" y="1447799"/>
                  </a:lnTo>
                  <a:lnTo>
                    <a:pt x="2726314" y="1295399"/>
                  </a:lnTo>
                  <a:lnTo>
                    <a:pt x="3220568" y="1028699"/>
                  </a:lnTo>
                  <a:lnTo>
                    <a:pt x="3292446" y="1003299"/>
                  </a:lnTo>
                  <a:lnTo>
                    <a:pt x="3437128" y="927099"/>
                  </a:lnTo>
                  <a:lnTo>
                    <a:pt x="3509927" y="901699"/>
                  </a:lnTo>
                  <a:lnTo>
                    <a:pt x="3583028" y="863599"/>
                  </a:lnTo>
                  <a:lnTo>
                    <a:pt x="3656427" y="838199"/>
                  </a:lnTo>
                  <a:lnTo>
                    <a:pt x="3730123" y="800099"/>
                  </a:lnTo>
                  <a:lnTo>
                    <a:pt x="3804113" y="774699"/>
                  </a:lnTo>
                  <a:lnTo>
                    <a:pt x="3878394" y="736599"/>
                  </a:lnTo>
                  <a:lnTo>
                    <a:pt x="4027818" y="685799"/>
                  </a:lnTo>
                  <a:lnTo>
                    <a:pt x="4102956" y="647699"/>
                  </a:lnTo>
                  <a:lnTo>
                    <a:pt x="4869328" y="393699"/>
                  </a:lnTo>
                  <a:lnTo>
                    <a:pt x="4947406" y="380999"/>
                  </a:lnTo>
                  <a:lnTo>
                    <a:pt x="5104314" y="330199"/>
                  </a:lnTo>
                  <a:lnTo>
                    <a:pt x="5183138" y="317499"/>
                  </a:lnTo>
                  <a:lnTo>
                    <a:pt x="5262205" y="292099"/>
                  </a:lnTo>
                  <a:lnTo>
                    <a:pt x="5341514" y="279399"/>
                  </a:lnTo>
                  <a:lnTo>
                    <a:pt x="5421060" y="253999"/>
                  </a:lnTo>
                  <a:lnTo>
                    <a:pt x="5500842" y="241299"/>
                  </a:lnTo>
                  <a:lnTo>
                    <a:pt x="5580857" y="215899"/>
                  </a:lnTo>
                  <a:lnTo>
                    <a:pt x="5741575" y="190499"/>
                  </a:lnTo>
                  <a:lnTo>
                    <a:pt x="5822273" y="165099"/>
                  </a:lnTo>
                  <a:lnTo>
                    <a:pt x="6393230" y="76199"/>
                  </a:lnTo>
                  <a:lnTo>
                    <a:pt x="6475632" y="76199"/>
                  </a:lnTo>
                  <a:lnTo>
                    <a:pt x="6724032" y="38099"/>
                  </a:lnTo>
                  <a:lnTo>
                    <a:pt x="6807222" y="38099"/>
                  </a:lnTo>
                  <a:lnTo>
                    <a:pt x="6890602" y="25399"/>
                  </a:lnTo>
                  <a:lnTo>
                    <a:pt x="6974170" y="25399"/>
                  </a:lnTo>
                  <a:lnTo>
                    <a:pt x="7057924" y="12699"/>
                  </a:lnTo>
                  <a:lnTo>
                    <a:pt x="7141860" y="12699"/>
                  </a:lnTo>
                  <a:lnTo>
                    <a:pt x="7225975" y="0"/>
                  </a:lnTo>
                  <a:lnTo>
                    <a:pt x="7734299" y="0"/>
                  </a:lnTo>
                  <a:lnTo>
                    <a:pt x="7734299" y="4571999"/>
                  </a:lnTo>
                  <a:lnTo>
                    <a:pt x="7541136" y="4571999"/>
                  </a:lnTo>
                  <a:lnTo>
                    <a:pt x="7493093" y="4584699"/>
                  </a:lnTo>
                  <a:lnTo>
                    <a:pt x="7301955" y="4584699"/>
                  </a:lnTo>
                  <a:lnTo>
                    <a:pt x="7254437" y="4597399"/>
                  </a:lnTo>
                  <a:lnTo>
                    <a:pt x="7159734" y="4597399"/>
                  </a:lnTo>
                  <a:lnTo>
                    <a:pt x="7112551" y="4610099"/>
                  </a:lnTo>
                  <a:lnTo>
                    <a:pt x="7065483" y="4610099"/>
                  </a:lnTo>
                  <a:lnTo>
                    <a:pt x="7018531" y="4622799"/>
                  </a:lnTo>
                  <a:lnTo>
                    <a:pt x="6971697" y="4622799"/>
                  </a:lnTo>
                  <a:lnTo>
                    <a:pt x="6924983" y="4635499"/>
                  </a:lnTo>
                  <a:lnTo>
                    <a:pt x="6878390" y="4635499"/>
                  </a:lnTo>
                  <a:lnTo>
                    <a:pt x="6831919" y="4648199"/>
                  </a:lnTo>
                  <a:lnTo>
                    <a:pt x="6785573" y="4648199"/>
                  </a:lnTo>
                  <a:lnTo>
                    <a:pt x="6693260" y="4673599"/>
                  </a:lnTo>
                  <a:lnTo>
                    <a:pt x="6647296" y="4673599"/>
                  </a:lnTo>
                  <a:lnTo>
                    <a:pt x="6510194" y="4711699"/>
                  </a:lnTo>
                  <a:lnTo>
                    <a:pt x="6464761" y="4711699"/>
                  </a:lnTo>
                  <a:lnTo>
                    <a:pt x="5843809" y="4889499"/>
                  </a:lnTo>
                  <a:lnTo>
                    <a:pt x="5800598" y="4914899"/>
                  </a:lnTo>
                  <a:lnTo>
                    <a:pt x="5671932" y="4952999"/>
                  </a:lnTo>
                  <a:lnTo>
                    <a:pt x="5629373" y="4978399"/>
                  </a:lnTo>
                  <a:lnTo>
                    <a:pt x="5544756" y="5003799"/>
                  </a:lnTo>
                  <a:lnTo>
                    <a:pt x="5502703" y="5029199"/>
                  </a:lnTo>
                  <a:lnTo>
                    <a:pt x="5460821" y="5041899"/>
                  </a:lnTo>
                  <a:lnTo>
                    <a:pt x="5419112" y="5067299"/>
                  </a:lnTo>
                  <a:lnTo>
                    <a:pt x="5377578" y="5079999"/>
                  </a:lnTo>
                  <a:lnTo>
                    <a:pt x="5336221" y="5105399"/>
                  </a:lnTo>
                  <a:lnTo>
                    <a:pt x="5295042" y="5118099"/>
                  </a:lnTo>
                  <a:lnTo>
                    <a:pt x="5254043" y="5143499"/>
                  </a:lnTo>
                  <a:lnTo>
                    <a:pt x="5213225" y="5156199"/>
                  </a:lnTo>
                  <a:lnTo>
                    <a:pt x="5132139" y="5206999"/>
                  </a:lnTo>
                  <a:lnTo>
                    <a:pt x="5091875" y="5219699"/>
                  </a:lnTo>
                  <a:lnTo>
                    <a:pt x="5011910" y="5270499"/>
                  </a:lnTo>
                  <a:lnTo>
                    <a:pt x="4972213" y="5283199"/>
                  </a:lnTo>
                  <a:lnTo>
                    <a:pt x="4854283" y="5359399"/>
                  </a:lnTo>
                  <a:lnTo>
                    <a:pt x="4815365" y="5372099"/>
                  </a:lnTo>
                  <a:lnTo>
                    <a:pt x="4623788" y="5499099"/>
                  </a:lnTo>
                  <a:lnTo>
                    <a:pt x="4437377" y="5626099"/>
                  </a:lnTo>
                  <a:lnTo>
                    <a:pt x="4292101" y="5727699"/>
                  </a:lnTo>
                  <a:lnTo>
                    <a:pt x="4220782" y="5778499"/>
                  </a:lnTo>
                  <a:lnTo>
                    <a:pt x="4185458" y="5816599"/>
                  </a:lnTo>
                  <a:lnTo>
                    <a:pt x="4080845" y="5892799"/>
                  </a:lnTo>
                  <a:lnTo>
                    <a:pt x="4046433" y="5930899"/>
                  </a:lnTo>
                  <a:lnTo>
                    <a:pt x="3978307" y="5981699"/>
                  </a:lnTo>
                  <a:lnTo>
                    <a:pt x="3944596" y="6019799"/>
                  </a:lnTo>
                  <a:lnTo>
                    <a:pt x="3877885" y="6070599"/>
                  </a:lnTo>
                  <a:lnTo>
                    <a:pt x="3844889" y="6108699"/>
                  </a:lnTo>
                  <a:lnTo>
                    <a:pt x="3812134" y="6134099"/>
                  </a:lnTo>
                  <a:lnTo>
                    <a:pt x="3779622" y="6172199"/>
                  </a:lnTo>
                  <a:lnTo>
                    <a:pt x="3747355" y="6197599"/>
                  </a:lnTo>
                  <a:lnTo>
                    <a:pt x="3715334" y="6235699"/>
                  </a:lnTo>
                  <a:lnTo>
                    <a:pt x="3683562" y="6261099"/>
                  </a:lnTo>
                  <a:lnTo>
                    <a:pt x="3652038" y="6299199"/>
                  </a:lnTo>
                  <a:lnTo>
                    <a:pt x="3620766" y="6324599"/>
                  </a:lnTo>
                  <a:lnTo>
                    <a:pt x="3589746" y="6362699"/>
                  </a:lnTo>
                  <a:lnTo>
                    <a:pt x="3558980" y="6388099"/>
                  </a:lnTo>
                  <a:lnTo>
                    <a:pt x="3528470" y="6426199"/>
                  </a:lnTo>
                  <a:lnTo>
                    <a:pt x="3498217" y="6451599"/>
                  </a:lnTo>
                  <a:lnTo>
                    <a:pt x="3468224" y="6489699"/>
                  </a:lnTo>
                  <a:lnTo>
                    <a:pt x="3438491" y="6527799"/>
                  </a:lnTo>
                  <a:lnTo>
                    <a:pt x="3409020" y="6553199"/>
                  </a:lnTo>
                  <a:lnTo>
                    <a:pt x="3379812" y="6591299"/>
                  </a:lnTo>
                  <a:lnTo>
                    <a:pt x="3350870" y="6629399"/>
                  </a:lnTo>
                  <a:lnTo>
                    <a:pt x="3322195" y="6667499"/>
                  </a:lnTo>
                  <a:lnTo>
                    <a:pt x="3293788" y="6692899"/>
                  </a:lnTo>
                  <a:lnTo>
                    <a:pt x="3265651" y="6730999"/>
                  </a:lnTo>
                  <a:lnTo>
                    <a:pt x="3237786" y="6769099"/>
                  </a:lnTo>
                  <a:lnTo>
                    <a:pt x="3210194" y="6807199"/>
                  </a:lnTo>
                  <a:lnTo>
                    <a:pt x="3182877" y="6832599"/>
                  </a:lnTo>
                  <a:lnTo>
                    <a:pt x="3155836" y="6870699"/>
                  </a:lnTo>
                  <a:lnTo>
                    <a:pt x="3129073" y="6908799"/>
                  </a:lnTo>
                  <a:lnTo>
                    <a:pt x="3102590" y="6946899"/>
                  </a:lnTo>
                  <a:lnTo>
                    <a:pt x="3076388" y="6984999"/>
                  </a:lnTo>
                  <a:lnTo>
                    <a:pt x="3050468" y="7023099"/>
                  </a:lnTo>
                  <a:lnTo>
                    <a:pt x="3024833" y="7061199"/>
                  </a:lnTo>
                  <a:lnTo>
                    <a:pt x="2999483" y="7099299"/>
                  </a:lnTo>
                  <a:lnTo>
                    <a:pt x="2974421" y="7137399"/>
                  </a:lnTo>
                  <a:lnTo>
                    <a:pt x="2949649" y="7175499"/>
                  </a:lnTo>
                  <a:lnTo>
                    <a:pt x="2925166" y="7213599"/>
                  </a:lnTo>
                  <a:lnTo>
                    <a:pt x="2900976" y="7251699"/>
                  </a:lnTo>
                  <a:lnTo>
                    <a:pt x="2877080" y="7289799"/>
                  </a:lnTo>
                  <a:lnTo>
                    <a:pt x="2853479" y="7327899"/>
                  </a:lnTo>
                  <a:lnTo>
                    <a:pt x="2830175" y="7365999"/>
                  </a:lnTo>
                  <a:lnTo>
                    <a:pt x="2807170" y="7404099"/>
                  </a:lnTo>
                  <a:lnTo>
                    <a:pt x="2784464" y="7442199"/>
                  </a:lnTo>
                  <a:lnTo>
                    <a:pt x="2762061" y="7480299"/>
                  </a:lnTo>
                  <a:lnTo>
                    <a:pt x="2739961" y="7518399"/>
                  </a:lnTo>
                  <a:lnTo>
                    <a:pt x="2718165" y="7556499"/>
                  </a:lnTo>
                  <a:lnTo>
                    <a:pt x="2696676" y="7594599"/>
                  </a:lnTo>
                  <a:lnTo>
                    <a:pt x="2675495" y="7632699"/>
                  </a:lnTo>
                  <a:lnTo>
                    <a:pt x="2654624" y="7683499"/>
                  </a:lnTo>
                  <a:lnTo>
                    <a:pt x="2634064" y="7721599"/>
                  </a:lnTo>
                  <a:lnTo>
                    <a:pt x="2613817" y="7759699"/>
                  </a:lnTo>
                  <a:lnTo>
                    <a:pt x="2593884" y="7797799"/>
                  </a:lnTo>
                  <a:lnTo>
                    <a:pt x="2574267" y="7835899"/>
                  </a:lnTo>
                  <a:lnTo>
                    <a:pt x="2554968" y="7886699"/>
                  </a:lnTo>
                  <a:lnTo>
                    <a:pt x="2535988" y="7924799"/>
                  </a:lnTo>
                  <a:lnTo>
                    <a:pt x="2517328" y="7962899"/>
                  </a:lnTo>
                  <a:lnTo>
                    <a:pt x="2498991" y="8000999"/>
                  </a:lnTo>
                  <a:lnTo>
                    <a:pt x="2480978" y="8051799"/>
                  </a:lnTo>
                  <a:lnTo>
                    <a:pt x="2463290" y="8089899"/>
                  </a:lnTo>
                  <a:lnTo>
                    <a:pt x="2445930" y="8127999"/>
                  </a:lnTo>
                  <a:lnTo>
                    <a:pt x="2428898" y="8178799"/>
                  </a:lnTo>
                  <a:lnTo>
                    <a:pt x="2412196" y="8216899"/>
                  </a:lnTo>
                  <a:lnTo>
                    <a:pt x="2395826" y="8254999"/>
                  </a:lnTo>
                  <a:lnTo>
                    <a:pt x="2379789" y="8305799"/>
                  </a:lnTo>
                  <a:lnTo>
                    <a:pt x="2364088" y="8343899"/>
                  </a:lnTo>
                  <a:lnTo>
                    <a:pt x="2348723" y="8394699"/>
                  </a:lnTo>
                  <a:lnTo>
                    <a:pt x="2333696" y="8432799"/>
                  </a:lnTo>
                  <a:lnTo>
                    <a:pt x="2319009" y="8470899"/>
                  </a:lnTo>
                  <a:lnTo>
                    <a:pt x="2304663" y="8521699"/>
                  </a:lnTo>
                  <a:lnTo>
                    <a:pt x="2290660" y="8559799"/>
                  </a:lnTo>
                  <a:lnTo>
                    <a:pt x="2277002" y="8610599"/>
                  </a:lnTo>
                  <a:lnTo>
                    <a:pt x="2263690" y="8648699"/>
                  </a:lnTo>
                  <a:lnTo>
                    <a:pt x="2250725" y="8699499"/>
                  </a:lnTo>
                  <a:lnTo>
                    <a:pt x="2238110" y="8737599"/>
                  </a:lnTo>
                  <a:lnTo>
                    <a:pt x="2225845" y="8788399"/>
                  </a:lnTo>
                  <a:lnTo>
                    <a:pt x="2213933" y="8826499"/>
                  </a:lnTo>
                  <a:lnTo>
                    <a:pt x="2202375" y="8877299"/>
                  </a:lnTo>
                  <a:lnTo>
                    <a:pt x="2191172" y="8915399"/>
                  </a:lnTo>
                  <a:lnTo>
                    <a:pt x="2180327" y="8966199"/>
                  </a:lnTo>
                  <a:lnTo>
                    <a:pt x="2169840" y="9016999"/>
                  </a:lnTo>
                  <a:lnTo>
                    <a:pt x="2159714" y="9055099"/>
                  </a:lnTo>
                  <a:lnTo>
                    <a:pt x="2149950" y="9105899"/>
                  </a:lnTo>
                  <a:lnTo>
                    <a:pt x="2140549" y="9143999"/>
                  </a:lnTo>
                  <a:lnTo>
                    <a:pt x="2131513" y="9194799"/>
                  </a:lnTo>
                  <a:lnTo>
                    <a:pt x="2122844" y="9245599"/>
                  </a:lnTo>
                  <a:lnTo>
                    <a:pt x="2114543" y="9283699"/>
                  </a:lnTo>
                  <a:lnTo>
                    <a:pt x="2106612" y="9334499"/>
                  </a:lnTo>
                  <a:lnTo>
                    <a:pt x="2099053" y="9372599"/>
                  </a:lnTo>
                  <a:lnTo>
                    <a:pt x="2091866" y="9423399"/>
                  </a:lnTo>
                  <a:lnTo>
                    <a:pt x="2085054" y="9474199"/>
                  </a:lnTo>
                  <a:lnTo>
                    <a:pt x="2078619" y="9512299"/>
                  </a:lnTo>
                  <a:lnTo>
                    <a:pt x="2072561" y="9563099"/>
                  </a:lnTo>
                  <a:lnTo>
                    <a:pt x="2066882" y="9613899"/>
                  </a:lnTo>
                  <a:lnTo>
                    <a:pt x="2061584" y="9664699"/>
                  </a:lnTo>
                  <a:lnTo>
                    <a:pt x="2056669" y="9702799"/>
                  </a:lnTo>
                  <a:lnTo>
                    <a:pt x="2052138" y="9753599"/>
                  </a:lnTo>
                  <a:lnTo>
                    <a:pt x="2047993" y="9804399"/>
                  </a:lnTo>
                  <a:lnTo>
                    <a:pt x="2044235" y="9842499"/>
                  </a:lnTo>
                  <a:lnTo>
                    <a:pt x="2040865" y="9893299"/>
                  </a:lnTo>
                  <a:lnTo>
                    <a:pt x="2039334" y="9918699"/>
                  </a:lnTo>
                  <a:close/>
                </a:path>
              </a:pathLst>
            </a:custGeom>
            <a:solidFill>
              <a:srgbClr val="F08B3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1"/>
            <p:cNvSpPr/>
            <p:nvPr/>
          </p:nvSpPr>
          <p:spPr>
            <a:xfrm>
              <a:off x="1181100" y="3733799"/>
              <a:ext cx="6553200" cy="6553200"/>
            </a:xfrm>
            <a:custGeom>
              <a:rect b="b" l="l" r="r" t="t"/>
              <a:pathLst>
                <a:path extrusionOk="0" h="6553200" w="6553200">
                  <a:moveTo>
                    <a:pt x="2918139" y="6553183"/>
                  </a:moveTo>
                  <a:lnTo>
                    <a:pt x="0" y="6553183"/>
                  </a:lnTo>
                  <a:lnTo>
                    <a:pt x="219" y="6498946"/>
                  </a:lnTo>
                  <a:lnTo>
                    <a:pt x="877" y="6444813"/>
                  </a:lnTo>
                  <a:lnTo>
                    <a:pt x="1972" y="6390787"/>
                  </a:lnTo>
                  <a:lnTo>
                    <a:pt x="3502" y="6336868"/>
                  </a:lnTo>
                  <a:lnTo>
                    <a:pt x="5466" y="6283059"/>
                  </a:lnTo>
                  <a:lnTo>
                    <a:pt x="7860" y="6229361"/>
                  </a:lnTo>
                  <a:lnTo>
                    <a:pt x="10685" y="6175777"/>
                  </a:lnTo>
                  <a:lnTo>
                    <a:pt x="13939" y="6122306"/>
                  </a:lnTo>
                  <a:lnTo>
                    <a:pt x="17618" y="6068952"/>
                  </a:lnTo>
                  <a:lnTo>
                    <a:pt x="21723" y="6015716"/>
                  </a:lnTo>
                  <a:lnTo>
                    <a:pt x="26251" y="5962600"/>
                  </a:lnTo>
                  <a:lnTo>
                    <a:pt x="31200" y="5909605"/>
                  </a:lnTo>
                  <a:lnTo>
                    <a:pt x="36570" y="5856733"/>
                  </a:lnTo>
                  <a:lnTo>
                    <a:pt x="42357" y="5803986"/>
                  </a:lnTo>
                  <a:lnTo>
                    <a:pt x="48561" y="5751365"/>
                  </a:lnTo>
                  <a:lnTo>
                    <a:pt x="55180" y="5698872"/>
                  </a:lnTo>
                  <a:lnTo>
                    <a:pt x="62212" y="5646509"/>
                  </a:lnTo>
                  <a:lnTo>
                    <a:pt x="69655" y="5594278"/>
                  </a:lnTo>
                  <a:lnTo>
                    <a:pt x="77508" y="5542179"/>
                  </a:lnTo>
                  <a:lnTo>
                    <a:pt x="85769" y="5490216"/>
                  </a:lnTo>
                  <a:lnTo>
                    <a:pt x="94437" y="5438389"/>
                  </a:lnTo>
                  <a:lnTo>
                    <a:pt x="103509" y="5386700"/>
                  </a:lnTo>
                  <a:lnTo>
                    <a:pt x="112984" y="5335151"/>
                  </a:lnTo>
                  <a:lnTo>
                    <a:pt x="122860" y="5283744"/>
                  </a:lnTo>
                  <a:lnTo>
                    <a:pt x="133136" y="5232480"/>
                  </a:lnTo>
                  <a:lnTo>
                    <a:pt x="143810" y="5181361"/>
                  </a:lnTo>
                  <a:lnTo>
                    <a:pt x="154881" y="5130389"/>
                  </a:lnTo>
                  <a:lnTo>
                    <a:pt x="166345" y="5079565"/>
                  </a:lnTo>
                  <a:lnTo>
                    <a:pt x="178203" y="5028891"/>
                  </a:lnTo>
                  <a:lnTo>
                    <a:pt x="190452" y="4978368"/>
                  </a:lnTo>
                  <a:lnTo>
                    <a:pt x="203090" y="4927999"/>
                  </a:lnTo>
                  <a:lnTo>
                    <a:pt x="216116" y="4877785"/>
                  </a:lnTo>
                  <a:lnTo>
                    <a:pt x="229529" y="4827728"/>
                  </a:lnTo>
                  <a:lnTo>
                    <a:pt x="243325" y="4777830"/>
                  </a:lnTo>
                  <a:lnTo>
                    <a:pt x="257505" y="4728091"/>
                  </a:lnTo>
                  <a:lnTo>
                    <a:pt x="272065" y="4678515"/>
                  </a:lnTo>
                  <a:lnTo>
                    <a:pt x="287005" y="4629101"/>
                  </a:lnTo>
                  <a:lnTo>
                    <a:pt x="302323" y="4579853"/>
                  </a:lnTo>
                  <a:lnTo>
                    <a:pt x="318016" y="4530772"/>
                  </a:lnTo>
                  <a:lnTo>
                    <a:pt x="334084" y="4481860"/>
                  </a:lnTo>
                  <a:lnTo>
                    <a:pt x="350525" y="4433117"/>
                  </a:lnTo>
                  <a:lnTo>
                    <a:pt x="367336" y="4384547"/>
                  </a:lnTo>
                  <a:lnTo>
                    <a:pt x="384517" y="4336150"/>
                  </a:lnTo>
                  <a:lnTo>
                    <a:pt x="402065" y="4287929"/>
                  </a:lnTo>
                  <a:lnTo>
                    <a:pt x="419980" y="4239885"/>
                  </a:lnTo>
                  <a:lnTo>
                    <a:pt x="438258" y="4192019"/>
                  </a:lnTo>
                  <a:lnTo>
                    <a:pt x="456899" y="4144334"/>
                  </a:lnTo>
                  <a:lnTo>
                    <a:pt x="475901" y="4096830"/>
                  </a:lnTo>
                  <a:lnTo>
                    <a:pt x="495262" y="4049511"/>
                  </a:lnTo>
                  <a:lnTo>
                    <a:pt x="514980" y="4002377"/>
                  </a:lnTo>
                  <a:lnTo>
                    <a:pt x="535054" y="3955430"/>
                  </a:lnTo>
                  <a:lnTo>
                    <a:pt x="555482" y="3908672"/>
                  </a:lnTo>
                  <a:lnTo>
                    <a:pt x="576263" y="3862104"/>
                  </a:lnTo>
                  <a:lnTo>
                    <a:pt x="597394" y="3815729"/>
                  </a:lnTo>
                  <a:lnTo>
                    <a:pt x="618874" y="3769547"/>
                  </a:lnTo>
                  <a:lnTo>
                    <a:pt x="640702" y="3723561"/>
                  </a:lnTo>
                  <a:lnTo>
                    <a:pt x="662875" y="3677772"/>
                  </a:lnTo>
                  <a:lnTo>
                    <a:pt x="685393" y="3632182"/>
                  </a:lnTo>
                  <a:lnTo>
                    <a:pt x="708252" y="3586793"/>
                  </a:lnTo>
                  <a:lnTo>
                    <a:pt x="731452" y="3541606"/>
                  </a:lnTo>
                  <a:lnTo>
                    <a:pt x="754991" y="3496623"/>
                  </a:lnTo>
                  <a:lnTo>
                    <a:pt x="778868" y="3451846"/>
                  </a:lnTo>
                  <a:lnTo>
                    <a:pt x="803079" y="3407276"/>
                  </a:lnTo>
                  <a:lnTo>
                    <a:pt x="827625" y="3362915"/>
                  </a:lnTo>
                  <a:lnTo>
                    <a:pt x="852503" y="3318765"/>
                  </a:lnTo>
                  <a:lnTo>
                    <a:pt x="877711" y="3274827"/>
                  </a:lnTo>
                  <a:lnTo>
                    <a:pt x="903248" y="3231103"/>
                  </a:lnTo>
                  <a:lnTo>
                    <a:pt x="929112" y="3187595"/>
                  </a:lnTo>
                  <a:lnTo>
                    <a:pt x="955302" y="3144305"/>
                  </a:lnTo>
                  <a:lnTo>
                    <a:pt x="981815" y="3101234"/>
                  </a:lnTo>
                  <a:lnTo>
                    <a:pt x="1008650" y="3058383"/>
                  </a:lnTo>
                  <a:lnTo>
                    <a:pt x="1035806" y="3015755"/>
                  </a:lnTo>
                  <a:lnTo>
                    <a:pt x="1063280" y="2973352"/>
                  </a:lnTo>
                  <a:lnTo>
                    <a:pt x="1091072" y="2931174"/>
                  </a:lnTo>
                  <a:lnTo>
                    <a:pt x="1119178" y="2889224"/>
                  </a:lnTo>
                  <a:lnTo>
                    <a:pt x="1147599" y="2847503"/>
                  </a:lnTo>
                  <a:lnTo>
                    <a:pt x="1176331" y="2806013"/>
                  </a:lnTo>
                  <a:lnTo>
                    <a:pt x="1205373" y="2764756"/>
                  </a:lnTo>
                  <a:lnTo>
                    <a:pt x="1234724" y="2723733"/>
                  </a:lnTo>
                  <a:lnTo>
                    <a:pt x="1264382" y="2682946"/>
                  </a:lnTo>
                  <a:lnTo>
                    <a:pt x="1294345" y="2642397"/>
                  </a:lnTo>
                  <a:lnTo>
                    <a:pt x="1324611" y="2602087"/>
                  </a:lnTo>
                  <a:lnTo>
                    <a:pt x="1355179" y="2562019"/>
                  </a:lnTo>
                  <a:lnTo>
                    <a:pt x="1386048" y="2522193"/>
                  </a:lnTo>
                  <a:lnTo>
                    <a:pt x="1417214" y="2482611"/>
                  </a:lnTo>
                  <a:lnTo>
                    <a:pt x="1448678" y="2443276"/>
                  </a:lnTo>
                  <a:lnTo>
                    <a:pt x="1480437" y="2404189"/>
                  </a:lnTo>
                  <a:lnTo>
                    <a:pt x="1512488" y="2365351"/>
                  </a:lnTo>
                  <a:lnTo>
                    <a:pt x="1544832" y="2326764"/>
                  </a:lnTo>
                  <a:lnTo>
                    <a:pt x="1577466" y="2288430"/>
                  </a:lnTo>
                  <a:lnTo>
                    <a:pt x="1610388" y="2250351"/>
                  </a:lnTo>
                  <a:lnTo>
                    <a:pt x="1643596" y="2212528"/>
                  </a:lnTo>
                  <a:lnTo>
                    <a:pt x="1677090" y="2174963"/>
                  </a:lnTo>
                  <a:lnTo>
                    <a:pt x="1710866" y="2137658"/>
                  </a:lnTo>
                  <a:lnTo>
                    <a:pt x="1744925" y="2100614"/>
                  </a:lnTo>
                  <a:lnTo>
                    <a:pt x="1779263" y="2063833"/>
                  </a:lnTo>
                  <a:lnTo>
                    <a:pt x="1813879" y="2027316"/>
                  </a:lnTo>
                  <a:lnTo>
                    <a:pt x="1848772" y="1991066"/>
                  </a:lnTo>
                  <a:lnTo>
                    <a:pt x="1883940" y="1955084"/>
                  </a:lnTo>
                  <a:lnTo>
                    <a:pt x="1919381" y="1919372"/>
                  </a:lnTo>
                  <a:lnTo>
                    <a:pt x="1955093" y="1883932"/>
                  </a:lnTo>
                  <a:lnTo>
                    <a:pt x="1991075" y="1848764"/>
                  </a:lnTo>
                  <a:lnTo>
                    <a:pt x="2027325" y="1813871"/>
                  </a:lnTo>
                  <a:lnTo>
                    <a:pt x="2063841" y="1779255"/>
                  </a:lnTo>
                  <a:lnTo>
                    <a:pt x="2100622" y="1744917"/>
                  </a:lnTo>
                  <a:lnTo>
                    <a:pt x="2137667" y="1710859"/>
                  </a:lnTo>
                  <a:lnTo>
                    <a:pt x="2174972" y="1677082"/>
                  </a:lnTo>
                  <a:lnTo>
                    <a:pt x="2212537" y="1643589"/>
                  </a:lnTo>
                  <a:lnTo>
                    <a:pt x="2250360" y="1610381"/>
                  </a:lnTo>
                  <a:lnTo>
                    <a:pt x="2288440" y="1577459"/>
                  </a:lnTo>
                  <a:lnTo>
                    <a:pt x="2326774" y="1544825"/>
                  </a:lnTo>
                  <a:lnTo>
                    <a:pt x="2365360" y="1512482"/>
                  </a:lnTo>
                  <a:lnTo>
                    <a:pt x="2404199" y="1480430"/>
                  </a:lnTo>
                  <a:lnTo>
                    <a:pt x="2443286" y="1448671"/>
                  </a:lnTo>
                  <a:lnTo>
                    <a:pt x="2482621" y="1417208"/>
                  </a:lnTo>
                  <a:lnTo>
                    <a:pt x="2522203" y="1386041"/>
                  </a:lnTo>
                  <a:lnTo>
                    <a:pt x="2562029" y="1355173"/>
                  </a:lnTo>
                  <a:lnTo>
                    <a:pt x="2602098" y="1324605"/>
                  </a:lnTo>
                  <a:lnTo>
                    <a:pt x="2642408" y="1294339"/>
                  </a:lnTo>
                  <a:lnTo>
                    <a:pt x="2682957" y="1264376"/>
                  </a:lnTo>
                  <a:lnTo>
                    <a:pt x="2723744" y="1234718"/>
                  </a:lnTo>
                  <a:lnTo>
                    <a:pt x="2764767" y="1205368"/>
                  </a:lnTo>
                  <a:lnTo>
                    <a:pt x="2806024" y="1176325"/>
                  </a:lnTo>
                  <a:lnTo>
                    <a:pt x="2847514" y="1147593"/>
                  </a:lnTo>
                  <a:lnTo>
                    <a:pt x="2889235" y="1119173"/>
                  </a:lnTo>
                  <a:lnTo>
                    <a:pt x="2931185" y="1091067"/>
                  </a:lnTo>
                  <a:lnTo>
                    <a:pt x="2973363" y="1063275"/>
                  </a:lnTo>
                  <a:lnTo>
                    <a:pt x="3015767" y="1035801"/>
                  </a:lnTo>
                  <a:lnTo>
                    <a:pt x="3058395" y="1008646"/>
                  </a:lnTo>
                  <a:lnTo>
                    <a:pt x="3101245" y="981811"/>
                  </a:lnTo>
                  <a:lnTo>
                    <a:pt x="3144317" y="955297"/>
                  </a:lnTo>
                  <a:lnTo>
                    <a:pt x="3187607" y="929108"/>
                  </a:lnTo>
                  <a:lnTo>
                    <a:pt x="3231115" y="903244"/>
                  </a:lnTo>
                  <a:lnTo>
                    <a:pt x="3274839" y="877707"/>
                  </a:lnTo>
                  <a:lnTo>
                    <a:pt x="3318777" y="852499"/>
                  </a:lnTo>
                  <a:lnTo>
                    <a:pt x="3362927" y="827621"/>
                  </a:lnTo>
                  <a:lnTo>
                    <a:pt x="3407288" y="803076"/>
                  </a:lnTo>
                  <a:lnTo>
                    <a:pt x="3451858" y="778864"/>
                  </a:lnTo>
                  <a:lnTo>
                    <a:pt x="3496636" y="754988"/>
                  </a:lnTo>
                  <a:lnTo>
                    <a:pt x="3541619" y="731449"/>
                  </a:lnTo>
                  <a:lnTo>
                    <a:pt x="3586806" y="708249"/>
                  </a:lnTo>
                  <a:lnTo>
                    <a:pt x="3632195" y="685389"/>
                  </a:lnTo>
                  <a:lnTo>
                    <a:pt x="3677785" y="662872"/>
                  </a:lnTo>
                  <a:lnTo>
                    <a:pt x="3723574" y="640699"/>
                  </a:lnTo>
                  <a:lnTo>
                    <a:pt x="3769560" y="618871"/>
                  </a:lnTo>
                  <a:lnTo>
                    <a:pt x="3815742" y="597391"/>
                  </a:lnTo>
                  <a:lnTo>
                    <a:pt x="3862118" y="576260"/>
                  </a:lnTo>
                  <a:lnTo>
                    <a:pt x="3908685" y="555479"/>
                  </a:lnTo>
                  <a:lnTo>
                    <a:pt x="3955444" y="535051"/>
                  </a:lnTo>
                  <a:lnTo>
                    <a:pt x="4002391" y="514977"/>
                  </a:lnTo>
                  <a:lnTo>
                    <a:pt x="4049525" y="495259"/>
                  </a:lnTo>
                  <a:lnTo>
                    <a:pt x="4096844" y="475898"/>
                  </a:lnTo>
                  <a:lnTo>
                    <a:pt x="4144348" y="456897"/>
                  </a:lnTo>
                  <a:lnTo>
                    <a:pt x="4192033" y="438256"/>
                  </a:lnTo>
                  <a:lnTo>
                    <a:pt x="4239899" y="419977"/>
                  </a:lnTo>
                  <a:lnTo>
                    <a:pt x="4287943" y="402063"/>
                  </a:lnTo>
                  <a:lnTo>
                    <a:pt x="4336165" y="384515"/>
                  </a:lnTo>
                  <a:lnTo>
                    <a:pt x="4384562" y="367334"/>
                  </a:lnTo>
                  <a:lnTo>
                    <a:pt x="4433132" y="350523"/>
                  </a:lnTo>
                  <a:lnTo>
                    <a:pt x="4481874" y="334083"/>
                  </a:lnTo>
                  <a:lnTo>
                    <a:pt x="4530787" y="318015"/>
                  </a:lnTo>
                  <a:lnTo>
                    <a:pt x="4579868" y="302321"/>
                  </a:lnTo>
                  <a:lnTo>
                    <a:pt x="4629116" y="287004"/>
                  </a:lnTo>
                  <a:lnTo>
                    <a:pt x="4678529" y="272064"/>
                  </a:lnTo>
                  <a:lnTo>
                    <a:pt x="4728106" y="257503"/>
                  </a:lnTo>
                  <a:lnTo>
                    <a:pt x="4777845" y="243324"/>
                  </a:lnTo>
                  <a:lnTo>
                    <a:pt x="4827744" y="229527"/>
                  </a:lnTo>
                  <a:lnTo>
                    <a:pt x="4877801" y="216115"/>
                  </a:lnTo>
                  <a:lnTo>
                    <a:pt x="4928015" y="203089"/>
                  </a:lnTo>
                  <a:lnTo>
                    <a:pt x="4978384" y="190451"/>
                  </a:lnTo>
                  <a:lnTo>
                    <a:pt x="5028906" y="178202"/>
                  </a:lnTo>
                  <a:lnTo>
                    <a:pt x="5079580" y="166345"/>
                  </a:lnTo>
                  <a:lnTo>
                    <a:pt x="5130404" y="154880"/>
                  </a:lnTo>
                  <a:lnTo>
                    <a:pt x="5181377" y="143810"/>
                  </a:lnTo>
                  <a:lnTo>
                    <a:pt x="5232496" y="133136"/>
                  </a:lnTo>
                  <a:lnTo>
                    <a:pt x="5283760" y="122860"/>
                  </a:lnTo>
                  <a:lnTo>
                    <a:pt x="5335167" y="112983"/>
                  </a:lnTo>
                  <a:lnTo>
                    <a:pt x="5386716" y="103508"/>
                  </a:lnTo>
                  <a:lnTo>
                    <a:pt x="5438405" y="94436"/>
                  </a:lnTo>
                  <a:lnTo>
                    <a:pt x="5490232" y="85769"/>
                  </a:lnTo>
                  <a:lnTo>
                    <a:pt x="5542195" y="77508"/>
                  </a:lnTo>
                  <a:lnTo>
                    <a:pt x="5594294" y="69655"/>
                  </a:lnTo>
                  <a:lnTo>
                    <a:pt x="5646525" y="62212"/>
                  </a:lnTo>
                  <a:lnTo>
                    <a:pt x="5698888" y="55180"/>
                  </a:lnTo>
                  <a:lnTo>
                    <a:pt x="5751381" y="48561"/>
                  </a:lnTo>
                  <a:lnTo>
                    <a:pt x="5804002" y="42357"/>
                  </a:lnTo>
                  <a:lnTo>
                    <a:pt x="5856749" y="36570"/>
                  </a:lnTo>
                  <a:lnTo>
                    <a:pt x="5909621" y="31200"/>
                  </a:lnTo>
                  <a:lnTo>
                    <a:pt x="5962616" y="26251"/>
                  </a:lnTo>
                  <a:lnTo>
                    <a:pt x="6015733" y="21723"/>
                  </a:lnTo>
                  <a:lnTo>
                    <a:pt x="6068969" y="17618"/>
                  </a:lnTo>
                  <a:lnTo>
                    <a:pt x="6122323" y="13938"/>
                  </a:lnTo>
                  <a:lnTo>
                    <a:pt x="6175793" y="10685"/>
                  </a:lnTo>
                  <a:lnTo>
                    <a:pt x="6229378" y="7860"/>
                  </a:lnTo>
                  <a:lnTo>
                    <a:pt x="6283076" y="5465"/>
                  </a:lnTo>
                  <a:lnTo>
                    <a:pt x="6336885" y="3502"/>
                  </a:lnTo>
                  <a:lnTo>
                    <a:pt x="6390803" y="1972"/>
                  </a:lnTo>
                  <a:lnTo>
                    <a:pt x="6444830" y="877"/>
                  </a:lnTo>
                  <a:lnTo>
                    <a:pt x="6498962" y="219"/>
                  </a:lnTo>
                  <a:lnTo>
                    <a:pt x="6553199" y="0"/>
                  </a:lnTo>
                  <a:lnTo>
                    <a:pt x="6553199" y="2918107"/>
                  </a:lnTo>
                  <a:lnTo>
                    <a:pt x="6504704" y="2918423"/>
                  </a:lnTo>
                  <a:lnTo>
                    <a:pt x="6456361" y="2919372"/>
                  </a:lnTo>
                  <a:lnTo>
                    <a:pt x="6408173" y="2920947"/>
                  </a:lnTo>
                  <a:lnTo>
                    <a:pt x="6360146" y="2923145"/>
                  </a:lnTo>
                  <a:lnTo>
                    <a:pt x="6312283" y="2925963"/>
                  </a:lnTo>
                  <a:lnTo>
                    <a:pt x="6264588" y="2929397"/>
                  </a:lnTo>
                  <a:lnTo>
                    <a:pt x="6217065" y="2933442"/>
                  </a:lnTo>
                  <a:lnTo>
                    <a:pt x="6169718" y="2938094"/>
                  </a:lnTo>
                  <a:lnTo>
                    <a:pt x="6122550" y="2943350"/>
                  </a:lnTo>
                  <a:lnTo>
                    <a:pt x="6075566" y="2949206"/>
                  </a:lnTo>
                  <a:lnTo>
                    <a:pt x="6028770" y="2955658"/>
                  </a:lnTo>
                  <a:lnTo>
                    <a:pt x="5982165" y="2962702"/>
                  </a:lnTo>
                  <a:lnTo>
                    <a:pt x="5935755" y="2970333"/>
                  </a:lnTo>
                  <a:lnTo>
                    <a:pt x="5889545" y="2978549"/>
                  </a:lnTo>
                  <a:lnTo>
                    <a:pt x="5843538" y="2987345"/>
                  </a:lnTo>
                  <a:lnTo>
                    <a:pt x="5797739" y="2996717"/>
                  </a:lnTo>
                  <a:lnTo>
                    <a:pt x="5752150" y="3006661"/>
                  </a:lnTo>
                  <a:lnTo>
                    <a:pt x="5706777" y="3017173"/>
                  </a:lnTo>
                  <a:lnTo>
                    <a:pt x="5661622" y="3028250"/>
                  </a:lnTo>
                  <a:lnTo>
                    <a:pt x="5616690" y="3039888"/>
                  </a:lnTo>
                  <a:lnTo>
                    <a:pt x="5571986" y="3052082"/>
                  </a:lnTo>
                  <a:lnTo>
                    <a:pt x="5527512" y="3064829"/>
                  </a:lnTo>
                  <a:lnTo>
                    <a:pt x="5483272" y="3078124"/>
                  </a:lnTo>
                  <a:lnTo>
                    <a:pt x="5439271" y="3091964"/>
                  </a:lnTo>
                  <a:lnTo>
                    <a:pt x="5395513" y="3106345"/>
                  </a:lnTo>
                  <a:lnTo>
                    <a:pt x="5352001" y="3121263"/>
                  </a:lnTo>
                  <a:lnTo>
                    <a:pt x="5308740" y="3136714"/>
                  </a:lnTo>
                  <a:lnTo>
                    <a:pt x="5265733" y="3152694"/>
                  </a:lnTo>
                  <a:lnTo>
                    <a:pt x="5222984" y="3169200"/>
                  </a:lnTo>
                  <a:lnTo>
                    <a:pt x="5180497" y="3186226"/>
                  </a:lnTo>
                  <a:lnTo>
                    <a:pt x="5138276" y="3203770"/>
                  </a:lnTo>
                  <a:lnTo>
                    <a:pt x="5096326" y="3221827"/>
                  </a:lnTo>
                  <a:lnTo>
                    <a:pt x="5054649" y="3240394"/>
                  </a:lnTo>
                  <a:lnTo>
                    <a:pt x="5013250" y="3259466"/>
                  </a:lnTo>
                  <a:lnTo>
                    <a:pt x="4972133" y="3279040"/>
                  </a:lnTo>
                  <a:lnTo>
                    <a:pt x="4931302" y="3299112"/>
                  </a:lnTo>
                  <a:lnTo>
                    <a:pt x="4890760" y="3319677"/>
                  </a:lnTo>
                  <a:lnTo>
                    <a:pt x="4850512" y="3340732"/>
                  </a:lnTo>
                  <a:lnTo>
                    <a:pt x="4810561" y="3362273"/>
                  </a:lnTo>
                  <a:lnTo>
                    <a:pt x="4770912" y="3384296"/>
                  </a:lnTo>
                  <a:lnTo>
                    <a:pt x="4731568" y="3406797"/>
                  </a:lnTo>
                  <a:lnTo>
                    <a:pt x="4692533" y="3429772"/>
                  </a:lnTo>
                  <a:lnTo>
                    <a:pt x="4653812" y="3453218"/>
                  </a:lnTo>
                  <a:lnTo>
                    <a:pt x="4615407" y="3477129"/>
                  </a:lnTo>
                  <a:lnTo>
                    <a:pt x="4577324" y="3501503"/>
                  </a:lnTo>
                  <a:lnTo>
                    <a:pt x="4539566" y="3526336"/>
                  </a:lnTo>
                  <a:lnTo>
                    <a:pt x="4502136" y="3551623"/>
                  </a:lnTo>
                  <a:lnTo>
                    <a:pt x="4465039" y="3577360"/>
                  </a:lnTo>
                  <a:lnTo>
                    <a:pt x="4428279" y="3603545"/>
                  </a:lnTo>
                  <a:lnTo>
                    <a:pt x="4391860" y="3630171"/>
                  </a:lnTo>
                  <a:lnTo>
                    <a:pt x="4355786" y="3657237"/>
                  </a:lnTo>
                  <a:lnTo>
                    <a:pt x="4320059" y="3684738"/>
                  </a:lnTo>
                  <a:lnTo>
                    <a:pt x="4284686" y="3712669"/>
                  </a:lnTo>
                  <a:lnTo>
                    <a:pt x="4249668" y="3741028"/>
                  </a:lnTo>
                  <a:lnTo>
                    <a:pt x="4215011" y="3769810"/>
                  </a:lnTo>
                  <a:lnTo>
                    <a:pt x="4180718" y="3799011"/>
                  </a:lnTo>
                  <a:lnTo>
                    <a:pt x="4146794" y="3828627"/>
                  </a:lnTo>
                  <a:lnTo>
                    <a:pt x="4113241" y="3858654"/>
                  </a:lnTo>
                  <a:lnTo>
                    <a:pt x="4080064" y="3889089"/>
                  </a:lnTo>
                  <a:lnTo>
                    <a:pt x="4047268" y="3919927"/>
                  </a:lnTo>
                  <a:lnTo>
                    <a:pt x="4014855" y="3951165"/>
                  </a:lnTo>
                  <a:lnTo>
                    <a:pt x="3982830" y="3982799"/>
                  </a:lnTo>
                  <a:lnTo>
                    <a:pt x="3951196" y="4014824"/>
                  </a:lnTo>
                  <a:lnTo>
                    <a:pt x="3919958" y="4047237"/>
                  </a:lnTo>
                  <a:lnTo>
                    <a:pt x="3889120" y="4080034"/>
                  </a:lnTo>
                  <a:lnTo>
                    <a:pt x="3858685" y="4113211"/>
                  </a:lnTo>
                  <a:lnTo>
                    <a:pt x="3828658" y="4146763"/>
                  </a:lnTo>
                  <a:lnTo>
                    <a:pt x="3799042" y="4180688"/>
                  </a:lnTo>
                  <a:lnTo>
                    <a:pt x="3769841" y="4214981"/>
                  </a:lnTo>
                  <a:lnTo>
                    <a:pt x="3741059" y="4249638"/>
                  </a:lnTo>
                  <a:lnTo>
                    <a:pt x="3712701" y="4284656"/>
                  </a:lnTo>
                  <a:lnTo>
                    <a:pt x="3684769" y="4320030"/>
                  </a:lnTo>
                  <a:lnTo>
                    <a:pt x="3657269" y="4355756"/>
                  </a:lnTo>
                  <a:lnTo>
                    <a:pt x="3630203" y="4391831"/>
                  </a:lnTo>
                  <a:lnTo>
                    <a:pt x="3603576" y="4428250"/>
                  </a:lnTo>
                  <a:lnTo>
                    <a:pt x="3577392" y="4465010"/>
                  </a:lnTo>
                  <a:lnTo>
                    <a:pt x="3551655" y="4502107"/>
                  </a:lnTo>
                  <a:lnTo>
                    <a:pt x="3526368" y="4539537"/>
                  </a:lnTo>
                  <a:lnTo>
                    <a:pt x="3501535" y="4577295"/>
                  </a:lnTo>
                  <a:lnTo>
                    <a:pt x="3477161" y="4615379"/>
                  </a:lnTo>
                  <a:lnTo>
                    <a:pt x="3453250" y="4653784"/>
                  </a:lnTo>
                  <a:lnTo>
                    <a:pt x="3429804" y="4692505"/>
                  </a:lnTo>
                  <a:lnTo>
                    <a:pt x="3406829" y="4731540"/>
                  </a:lnTo>
                  <a:lnTo>
                    <a:pt x="3384328" y="4770884"/>
                  </a:lnTo>
                  <a:lnTo>
                    <a:pt x="3362305" y="4810534"/>
                  </a:lnTo>
                  <a:lnTo>
                    <a:pt x="3340764" y="4850485"/>
                  </a:lnTo>
                  <a:lnTo>
                    <a:pt x="3319709" y="4890733"/>
                  </a:lnTo>
                  <a:lnTo>
                    <a:pt x="3299144" y="4931275"/>
                  </a:lnTo>
                  <a:lnTo>
                    <a:pt x="3279072" y="4972106"/>
                  </a:lnTo>
                  <a:lnTo>
                    <a:pt x="3259499" y="5013224"/>
                  </a:lnTo>
                  <a:lnTo>
                    <a:pt x="3240426" y="5054623"/>
                  </a:lnTo>
                  <a:lnTo>
                    <a:pt x="3221860" y="5096300"/>
                  </a:lnTo>
                  <a:lnTo>
                    <a:pt x="3203803" y="5138251"/>
                  </a:lnTo>
                  <a:lnTo>
                    <a:pt x="3186259" y="5180471"/>
                  </a:lnTo>
                  <a:lnTo>
                    <a:pt x="3169232" y="5222958"/>
                  </a:lnTo>
                  <a:lnTo>
                    <a:pt x="3152727" y="5265708"/>
                  </a:lnTo>
                  <a:lnTo>
                    <a:pt x="3136747" y="5308715"/>
                  </a:lnTo>
                  <a:lnTo>
                    <a:pt x="3121296" y="5351977"/>
                  </a:lnTo>
                  <a:lnTo>
                    <a:pt x="3106378" y="5395489"/>
                  </a:lnTo>
                  <a:lnTo>
                    <a:pt x="3091997" y="5439247"/>
                  </a:lnTo>
                  <a:lnTo>
                    <a:pt x="3078157" y="5483248"/>
                  </a:lnTo>
                  <a:lnTo>
                    <a:pt x="3064861" y="5527488"/>
                  </a:lnTo>
                  <a:lnTo>
                    <a:pt x="3052115" y="5571962"/>
                  </a:lnTo>
                  <a:lnTo>
                    <a:pt x="3039921" y="5616667"/>
                  </a:lnTo>
                  <a:lnTo>
                    <a:pt x="3028283" y="5661599"/>
                  </a:lnTo>
                  <a:lnTo>
                    <a:pt x="3017206" y="5706754"/>
                  </a:lnTo>
                  <a:lnTo>
                    <a:pt x="3006693" y="5752128"/>
                  </a:lnTo>
                  <a:lnTo>
                    <a:pt x="2996749" y="5797717"/>
                  </a:lnTo>
                  <a:lnTo>
                    <a:pt x="2987377" y="5843517"/>
                  </a:lnTo>
                  <a:lnTo>
                    <a:pt x="2978582" y="5889524"/>
                  </a:lnTo>
                  <a:lnTo>
                    <a:pt x="2970366" y="5935734"/>
                  </a:lnTo>
                  <a:lnTo>
                    <a:pt x="2962734" y="5982144"/>
                  </a:lnTo>
                  <a:lnTo>
                    <a:pt x="2955691" y="6028749"/>
                  </a:lnTo>
                  <a:lnTo>
                    <a:pt x="2949239" y="6075546"/>
                  </a:lnTo>
                  <a:lnTo>
                    <a:pt x="2943383" y="6122531"/>
                  </a:lnTo>
                  <a:lnTo>
                    <a:pt x="2938127" y="6169699"/>
                  </a:lnTo>
                  <a:lnTo>
                    <a:pt x="2933474" y="6217046"/>
                  </a:lnTo>
                  <a:lnTo>
                    <a:pt x="2929429" y="6264570"/>
                  </a:lnTo>
                  <a:lnTo>
                    <a:pt x="2925996" y="6312265"/>
                  </a:lnTo>
                  <a:lnTo>
                    <a:pt x="2923178" y="6360129"/>
                  </a:lnTo>
                  <a:lnTo>
                    <a:pt x="2920980" y="6408156"/>
                  </a:lnTo>
                  <a:lnTo>
                    <a:pt x="2919404" y="6456343"/>
                  </a:lnTo>
                  <a:lnTo>
                    <a:pt x="2918456" y="6504687"/>
                  </a:lnTo>
                  <a:lnTo>
                    <a:pt x="2918139" y="6553183"/>
                  </a:lnTo>
                  <a:close/>
                </a:path>
              </a:pathLst>
            </a:custGeom>
            <a:solidFill>
              <a:srgbClr val="FFDE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21"/>
          <p:cNvSpPr txBox="1"/>
          <p:nvPr>
            <p:ph type="title"/>
          </p:nvPr>
        </p:nvSpPr>
        <p:spPr>
          <a:xfrm>
            <a:off x="4565650" y="798925"/>
            <a:ext cx="36435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4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4160975" y="658950"/>
            <a:ext cx="4698900" cy="20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50">
            <a:spAutoFit/>
          </a:bodyPr>
          <a:lstStyle/>
          <a:p>
            <a:pPr indent="0" lvl="0" marL="0" marR="5588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700"/>
              <a:buNone/>
            </a:pPr>
            <a:r>
              <a:rPr lang="en" sz="3000"/>
              <a:t>Generative AI </a:t>
            </a:r>
            <a:endParaRPr sz="3000"/>
          </a:p>
          <a:p>
            <a:pPr indent="0" lvl="0" marL="0" marR="5588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700"/>
              <a:buNone/>
            </a:pPr>
            <a:r>
              <a:rPr lang="en" sz="3000"/>
              <a:t>Fine Tuning</a:t>
            </a:r>
            <a:endParaRPr sz="3000"/>
          </a:p>
          <a:p>
            <a:pPr indent="0" lvl="0" marL="0" marR="5588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>
                <a:solidFill>
                  <a:srgbClr val="274E13"/>
                </a:solidFill>
                <a:latin typeface="Sarabun"/>
                <a:ea typeface="Sarabun"/>
                <a:cs typeface="Sarabun"/>
                <a:sym typeface="Sarabun"/>
              </a:rPr>
              <a:t>Fine-Tuning Your LLM</a:t>
            </a:r>
            <a:endParaRPr b="1" sz="2020">
              <a:solidFill>
                <a:srgbClr val="274E13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102" name="Google Shape;102;p22"/>
          <p:cNvSpPr/>
          <p:nvPr/>
        </p:nvSpPr>
        <p:spPr>
          <a:xfrm>
            <a:off x="451225" y="1115075"/>
            <a:ext cx="81546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Using large language models to build generative AI applications comes with new challenges. </a:t>
            </a:r>
            <a:r>
              <a:rPr b="1"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A key issue is ensuring response quality (accuracy and relevance)</a:t>
            </a:r>
            <a:r>
              <a:rPr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 in content generated by the model for a given user request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>
                <a:solidFill>
                  <a:srgbClr val="274E13"/>
                </a:solidFill>
                <a:latin typeface="Sarabun"/>
                <a:ea typeface="Sarabun"/>
                <a:cs typeface="Sarabun"/>
                <a:sym typeface="Sarabun"/>
              </a:rPr>
              <a:t>Scope </a:t>
            </a:r>
            <a:r>
              <a:rPr b="1" lang="en" sz="2020">
                <a:solidFill>
                  <a:srgbClr val="274E13"/>
                </a:solidFill>
                <a:latin typeface="Sarabun"/>
                <a:ea typeface="Sarabun"/>
                <a:cs typeface="Sarabun"/>
                <a:sym typeface="Sarabun"/>
              </a:rPr>
              <a:t>Fine-Tuning</a:t>
            </a:r>
            <a:endParaRPr b="1" sz="2020">
              <a:solidFill>
                <a:srgbClr val="274E13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108" name="Google Shape;108;p23"/>
          <p:cNvSpPr/>
          <p:nvPr/>
        </p:nvSpPr>
        <p:spPr>
          <a:xfrm>
            <a:off x="451225" y="1115075"/>
            <a:ext cx="8154600" cy="37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rabun"/>
              <a:buChar char="●"/>
            </a:pPr>
            <a:r>
              <a:rPr b="1"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Domain and Task Specificity: </a:t>
            </a:r>
            <a:r>
              <a:rPr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Fine-tuning involves modifying a pre-trained model to better respond to specific needs or particular tasks, such as sentiment analysis, multi-turn dialogue, information extraction, or language translation.</a:t>
            </a:r>
            <a:endParaRPr>
              <a:solidFill>
                <a:schemeClr val="dk2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rabun"/>
              <a:buChar char="●"/>
            </a:pPr>
            <a:r>
              <a:rPr b="1"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More Relevant Datasets: </a:t>
            </a:r>
            <a:r>
              <a:rPr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Utilizing datasets that are more pertinent to the desired task, as opposed to the very large and diverse datasets used for initial training.</a:t>
            </a:r>
            <a:endParaRPr>
              <a:solidFill>
                <a:schemeClr val="dk2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rabun"/>
              <a:buChar char="●"/>
            </a:pPr>
            <a:r>
              <a:rPr b="1"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Parameter Adjustment: </a:t>
            </a:r>
            <a:r>
              <a:rPr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Fine-tuning entails continuing the learning of model parameters with a specific dataset, which enables the model to capture more relevant data distributions and understand the context of the specific task or domain.</a:t>
            </a:r>
            <a:endParaRPr>
              <a:solidFill>
                <a:schemeClr val="dk2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>
                <a:solidFill>
                  <a:srgbClr val="274E13"/>
                </a:solidFill>
                <a:latin typeface="Sarabun"/>
                <a:ea typeface="Sarabun"/>
                <a:cs typeface="Sarabun"/>
                <a:sym typeface="Sarabun"/>
              </a:rPr>
              <a:t>Domain and Task Specificity</a:t>
            </a:r>
            <a:endParaRPr b="1" sz="2020">
              <a:solidFill>
                <a:srgbClr val="274E13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114" name="Google Shape;1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150" y="1497850"/>
            <a:ext cx="4221275" cy="152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4"/>
          <p:cNvSpPr/>
          <p:nvPr/>
        </p:nvSpPr>
        <p:spPr>
          <a:xfrm>
            <a:off x="527425" y="3324875"/>
            <a:ext cx="81546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what is best practice?</a:t>
            </a:r>
            <a:endParaRPr>
              <a:solidFill>
                <a:schemeClr val="dk2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rabun"/>
              <a:buChar char="●"/>
            </a:pPr>
            <a:r>
              <a:rPr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Model token limits can restrict the number of examples you can give, and limit the effectiveness.</a:t>
            </a:r>
            <a:endParaRPr>
              <a:solidFill>
                <a:schemeClr val="dk2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arabun"/>
              <a:buChar char="●"/>
            </a:pPr>
            <a:r>
              <a:rPr lang="en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rPr>
              <a:t>Model token costs can make it expensive to add examples to every prompt, and limit flexibility.</a:t>
            </a:r>
            <a:endParaRPr>
              <a:solidFill>
                <a:schemeClr val="dk2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Open AI Fine Tuning</a:t>
            </a:r>
            <a:endParaRPr/>
          </a:p>
        </p:txBody>
      </p:sp>
      <p:pic>
        <p:nvPicPr>
          <p:cNvPr descr="With all the excitement around large language models, one question has been repeatedly asked throughout - &quot;How do I make my own?&quot;. There are plenty of techniques to pass additional context and reference material into a generic, pre-trained model, but if you want a model that is super fast and already understands your context, you need to fine-tune a model.&#10;&#10;We recently saw announcements from Microsoft that the Azure Open AI service now supports both training a fine-tuned model, but also hosting that model at the click of a button!&#10;&#10;In this video, Simon and Gavi take a look at the concept of Fine Tuning LLMs, then review a super quick demo of how we pass some data to the gpt3.5 turbo model, which is what powers the public ChatGPT service!&#10;&#10;For more details around the recent announcements, check out: https://techcommunity.microsoft.com/t5/azure-ai-services-blog/fine-tuning-now-available-with-azure-openai-service/ba-p/3954693&#10;&#10;And as always, if you need an accelerator behind your large language model aspirations, get in touch with Advancing Analytics!" id="121" name="Google Shape;121;p25" title="Advancing AI - Fine Tuning LLMs with Azure OpenAI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0150" y="1372250"/>
            <a:ext cx="6067075" cy="341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>
                <a:solidFill>
                  <a:srgbClr val="274E13"/>
                </a:solidFill>
                <a:latin typeface="Sarabun"/>
                <a:ea typeface="Sarabun"/>
                <a:cs typeface="Sarabun"/>
                <a:sym typeface="Sarabun"/>
              </a:rPr>
              <a:t>How can we fine-tune a pre-trained model?</a:t>
            </a:r>
            <a:endParaRPr b="1" sz="2020">
              <a:solidFill>
                <a:srgbClr val="274E13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100" y="1081700"/>
            <a:ext cx="491360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 on</a:t>
            </a:r>
            <a:endParaRPr/>
          </a:p>
        </p:txBody>
      </p:sp>
      <p:sp>
        <p:nvSpPr>
          <p:cNvPr id="133" name="Google Shape;13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Link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Gemma :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Deepseek :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</a:t>
            </a:r>
            <a:r>
              <a:rPr lang="en" sz="1400"/>
              <a:t>ert :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75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>
            <p:ph type="ctrTitle"/>
          </p:nvPr>
        </p:nvSpPr>
        <p:spPr>
          <a:xfrm>
            <a:off x="1143000" y="2213999"/>
            <a:ext cx="68580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86538"/>
              <a:buFont typeface="Yanone Kaffeesatz"/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75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>
            <p:ph type="ctrTitle"/>
          </p:nvPr>
        </p:nvSpPr>
        <p:spPr>
          <a:xfrm>
            <a:off x="1143000" y="2213999"/>
            <a:ext cx="68580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86538"/>
              <a:buFont typeface="Yanone Kaffeesatz"/>
              <a:buNone/>
            </a:pPr>
            <a:r>
              <a:rPr lang="en">
                <a:solidFill>
                  <a:schemeClr val="lt1"/>
                </a:solidFill>
              </a:rPr>
              <a:t>Related Material Link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https://learn.microsoft.com/en-us/azure/ai-foundry/concepts/fine-tuning-overview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https://learn.microsoft.com/en-us/azure/ai-services/openai/concepts/models?tabs=global-standard%2Cstandard-chat-completions#fine-tuning-models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https://learn.microsoft.com/en-us/azure/ai-services/openai/tutorials/fine-tune?tabs=python-new%2Ccommand-line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75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>
            <p:ph type="ctrTitle"/>
          </p:nvPr>
        </p:nvSpPr>
        <p:spPr>
          <a:xfrm>
            <a:off x="1143000" y="2213999"/>
            <a:ext cx="68580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86538"/>
              <a:buFont typeface="Yanone Kaffeesatz"/>
              <a:buNone/>
            </a:pPr>
            <a:r>
              <a:rPr lang="en">
                <a:solidFill>
                  <a:schemeClr val="lt1"/>
                </a:solidFill>
              </a:rPr>
              <a:t>Appendix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 txBox="1"/>
          <p:nvPr>
            <p:ph idx="1" type="body"/>
          </p:nvPr>
        </p:nvSpPr>
        <p:spPr>
          <a:xfrm>
            <a:off x="311700" y="227200"/>
            <a:ext cx="8520600" cy="43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1. </a:t>
            </a:r>
            <a:r>
              <a:rPr b="1" lang="en" sz="1200">
                <a:solidFill>
                  <a:srgbClr val="188038"/>
                </a:solidFill>
              </a:rPr>
              <a:t>output_dir="./results"</a:t>
            </a:r>
            <a:endParaRPr b="1" sz="1200">
              <a:solidFill>
                <a:srgbClr val="188038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Arti</a:t>
            </a:r>
            <a:r>
              <a:rPr lang="en" sz="1200">
                <a:solidFill>
                  <a:schemeClr val="dk1"/>
                </a:solidFill>
              </a:rPr>
              <a:t>: Menentukan direktori tempat model yang telah di-</a:t>
            </a:r>
            <a:r>
              <a:rPr i="1" lang="en" sz="1200">
                <a:solidFill>
                  <a:schemeClr val="dk1"/>
                </a:solidFill>
              </a:rPr>
              <a:t>fine-tuning</a:t>
            </a:r>
            <a:r>
              <a:rPr lang="en" sz="1200">
                <a:solidFill>
                  <a:schemeClr val="dk1"/>
                </a:solidFill>
              </a:rPr>
              <a:t> dan artefak pelatihan lainnya (seperti checkpoint) akan disimpan.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Maksud</a:t>
            </a:r>
            <a:r>
              <a:rPr lang="en" sz="1200">
                <a:solidFill>
                  <a:schemeClr val="dk1"/>
                </a:solidFill>
              </a:rPr>
              <a:t>: Mengorganisasi dan menyimpan hasil pelatihan agar dapat diakses dan digunakan kembali.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Analogi</a:t>
            </a:r>
            <a:r>
              <a:rPr lang="en" sz="1200">
                <a:solidFill>
                  <a:schemeClr val="dk1"/>
                </a:solidFill>
              </a:rPr>
              <a:t>: Seperti menyimpan hasil pekerjaan Anda di folder khusus agar mudah ditemukan.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2. </a:t>
            </a:r>
            <a:r>
              <a:rPr b="1" lang="en" sz="1200">
                <a:solidFill>
                  <a:srgbClr val="188038"/>
                </a:solidFill>
              </a:rPr>
              <a:t>evaluation_strategy="epoch"</a:t>
            </a:r>
            <a:endParaRPr b="1" sz="1200">
              <a:solidFill>
                <a:srgbClr val="188038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Arti</a:t>
            </a:r>
            <a:r>
              <a:rPr lang="en" sz="1200">
                <a:solidFill>
                  <a:schemeClr val="dk1"/>
                </a:solidFill>
              </a:rPr>
              <a:t>: Menentukan kapan evaluasi model akan dilakukan. Dalam hal ini, evaluasi dilakukan di akhir setiap </a:t>
            </a:r>
            <a:r>
              <a:rPr i="1" lang="en" sz="1200">
                <a:solidFill>
                  <a:schemeClr val="dk1"/>
                </a:solidFill>
              </a:rPr>
              <a:t>epoch</a:t>
            </a:r>
            <a:r>
              <a:rPr lang="en" sz="1200">
                <a:solidFill>
                  <a:schemeClr val="dk1"/>
                </a:solidFill>
              </a:rPr>
              <a:t> (siklus pelatihan).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Maksud</a:t>
            </a:r>
            <a:r>
              <a:rPr lang="en" sz="1200">
                <a:solidFill>
                  <a:schemeClr val="dk1"/>
                </a:solidFill>
              </a:rPr>
              <a:t>: Memantau kinerja model selama pelatihan dan melihat bagaimana model berkembang dari waktu ke waktu.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Analogi</a:t>
            </a:r>
            <a:r>
              <a:rPr lang="en" sz="1200">
                <a:solidFill>
                  <a:schemeClr val="dk1"/>
                </a:solidFill>
              </a:rPr>
              <a:t>: Seperti melakukan ujian di akhir setiap bab untuk mengukur pemahaman Anda tentang materi.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3. </a:t>
            </a:r>
            <a:r>
              <a:rPr b="1" lang="en" sz="1200">
                <a:solidFill>
                  <a:srgbClr val="188038"/>
                </a:solidFill>
              </a:rPr>
              <a:t>learning_rate=2e-5</a:t>
            </a:r>
            <a:endParaRPr b="1" sz="1200">
              <a:solidFill>
                <a:srgbClr val="188038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Arti</a:t>
            </a:r>
            <a:r>
              <a:rPr lang="en" sz="1200">
                <a:solidFill>
                  <a:schemeClr val="dk1"/>
                </a:solidFill>
              </a:rPr>
              <a:t>: Menentukan tingkat pembelajaran (learning rate), yaitu seberapa besar model menyesuaikan bobotnya berdasarkan gradien error. Nilai 2e-5 (0.00002) adalah tingkat pembelajaran yang relatif kecil.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Maksud</a:t>
            </a:r>
            <a:r>
              <a:rPr lang="en" sz="1200">
                <a:solidFill>
                  <a:schemeClr val="dk1"/>
                </a:solidFill>
              </a:rPr>
              <a:t>: Mengontrol seberapa cepat model belajar. Tingkat pembelajaran yang kecil mencegah model dari </a:t>
            </a:r>
            <a:r>
              <a:rPr i="1" lang="en" sz="1200">
                <a:solidFill>
                  <a:schemeClr val="dk1"/>
                </a:solidFill>
              </a:rPr>
              <a:t>overshooting</a:t>
            </a:r>
            <a:r>
              <a:rPr lang="en" sz="1200">
                <a:solidFill>
                  <a:schemeClr val="dk1"/>
                </a:solidFill>
              </a:rPr>
              <a:t> solusi optimal.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Analogi</a:t>
            </a:r>
            <a:r>
              <a:rPr lang="en" sz="1200">
                <a:solidFill>
                  <a:schemeClr val="dk1"/>
                </a:solidFill>
              </a:rPr>
              <a:t>: Seperti menyesuaikan volume suara Anda saat berbicara. Terlalu keras bisa mengganggu, terlalu pelan sulit didengar.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3"/>
          <p:cNvSpPr txBox="1"/>
          <p:nvPr>
            <p:ph idx="1" type="body"/>
          </p:nvPr>
        </p:nvSpPr>
        <p:spPr>
          <a:xfrm>
            <a:off x="311700" y="227200"/>
            <a:ext cx="8520600" cy="43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4. </a:t>
            </a:r>
            <a:r>
              <a:rPr b="1" lang="en" sz="1200">
                <a:solidFill>
                  <a:srgbClr val="188038"/>
                </a:solidFill>
              </a:rPr>
              <a:t>per_device_train_batch_size=4</a:t>
            </a:r>
            <a:r>
              <a:rPr b="1" lang="en" sz="1200">
                <a:solidFill>
                  <a:schemeClr val="dk1"/>
                </a:solidFill>
              </a:rPr>
              <a:t> dan </a:t>
            </a:r>
            <a:r>
              <a:rPr b="1" lang="en" sz="1200">
                <a:solidFill>
                  <a:srgbClr val="188038"/>
                </a:solidFill>
              </a:rPr>
              <a:t>per_device_eval_batch_size=4</a:t>
            </a:r>
            <a:endParaRPr b="1" sz="1200">
              <a:solidFill>
                <a:srgbClr val="188038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Arti</a:t>
            </a:r>
            <a:r>
              <a:rPr lang="en" sz="1200">
                <a:solidFill>
                  <a:schemeClr val="dk1"/>
                </a:solidFill>
              </a:rPr>
              <a:t>: Menentukan ukuran batch yang digunakan selama pelatihan dan evaluasi untuk setiap perangkat (GPU). Dalam hal ini, 4 sampel data diproses sekaligus.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Maksud</a:t>
            </a:r>
            <a:r>
              <a:rPr lang="en" sz="1200">
                <a:solidFill>
                  <a:schemeClr val="dk1"/>
                </a:solidFill>
              </a:rPr>
              <a:t>: Mengelola penggunaan memori dan kecepatan pelatihan. Ukuran batch yang lebih kecil mengurangi penggunaan memori tetapi mungkin memperlambat pelatihan.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Analogi</a:t>
            </a:r>
            <a:r>
              <a:rPr lang="en" sz="1200">
                <a:solidFill>
                  <a:schemeClr val="dk1"/>
                </a:solidFill>
              </a:rPr>
              <a:t>: Seperti membagi pekerjaan besar menjadi tugas-tugas kecil agar lebih mudah dikelola.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5. </a:t>
            </a:r>
            <a:r>
              <a:rPr b="1" lang="en" sz="1200">
                <a:solidFill>
                  <a:srgbClr val="188038"/>
                </a:solidFill>
              </a:rPr>
              <a:t>gradient_accumulation_steps=4</a:t>
            </a:r>
            <a:endParaRPr b="1" sz="1200">
              <a:solidFill>
                <a:srgbClr val="188038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Arti</a:t>
            </a:r>
            <a:r>
              <a:rPr lang="en" sz="1200">
                <a:solidFill>
                  <a:schemeClr val="dk1"/>
                </a:solidFill>
              </a:rPr>
              <a:t>: Menentukan jumlah langkah di mana gradien akan diakumulasikan sebelum pembaruan bobot dilakukan.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Maksud</a:t>
            </a:r>
            <a:r>
              <a:rPr lang="en" sz="1200">
                <a:solidFill>
                  <a:schemeClr val="dk1"/>
                </a:solidFill>
              </a:rPr>
              <a:t>: Mensimulasikan ukuran batch yang lebih besar tanpa melebihi batas memori GPU. Dalam hal ini, gradien dari 4 batch kecil diakumulasikan sebelum pembaruan bobot.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Analogi</a:t>
            </a:r>
            <a:r>
              <a:rPr lang="en" sz="1200">
                <a:solidFill>
                  <a:schemeClr val="dk1"/>
                </a:solidFill>
              </a:rPr>
              <a:t>: Seperti mengumpulkan beberapa tugas kecil sebelum melakukan pembaruan besar.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6. </a:t>
            </a:r>
            <a:r>
              <a:rPr b="1" lang="en" sz="1200">
                <a:solidFill>
                  <a:srgbClr val="188038"/>
                </a:solidFill>
              </a:rPr>
              <a:t>num_train_epochs=3</a:t>
            </a:r>
            <a:endParaRPr b="1" sz="1200">
              <a:solidFill>
                <a:srgbClr val="188038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Arti</a:t>
            </a:r>
            <a:r>
              <a:rPr lang="en" sz="1200">
                <a:solidFill>
                  <a:schemeClr val="dk1"/>
                </a:solidFill>
              </a:rPr>
              <a:t>: Menentukan jumlah </a:t>
            </a:r>
            <a:r>
              <a:rPr i="1" lang="en" sz="1200">
                <a:solidFill>
                  <a:schemeClr val="dk1"/>
                </a:solidFill>
              </a:rPr>
              <a:t>epoch</a:t>
            </a:r>
            <a:r>
              <a:rPr lang="en" sz="1200">
                <a:solidFill>
                  <a:schemeClr val="dk1"/>
                </a:solidFill>
              </a:rPr>
              <a:t> (siklus pelatihan) yang akan dilakukan.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Maksud</a:t>
            </a:r>
            <a:r>
              <a:rPr lang="en" sz="1200">
                <a:solidFill>
                  <a:schemeClr val="dk1"/>
                </a:solidFill>
              </a:rPr>
              <a:t>: Mengontrol berapa kali model akan melihat seluruh dataset pelatihan.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Analogi</a:t>
            </a:r>
            <a:r>
              <a:rPr lang="en" sz="1200">
                <a:solidFill>
                  <a:schemeClr val="dk1"/>
                </a:solidFill>
              </a:rPr>
              <a:t>: Seperti membaca buku beberapa kali untuk memahaminya sepenuhnya.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>
            <p:ph idx="1" type="body"/>
          </p:nvPr>
        </p:nvSpPr>
        <p:spPr>
          <a:xfrm>
            <a:off x="311700" y="227200"/>
            <a:ext cx="8520600" cy="43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7. </a:t>
            </a:r>
            <a:r>
              <a:rPr b="1" lang="en" sz="1200">
                <a:solidFill>
                  <a:srgbClr val="188038"/>
                </a:solidFill>
              </a:rPr>
              <a:t>weight_decay=0.01</a:t>
            </a:r>
            <a:endParaRPr b="1" sz="1200">
              <a:solidFill>
                <a:srgbClr val="188038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Arti</a:t>
            </a:r>
            <a:r>
              <a:rPr lang="en" sz="1200">
                <a:solidFill>
                  <a:schemeClr val="dk1"/>
                </a:solidFill>
              </a:rPr>
              <a:t>: Menentukan tingkat peluruhan bobot (weight decay), teknik regularisasi yang mencegah overfitting dengan menghukum bobot besar.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Maksud</a:t>
            </a:r>
            <a:r>
              <a:rPr lang="en" sz="1200">
                <a:solidFill>
                  <a:schemeClr val="dk1"/>
                </a:solidFill>
              </a:rPr>
              <a:t>: Meningkatkan generalisasi model dan mencegahnya dari terlalu cocok dengan data pelatihan.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Analogi</a:t>
            </a:r>
            <a:r>
              <a:rPr lang="en" sz="1200">
                <a:solidFill>
                  <a:schemeClr val="dk1"/>
                </a:solidFill>
              </a:rPr>
              <a:t>: Seperti menjaga agar otot-otot Anda tidak terlalu besar agar tetap fleksibel.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8. </a:t>
            </a:r>
            <a:r>
              <a:rPr b="1" lang="en" sz="1200">
                <a:solidFill>
                  <a:srgbClr val="188038"/>
                </a:solidFill>
              </a:rPr>
              <a:t>logging_dir="./logs"</a:t>
            </a:r>
            <a:r>
              <a:rPr b="1" lang="en" sz="1200">
                <a:solidFill>
                  <a:schemeClr val="dk1"/>
                </a:solidFill>
              </a:rPr>
              <a:t> dan </a:t>
            </a:r>
            <a:r>
              <a:rPr b="1" lang="en" sz="1200">
                <a:solidFill>
                  <a:srgbClr val="188038"/>
                </a:solidFill>
              </a:rPr>
              <a:t>logging_steps=10</a:t>
            </a:r>
            <a:endParaRPr b="1" sz="1200">
              <a:solidFill>
                <a:srgbClr val="188038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Arti</a:t>
            </a:r>
            <a:r>
              <a:rPr lang="en" sz="1200">
                <a:solidFill>
                  <a:schemeClr val="dk1"/>
                </a:solidFill>
              </a:rPr>
              <a:t>: Menentukan direktori untuk menyimpan log pelatihan dan seberapa sering log akan dicatat (setiap 10 langkah).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Maksud</a:t>
            </a:r>
            <a:r>
              <a:rPr lang="en" sz="1200">
                <a:solidFill>
                  <a:schemeClr val="dk1"/>
                </a:solidFill>
              </a:rPr>
              <a:t>: Memantau kemajuan pelatihan dan mendiagnosis masalah.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Analogi</a:t>
            </a:r>
            <a:r>
              <a:rPr lang="en" sz="1200">
                <a:solidFill>
                  <a:schemeClr val="dk1"/>
                </a:solidFill>
              </a:rPr>
              <a:t>: Seperti mencatat jurnal harian untuk melacak kemajuan Anda.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200">
                <a:solidFill>
                  <a:schemeClr val="dk1"/>
                </a:solidFill>
              </a:rPr>
              <a:t>9. </a:t>
            </a:r>
            <a:r>
              <a:rPr b="1" lang="en" sz="1200">
                <a:solidFill>
                  <a:srgbClr val="188038"/>
                </a:solidFill>
              </a:rPr>
              <a:t>report_to="none"</a:t>
            </a:r>
            <a:endParaRPr b="1" sz="1200">
              <a:solidFill>
                <a:srgbClr val="188038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Arti</a:t>
            </a:r>
            <a:r>
              <a:rPr lang="en" sz="1200">
                <a:solidFill>
                  <a:schemeClr val="dk1"/>
                </a:solidFill>
              </a:rPr>
              <a:t>: Menonaktifkan pelaporan ke alat pelacakan eksperimen seperti WandB atau TensorBoard.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Maksud</a:t>
            </a:r>
            <a:r>
              <a:rPr lang="en" sz="1200">
                <a:solidFill>
                  <a:schemeClr val="dk1"/>
                </a:solidFill>
              </a:rPr>
              <a:t>: Menyederhanakan pelatihan dan menghindari ketergantungan pada alat eksternal.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Analogi</a:t>
            </a:r>
            <a:r>
              <a:rPr lang="en" sz="1200">
                <a:solidFill>
                  <a:schemeClr val="dk1"/>
                </a:solidFill>
              </a:rPr>
              <a:t>: Seperti melakukan eksperimen tanpa mencatat data secara formal.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