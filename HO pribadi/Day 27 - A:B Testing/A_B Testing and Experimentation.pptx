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5"/>
    <p:sldMasterId id="2147483683" r:id="rId6"/>
    <p:sldMasterId id="214748368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</p:sldIdLst>
  <p:sldSz cy="5143500" cx="9144000"/>
  <p:notesSz cx="6858000" cy="9144000"/>
  <p:embeddedFontLst>
    <p:embeddedFont>
      <p:font typeface="Plus Jakarta Sans"/>
      <p:regular r:id="rId44"/>
      <p:bold r:id="rId45"/>
      <p:italic r:id="rId46"/>
      <p:boldItalic r:id="rId47"/>
    </p:embeddedFont>
    <p:embeddedFont>
      <p:font typeface="Outfit"/>
      <p:regular r:id="rId48"/>
      <p:bold r:id="rId49"/>
    </p:embeddedFont>
    <p:embeddedFont>
      <p:font typeface="Plus Jakarta Sans Medium"/>
      <p:regular r:id="rId50"/>
      <p:bold r:id="rId51"/>
      <p:italic r:id="rId52"/>
      <p:boldItalic r:id="rId53"/>
    </p:embeddedFont>
    <p:embeddedFont>
      <p:font typeface="Outfit SemiBold"/>
      <p:regular r:id="rId54"/>
      <p:bold r:id="rId55"/>
    </p:embeddedFont>
    <p:embeddedFont>
      <p:font typeface="Roboto Mono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DB655E-AED2-4884-92AF-2A765C30E677}">
  <a:tblStyle styleId="{D8DB655E-AED2-4884-92AF-2A765C30E67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font" Target="fonts/PlusJakartaSans-regular.fntdata"/><Relationship Id="rId43" Type="http://schemas.openxmlformats.org/officeDocument/2006/relationships/slide" Target="slides/slide35.xml"/><Relationship Id="rId46" Type="http://schemas.openxmlformats.org/officeDocument/2006/relationships/font" Target="fonts/PlusJakartaSans-italic.fntdata"/><Relationship Id="rId45" Type="http://schemas.openxmlformats.org/officeDocument/2006/relationships/font" Target="fonts/PlusJakarta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font" Target="fonts/Outfit-regular.fntdata"/><Relationship Id="rId47" Type="http://schemas.openxmlformats.org/officeDocument/2006/relationships/font" Target="fonts/PlusJakartaSans-boldItalic.fntdata"/><Relationship Id="rId49" Type="http://schemas.openxmlformats.org/officeDocument/2006/relationships/font" Target="fonts/Outfit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PlusJakartaSansMedium-bold.fntdata"/><Relationship Id="rId50" Type="http://schemas.openxmlformats.org/officeDocument/2006/relationships/font" Target="fonts/PlusJakartaSansMedium-regular.fntdata"/><Relationship Id="rId53" Type="http://schemas.openxmlformats.org/officeDocument/2006/relationships/font" Target="fonts/PlusJakartaSansMedium-boldItalic.fntdata"/><Relationship Id="rId52" Type="http://schemas.openxmlformats.org/officeDocument/2006/relationships/font" Target="fonts/PlusJakartaSansMedium-italic.fntdata"/><Relationship Id="rId11" Type="http://schemas.openxmlformats.org/officeDocument/2006/relationships/slide" Target="slides/slide3.xml"/><Relationship Id="rId55" Type="http://schemas.openxmlformats.org/officeDocument/2006/relationships/font" Target="fonts/OutfitSemiBold-bold.fntdata"/><Relationship Id="rId10" Type="http://schemas.openxmlformats.org/officeDocument/2006/relationships/slide" Target="slides/slide2.xml"/><Relationship Id="rId54" Type="http://schemas.openxmlformats.org/officeDocument/2006/relationships/font" Target="fonts/OutfitSemiBold-regular.fntdata"/><Relationship Id="rId13" Type="http://schemas.openxmlformats.org/officeDocument/2006/relationships/slide" Target="slides/slide5.xml"/><Relationship Id="rId57" Type="http://schemas.openxmlformats.org/officeDocument/2006/relationships/font" Target="fonts/RobotoMono-bold.fntdata"/><Relationship Id="rId12" Type="http://schemas.openxmlformats.org/officeDocument/2006/relationships/slide" Target="slides/slide4.xml"/><Relationship Id="rId56" Type="http://schemas.openxmlformats.org/officeDocument/2006/relationships/font" Target="fonts/RobotoMono-regular.fntdata"/><Relationship Id="rId15" Type="http://schemas.openxmlformats.org/officeDocument/2006/relationships/slide" Target="slides/slide7.xml"/><Relationship Id="rId59" Type="http://schemas.openxmlformats.org/officeDocument/2006/relationships/font" Target="fonts/RobotoMono-boldItalic.fntdata"/><Relationship Id="rId14" Type="http://schemas.openxmlformats.org/officeDocument/2006/relationships/slide" Target="slides/slide6.xml"/><Relationship Id="rId58" Type="http://schemas.openxmlformats.org/officeDocument/2006/relationships/font" Target="fonts/RobotoMono-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264db34e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264db34e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8344465e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68344465e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264db34e63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264db34e63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64db34e63_0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264db34e63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264db34e63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264db34e63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264db34e63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264db34e63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264db34e63_0_9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264db34e63_0_9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68344465e5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68344465e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31f34c27b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31f34c27b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28638026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28638026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31f34c27b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31f34c27b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3cf463ec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3cf463ec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3324ff2b1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3324ff2b1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31f34c27bb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31f34c27bb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3cf463ec0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3cf463ec0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3324ff2b1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g33324ff2b1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3324ff2b15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g33324ff2b15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3324ff2b1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3324ff2b1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40c2d9a242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g340c2d9a242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3324ff2b1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g33324ff2b1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324ff2b1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g33324ff2b1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3324ff2b1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g33324ff2b1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3cf463ec00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g33cf463ec00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264db34e63_0_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264db34e63_0_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3324ff2b15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g33324ff2b15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3cf463ec00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g33cf463ec00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31f34c27bb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31f34c27bb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3324ff2b15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g33324ff2b15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3cf463ec00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g33cf463ec0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3cf463ec00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g33cf463ec00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3cf463ec00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g33cf463ec00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3324ff2b15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g33324ff2b15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33371c66a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g333371c66a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264db34e63_0_1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264db34e63_0_1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40c2d9a24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40c2d9a24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1" y="205979"/>
            <a:ext cx="82296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1" y="1200154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2" y="47672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5" y="476727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10" y="47672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3108960" y="4783455"/>
            <a:ext cx="2926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0" type="dt"/>
          </p:nvPr>
        </p:nvSpPr>
        <p:spPr>
          <a:xfrm>
            <a:off x="457200" y="4783455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ctrTitle"/>
          </p:nvPr>
        </p:nvSpPr>
        <p:spPr>
          <a:xfrm>
            <a:off x="685802" y="1597824"/>
            <a:ext cx="77727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1371603" y="2914657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2" y="47672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5" y="476727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53210" y="47672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722314" y="3305184"/>
            <a:ext cx="77727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722314" y="2180041"/>
            <a:ext cx="7772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2" y="47672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205" y="476727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3210" y="47672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457201" y="205979"/>
            <a:ext cx="82296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50839" y="1228729"/>
            <a:ext cx="3082800" cy="3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586169" y="1228729"/>
            <a:ext cx="3084300" cy="3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457202" y="47672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24205" y="476727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553210" y="47672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57201" y="205979"/>
            <a:ext cx="82296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457200" y="1151337"/>
            <a:ext cx="4040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457200" y="1631161"/>
            <a:ext cx="40404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45033" y="1151337"/>
            <a:ext cx="4041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45033" y="1631161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457202" y="47672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24205" y="476727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553210" y="47672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457201" y="205979"/>
            <a:ext cx="82296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2" y="47672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5" y="476727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10" y="47672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idx="10" type="dt"/>
          </p:nvPr>
        </p:nvSpPr>
        <p:spPr>
          <a:xfrm>
            <a:off x="457202" y="47672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1" type="ftr"/>
          </p:nvPr>
        </p:nvSpPr>
        <p:spPr>
          <a:xfrm>
            <a:off x="3124205" y="476727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2" type="sldNum"/>
          </p:nvPr>
        </p:nvSpPr>
        <p:spPr>
          <a:xfrm>
            <a:off x="6553210" y="47672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457201" y="204788"/>
            <a:ext cx="30081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3575055" y="204789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6" name="Google Shape;106;p22"/>
          <p:cNvSpPr txBox="1"/>
          <p:nvPr>
            <p:ph idx="2" type="body"/>
          </p:nvPr>
        </p:nvSpPr>
        <p:spPr>
          <a:xfrm>
            <a:off x="457201" y="1076328"/>
            <a:ext cx="3008100" cy="3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7" name="Google Shape;107;p22"/>
          <p:cNvSpPr txBox="1"/>
          <p:nvPr>
            <p:ph idx="10" type="dt"/>
          </p:nvPr>
        </p:nvSpPr>
        <p:spPr>
          <a:xfrm>
            <a:off x="457202" y="47672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1" type="ftr"/>
          </p:nvPr>
        </p:nvSpPr>
        <p:spPr>
          <a:xfrm>
            <a:off x="3124205" y="476727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2" type="sldNum"/>
          </p:nvPr>
        </p:nvSpPr>
        <p:spPr>
          <a:xfrm>
            <a:off x="6553210" y="47672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title"/>
          </p:nvPr>
        </p:nvSpPr>
        <p:spPr>
          <a:xfrm>
            <a:off x="1792291" y="3600459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3"/>
          <p:cNvSpPr/>
          <p:nvPr>
            <p:ph idx="2" type="pic"/>
          </p:nvPr>
        </p:nvSpPr>
        <p:spPr>
          <a:xfrm>
            <a:off x="1792291" y="459582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1792291" y="402551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4" name="Google Shape;114;p23"/>
          <p:cNvSpPr txBox="1"/>
          <p:nvPr>
            <p:ph idx="10" type="dt"/>
          </p:nvPr>
        </p:nvSpPr>
        <p:spPr>
          <a:xfrm>
            <a:off x="457202" y="47672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1" type="ftr"/>
          </p:nvPr>
        </p:nvSpPr>
        <p:spPr>
          <a:xfrm>
            <a:off x="3124205" y="476727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6553210" y="47672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type="title"/>
          </p:nvPr>
        </p:nvSpPr>
        <p:spPr>
          <a:xfrm>
            <a:off x="457201" y="205979"/>
            <a:ext cx="82296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1" type="body"/>
          </p:nvPr>
        </p:nvSpPr>
        <p:spPr>
          <a:xfrm rot="5400000">
            <a:off x="2874764" y="-1217396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0" type="dt"/>
          </p:nvPr>
        </p:nvSpPr>
        <p:spPr>
          <a:xfrm>
            <a:off x="457202" y="47672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1" type="ftr"/>
          </p:nvPr>
        </p:nvSpPr>
        <p:spPr>
          <a:xfrm>
            <a:off x="3124205" y="476727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2" type="sldNum"/>
          </p:nvPr>
        </p:nvSpPr>
        <p:spPr>
          <a:xfrm>
            <a:off x="6553210" y="47672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type="title"/>
          </p:nvPr>
        </p:nvSpPr>
        <p:spPr>
          <a:xfrm rot="5400000">
            <a:off x="3634235" y="1667692"/>
            <a:ext cx="4493400" cy="15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1" type="body"/>
          </p:nvPr>
        </p:nvSpPr>
        <p:spPr>
          <a:xfrm rot="5400000">
            <a:off x="398070" y="163492"/>
            <a:ext cx="4493400" cy="45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0" type="dt"/>
          </p:nvPr>
        </p:nvSpPr>
        <p:spPr>
          <a:xfrm>
            <a:off x="457202" y="47672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1" type="ftr"/>
          </p:nvPr>
        </p:nvSpPr>
        <p:spPr>
          <a:xfrm>
            <a:off x="3124205" y="476727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6553210" y="47672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5" name="Google Shape;135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6" name="Google Shape;13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9" name="Google Shape;13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" name="Google Shape;14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3" name="Google Shape;14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6" name="Google Shape;146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7" name="Google Shape;147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8" name="Google Shape;14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" name="Google Shape;15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4" name="Google Shape;154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5" name="Google Shape;15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8" name="Google Shape;15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62" name="Google Shape;162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3" name="Google Shape;163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4" name="Google Shape;16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67" name="Google Shape;16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0" name="Google Shape;170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1" name="Google Shape;171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1" y="205979"/>
            <a:ext cx="82296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1" y="1200154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2" y="47672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5" y="476727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10" y="47672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2" name="Google Shape;13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hyperlink" Target="https://www.linkedin.com/in/arga-adyatama-59327a151/" TargetMode="External"/><Relationship Id="rId6" Type="http://schemas.openxmlformats.org/officeDocument/2006/relationships/image" Target="../media/image21.png"/><Relationship Id="rId7" Type="http://schemas.openxmlformats.org/officeDocument/2006/relationships/hyperlink" Target="https://github.com/argaadya" TargetMode="External"/><Relationship Id="rId8" Type="http://schemas.openxmlformats.org/officeDocument/2006/relationships/hyperlink" Target="https://rpubs.com/argaadya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drive/folders/1U0B06stvLT0ooXGcH2-TxK67uCBGHS5N?usp=sharing" TargetMode="External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hyperlink" Target="https://www.shopify.com/blog/basic-ecommerce-metrics" TargetMode="External"/><Relationship Id="rId5" Type="http://schemas.openxmlformats.org/officeDocument/2006/relationships/hyperlink" Target="https://www.shopify.com/blog/basic-ecommerce-metrics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hyperlink" Target="https://cxl.com/ab-test-calculator/" TargetMode="External"/><Relationship Id="rId7" Type="http://schemas.openxmlformats.org/officeDocument/2006/relationships/hyperlink" Target="https://cxl.com/ab-test-calculator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36.png"/><Relationship Id="rId6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5" Type="http://schemas.openxmlformats.org/officeDocument/2006/relationships/image" Target="../media/image27.png"/><Relationship Id="rId6" Type="http://schemas.openxmlformats.org/officeDocument/2006/relationships/image" Target="../media/image24.png"/><Relationship Id="rId7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image" Target="../media/image33.png"/><Relationship Id="rId5" Type="http://schemas.openxmlformats.org/officeDocument/2006/relationships/image" Target="../media/image24.png"/><Relationship Id="rId6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3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8"/>
          <p:cNvSpPr/>
          <p:nvPr/>
        </p:nvSpPr>
        <p:spPr>
          <a:xfrm>
            <a:off x="-1049844" y="1041881"/>
            <a:ext cx="7578900" cy="41016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8"/>
          <p:cNvSpPr txBox="1"/>
          <p:nvPr>
            <p:ph type="ctrTitle"/>
          </p:nvPr>
        </p:nvSpPr>
        <p:spPr>
          <a:xfrm>
            <a:off x="455100" y="1366250"/>
            <a:ext cx="4788600" cy="215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A/B Testing and Experimentation</a:t>
            </a:r>
            <a:endParaRPr sz="3600">
              <a:solidFill>
                <a:schemeClr val="lt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80" name="Google Shape;180;p38"/>
          <p:cNvSpPr txBox="1"/>
          <p:nvPr>
            <p:ph idx="1" type="subTitle"/>
          </p:nvPr>
        </p:nvSpPr>
        <p:spPr>
          <a:xfrm>
            <a:off x="508562" y="3639960"/>
            <a:ext cx="4788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Batch 33</a:t>
            </a:r>
            <a:r>
              <a:rPr lang="en" sz="1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| Bootcamp Data Science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81" name="Google Shape;18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2" name="Google Shape;182;p38"/>
          <p:cNvCxnSpPr/>
          <p:nvPr/>
        </p:nvCxnSpPr>
        <p:spPr>
          <a:xfrm>
            <a:off x="609820" y="4432618"/>
            <a:ext cx="3933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38"/>
          <p:cNvSpPr/>
          <p:nvPr/>
        </p:nvSpPr>
        <p:spPr>
          <a:xfrm>
            <a:off x="1144053" y="4371137"/>
            <a:ext cx="611700" cy="123000"/>
          </a:xfrm>
          <a:prstGeom prst="roundRect">
            <a:avLst>
              <a:gd fmla="val 50000" name="adj"/>
            </a:avLst>
          </a:prstGeom>
          <a:solidFill>
            <a:srgbClr val="FFBD58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8"/>
          <p:cNvSpPr/>
          <p:nvPr/>
        </p:nvSpPr>
        <p:spPr>
          <a:xfrm rot="-1973905">
            <a:off x="5562549" y="2327723"/>
            <a:ext cx="1120130" cy="1120293"/>
          </a:xfrm>
          <a:prstGeom prst="ellipse">
            <a:avLst/>
          </a:prstGeom>
          <a:solidFill>
            <a:srgbClr val="FFBD58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8"/>
          <p:cNvSpPr/>
          <p:nvPr/>
        </p:nvSpPr>
        <p:spPr>
          <a:xfrm rot="-3576061">
            <a:off x="4993052" y="3067954"/>
            <a:ext cx="3037833" cy="3136368"/>
          </a:xfrm>
          <a:prstGeom prst="ellipse">
            <a:avLst/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9"/>
          <p:cNvSpPr/>
          <p:nvPr/>
        </p:nvSpPr>
        <p:spPr>
          <a:xfrm rot="-3576210">
            <a:off x="-547576" y="-2387832"/>
            <a:ext cx="3913189" cy="3913296"/>
          </a:xfrm>
          <a:prstGeom prst="ellipse">
            <a:avLst/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9"/>
          <p:cNvSpPr/>
          <p:nvPr/>
        </p:nvSpPr>
        <p:spPr>
          <a:xfrm>
            <a:off x="437625" y="383975"/>
            <a:ext cx="1942800" cy="19428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4525" y="276637"/>
            <a:ext cx="1184649" cy="35862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9"/>
          <p:cNvSpPr txBox="1"/>
          <p:nvPr/>
        </p:nvSpPr>
        <p:spPr>
          <a:xfrm>
            <a:off x="503598" y="2773182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8A8C4"/>
                </a:solidFill>
                <a:latin typeface="Outfit"/>
                <a:ea typeface="Outfit"/>
                <a:cs typeface="Outfit"/>
                <a:sym typeface="Outfit"/>
              </a:rPr>
              <a:t>Mentor</a:t>
            </a:r>
            <a:endParaRPr sz="1600">
              <a:solidFill>
                <a:srgbClr val="48A8C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4" name="Google Shape;194;p39"/>
          <p:cNvSpPr txBox="1"/>
          <p:nvPr/>
        </p:nvSpPr>
        <p:spPr>
          <a:xfrm>
            <a:off x="503600" y="2326775"/>
            <a:ext cx="3139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utfit"/>
                <a:ea typeface="Outfit"/>
                <a:cs typeface="Outfit"/>
                <a:sym typeface="Outfit"/>
              </a:rPr>
              <a:t>Arga Adyatama</a:t>
            </a:r>
            <a:endParaRPr sz="30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5" name="Google Shape;195;p39"/>
          <p:cNvSpPr txBox="1"/>
          <p:nvPr/>
        </p:nvSpPr>
        <p:spPr>
          <a:xfrm>
            <a:off x="503591" y="3106674"/>
            <a:ext cx="3078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Outfit"/>
                <a:ea typeface="Outfit"/>
                <a:cs typeface="Outfit"/>
                <a:sym typeface="Outfit"/>
              </a:rPr>
              <a:t>Loyalty Data Analyst</a:t>
            </a:r>
            <a:endParaRPr i="1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utfit"/>
                <a:ea typeface="Outfit"/>
                <a:cs typeface="Outfit"/>
                <a:sym typeface="Outfit"/>
              </a:rPr>
              <a:t>Kawan Lama Group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6" name="Google Shape;19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4525" y="276637"/>
            <a:ext cx="1184649" cy="358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9"/>
          <p:cNvSpPr txBox="1"/>
          <p:nvPr/>
        </p:nvSpPr>
        <p:spPr>
          <a:xfrm>
            <a:off x="4595591" y="1691636"/>
            <a:ext cx="3078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latin typeface="Outfit SemiBold"/>
                <a:ea typeface="Outfit SemiBold"/>
                <a:cs typeface="Outfit SemiBold"/>
                <a:sym typeface="Outfit SemiBold"/>
              </a:rPr>
              <a:t>LinkedIn</a:t>
            </a:r>
            <a:endParaRPr i="1" sz="1400"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u="sng">
                <a:solidFill>
                  <a:schemeClr val="hlink"/>
                </a:solidFill>
                <a:latin typeface="Outfit"/>
                <a:ea typeface="Outfit"/>
                <a:cs typeface="Outfit"/>
                <a:sym typeface="Outfit"/>
                <a:hlinkClick r:id="rId5"/>
              </a:rPr>
              <a:t>Arga Adyatama</a:t>
            </a:r>
            <a:endParaRPr i="1" sz="14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9" name="Google Shape;199;p39"/>
          <p:cNvSpPr/>
          <p:nvPr/>
        </p:nvSpPr>
        <p:spPr>
          <a:xfrm rot="-4242174">
            <a:off x="8037854" y="2354407"/>
            <a:ext cx="2301292" cy="2301476"/>
          </a:xfrm>
          <a:prstGeom prst="ellipse">
            <a:avLst/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9"/>
          <p:cNvSpPr/>
          <p:nvPr/>
        </p:nvSpPr>
        <p:spPr>
          <a:xfrm rot="-1973905">
            <a:off x="8404935" y="4306667"/>
            <a:ext cx="1120130" cy="1120293"/>
          </a:xfrm>
          <a:prstGeom prst="ellipse">
            <a:avLst/>
          </a:prstGeom>
          <a:solidFill>
            <a:srgbClr val="FFBD58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6475" y="275975"/>
            <a:ext cx="2025100" cy="202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9"/>
          <p:cNvSpPr txBox="1"/>
          <p:nvPr/>
        </p:nvSpPr>
        <p:spPr>
          <a:xfrm>
            <a:off x="4595591" y="2497211"/>
            <a:ext cx="3078300" cy="10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Outfit SemiBold"/>
                <a:ea typeface="Outfit SemiBold"/>
                <a:cs typeface="Outfit SemiBold"/>
                <a:sym typeface="Outfit SemiBold"/>
              </a:rPr>
              <a:t>My writing</a:t>
            </a:r>
            <a:endParaRPr i="1"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Char char="●"/>
            </a:pPr>
            <a:r>
              <a:rPr lang="en" sz="1200">
                <a:solidFill>
                  <a:schemeClr val="accent5"/>
                </a:solidFill>
                <a:uFill>
                  <a:noFill/>
                </a:uFill>
                <a:latin typeface="Outfit"/>
                <a:ea typeface="Outfit"/>
                <a:cs typeface="Outfit"/>
                <a:sym typeface="Outfi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Char char="●"/>
            </a:pPr>
            <a:r>
              <a:rPr lang="en" sz="1200">
                <a:solidFill>
                  <a:schemeClr val="accent5"/>
                </a:solidFill>
                <a:uFill>
                  <a:noFill/>
                </a:uFill>
                <a:latin typeface="Outfit"/>
                <a:ea typeface="Outfit"/>
                <a:cs typeface="Outfit"/>
                <a:sym typeface="Outfit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Blog post</a:t>
            </a:r>
            <a:endParaRPr i="1"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203" name="Google Shape;203;p39"/>
          <p:cNvCxnSpPr/>
          <p:nvPr/>
        </p:nvCxnSpPr>
        <p:spPr>
          <a:xfrm>
            <a:off x="4595600" y="2426463"/>
            <a:ext cx="2799600" cy="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4525" y="276637"/>
            <a:ext cx="1184649" cy="35862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40"/>
          <p:cNvSpPr/>
          <p:nvPr/>
        </p:nvSpPr>
        <p:spPr>
          <a:xfrm>
            <a:off x="767922" y="1825797"/>
            <a:ext cx="2353500" cy="2722800"/>
          </a:xfrm>
          <a:prstGeom prst="roundRect">
            <a:avLst>
              <a:gd fmla="val 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0" name="Google Shape;210;p40"/>
          <p:cNvSpPr/>
          <p:nvPr/>
        </p:nvSpPr>
        <p:spPr>
          <a:xfrm>
            <a:off x="3380075" y="1831259"/>
            <a:ext cx="2353500" cy="2722800"/>
          </a:xfrm>
          <a:prstGeom prst="roundRect">
            <a:avLst>
              <a:gd fmla="val 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1" name="Google Shape;211;p40"/>
          <p:cNvSpPr/>
          <p:nvPr/>
        </p:nvSpPr>
        <p:spPr>
          <a:xfrm>
            <a:off x="5992228" y="1831259"/>
            <a:ext cx="2353500" cy="2722800"/>
          </a:xfrm>
          <a:prstGeom prst="roundRect">
            <a:avLst>
              <a:gd fmla="val 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2" name="Google Shape;212;p40"/>
          <p:cNvSpPr txBox="1"/>
          <p:nvPr/>
        </p:nvSpPr>
        <p:spPr>
          <a:xfrm>
            <a:off x="984597" y="1946072"/>
            <a:ext cx="198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A/B Testing Philosophy</a:t>
            </a:r>
            <a:endParaRPr sz="1800">
              <a:solidFill>
                <a:schemeClr val="lt1"/>
              </a:solidFill>
              <a:highlight>
                <a:srgbClr val="FFFFFF"/>
              </a:highlight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213" name="Google Shape;213;p40"/>
          <p:cNvSpPr txBox="1"/>
          <p:nvPr/>
        </p:nvSpPr>
        <p:spPr>
          <a:xfrm>
            <a:off x="912747" y="2797622"/>
            <a:ext cx="2124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"/>
              <a:buChar char="●"/>
            </a:pPr>
            <a:r>
              <a:rPr lang="en" sz="1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What is A/B testing?</a:t>
            </a:r>
            <a:endParaRPr sz="10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"/>
              <a:buChar char="●"/>
            </a:pPr>
            <a:r>
              <a:rPr lang="en" sz="1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Why we do A/B testing?</a:t>
            </a:r>
            <a:endParaRPr sz="10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Outfit"/>
              <a:buChar char="●"/>
            </a:pPr>
            <a:r>
              <a:rPr lang="en" sz="1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When we do A/B testing?</a:t>
            </a:r>
            <a:endParaRPr sz="10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4" name="Google Shape;214;p40"/>
          <p:cNvSpPr txBox="1"/>
          <p:nvPr/>
        </p:nvSpPr>
        <p:spPr>
          <a:xfrm>
            <a:off x="3566525" y="1946072"/>
            <a:ext cx="198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Design A/B Test</a:t>
            </a:r>
            <a:endParaRPr sz="1800">
              <a:solidFill>
                <a:schemeClr val="lt1"/>
              </a:solidFill>
              <a:highlight>
                <a:srgbClr val="FFFFFF"/>
              </a:highlight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215" name="Google Shape;215;p40"/>
          <p:cNvSpPr txBox="1"/>
          <p:nvPr/>
        </p:nvSpPr>
        <p:spPr>
          <a:xfrm>
            <a:off x="6148453" y="1946072"/>
            <a:ext cx="212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Evaluate A/B Test</a:t>
            </a:r>
            <a:endParaRPr sz="1800">
              <a:solidFill>
                <a:schemeClr val="lt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id="216" name="Google Shape;21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40"/>
          <p:cNvSpPr txBox="1"/>
          <p:nvPr/>
        </p:nvSpPr>
        <p:spPr>
          <a:xfrm>
            <a:off x="287388" y="797355"/>
            <a:ext cx="8569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Outline</a:t>
            </a:r>
            <a:endParaRPr sz="1400"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218" name="Google Shape;218;p40"/>
          <p:cNvSpPr/>
          <p:nvPr/>
        </p:nvSpPr>
        <p:spPr>
          <a:xfrm>
            <a:off x="1695658" y="1536442"/>
            <a:ext cx="498000" cy="399000"/>
          </a:xfrm>
          <a:prstGeom prst="rect">
            <a:avLst/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19" name="Google Shape;219;p40"/>
          <p:cNvSpPr/>
          <p:nvPr/>
        </p:nvSpPr>
        <p:spPr>
          <a:xfrm>
            <a:off x="4307808" y="1550250"/>
            <a:ext cx="498000" cy="399000"/>
          </a:xfrm>
          <a:prstGeom prst="rect">
            <a:avLst/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20" name="Google Shape;220;p40"/>
          <p:cNvSpPr/>
          <p:nvPr/>
        </p:nvSpPr>
        <p:spPr>
          <a:xfrm>
            <a:off x="6961601" y="1536455"/>
            <a:ext cx="498000" cy="399000"/>
          </a:xfrm>
          <a:prstGeom prst="rect">
            <a:avLst/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21" name="Google Shape;221;p40"/>
          <p:cNvSpPr txBox="1"/>
          <p:nvPr/>
        </p:nvSpPr>
        <p:spPr>
          <a:xfrm>
            <a:off x="3494672" y="2797622"/>
            <a:ext cx="2124300" cy="11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"/>
              <a:buChar char="●"/>
            </a:pPr>
            <a:r>
              <a:rPr lang="en" sz="1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Develop hypothesis</a:t>
            </a:r>
            <a:endParaRPr sz="10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"/>
              <a:buChar char="●"/>
            </a:pPr>
            <a:r>
              <a:rPr lang="en" sz="1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Define success &amp; guardrail metrics</a:t>
            </a:r>
            <a:endParaRPr sz="10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Outfit"/>
              <a:buChar char="●"/>
            </a:pPr>
            <a:r>
              <a:rPr lang="en" sz="1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Define control and variant groups</a:t>
            </a:r>
            <a:endParaRPr sz="10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22" name="Google Shape;222;p40"/>
          <p:cNvSpPr txBox="1"/>
          <p:nvPr/>
        </p:nvSpPr>
        <p:spPr>
          <a:xfrm>
            <a:off x="6076597" y="2797622"/>
            <a:ext cx="2124300" cy="10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"/>
              <a:buChar char="●"/>
            </a:pPr>
            <a:r>
              <a:rPr lang="en" sz="1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Type of test</a:t>
            </a:r>
            <a:endParaRPr sz="10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"/>
              <a:buChar char="●"/>
            </a:pPr>
            <a:r>
              <a:rPr lang="en" sz="1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Statistical test</a:t>
            </a:r>
            <a:endParaRPr sz="10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"/>
              <a:buChar char="○"/>
            </a:pPr>
            <a:r>
              <a:rPr lang="en" sz="1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Parametric</a:t>
            </a:r>
            <a:endParaRPr sz="10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Outfit"/>
              <a:buChar char="○"/>
            </a:pPr>
            <a:r>
              <a:rPr lang="en" sz="1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Non-parametric</a:t>
            </a:r>
            <a:endParaRPr sz="10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8A8C4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1"/>
          <p:cNvSpPr/>
          <p:nvPr/>
        </p:nvSpPr>
        <p:spPr>
          <a:xfrm>
            <a:off x="-1049844" y="1135227"/>
            <a:ext cx="5007000" cy="4008300"/>
          </a:xfrm>
          <a:prstGeom prst="parallelogram">
            <a:avLst>
              <a:gd fmla="val 25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1"/>
          <p:cNvSpPr/>
          <p:nvPr/>
        </p:nvSpPr>
        <p:spPr>
          <a:xfrm>
            <a:off x="1231663" y="3378571"/>
            <a:ext cx="2725500" cy="1764900"/>
          </a:xfrm>
          <a:prstGeom prst="parallelogram">
            <a:avLst>
              <a:gd fmla="val 25000" name="adj"/>
            </a:avLst>
          </a:prstGeom>
          <a:solidFill>
            <a:srgbClr val="FFBD58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1"/>
          <p:cNvSpPr/>
          <p:nvPr/>
        </p:nvSpPr>
        <p:spPr>
          <a:xfrm>
            <a:off x="2300154" y="3922574"/>
            <a:ext cx="1852800" cy="12210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1"/>
          <p:cNvSpPr txBox="1"/>
          <p:nvPr>
            <p:ph type="ctrTitle"/>
          </p:nvPr>
        </p:nvSpPr>
        <p:spPr>
          <a:xfrm>
            <a:off x="4775627" y="2351480"/>
            <a:ext cx="4033800" cy="1357500"/>
          </a:xfrm>
          <a:prstGeom prst="rect">
            <a:avLst/>
          </a:prstGeom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Prepare Your Drive</a:t>
            </a:r>
            <a:endParaRPr sz="4800">
              <a:solidFill>
                <a:schemeClr val="lt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id="231" name="Google Shape;23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4525" y="276637"/>
            <a:ext cx="1184649" cy="358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2"/>
          <p:cNvSpPr txBox="1"/>
          <p:nvPr/>
        </p:nvSpPr>
        <p:spPr>
          <a:xfrm>
            <a:off x="357825" y="1121380"/>
            <a:ext cx="6034200" cy="19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 whole materials can be found </a:t>
            </a:r>
            <a:r>
              <a:rPr lang="en" u="sng">
                <a:solidFill>
                  <a:schemeClr val="hlink"/>
                </a:solidFill>
                <a:latin typeface="Outfit"/>
                <a:ea typeface="Outfit"/>
                <a:cs typeface="Outfit"/>
                <a:sym typeface="Outfit"/>
                <a:hlinkClick r:id="rId3"/>
              </a:rPr>
              <a:t>here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Prepare your own drive folder that at least contain the following items to get better learning experience: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Copy of </a:t>
            </a:r>
            <a:r>
              <a:rPr i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hands_on_ab_testing_statistics.ipynb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Copy of </a:t>
            </a:r>
            <a:r>
              <a:rPr i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news_ab_test.csv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37" name="Google Shape;23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42"/>
          <p:cNvSpPr/>
          <p:nvPr/>
        </p:nvSpPr>
        <p:spPr>
          <a:xfrm>
            <a:off x="7107701" y="1259114"/>
            <a:ext cx="4459800" cy="40083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2"/>
          <p:cNvSpPr/>
          <p:nvPr/>
        </p:nvSpPr>
        <p:spPr>
          <a:xfrm>
            <a:off x="6955327" y="3369968"/>
            <a:ext cx="1321200" cy="9168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42"/>
          <p:cNvSpPr txBox="1"/>
          <p:nvPr/>
        </p:nvSpPr>
        <p:spPr>
          <a:xfrm>
            <a:off x="357825" y="275974"/>
            <a:ext cx="71109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Get the Materials</a:t>
            </a:r>
            <a:endParaRPr sz="33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8A8C4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/>
          <p:nvPr/>
        </p:nvSpPr>
        <p:spPr>
          <a:xfrm>
            <a:off x="-1049844" y="1135227"/>
            <a:ext cx="5007000" cy="4008300"/>
          </a:xfrm>
          <a:prstGeom prst="parallelogram">
            <a:avLst>
              <a:gd fmla="val 25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3"/>
          <p:cNvSpPr/>
          <p:nvPr/>
        </p:nvSpPr>
        <p:spPr>
          <a:xfrm>
            <a:off x="1231663" y="3378571"/>
            <a:ext cx="2725500" cy="1764900"/>
          </a:xfrm>
          <a:prstGeom prst="parallelogram">
            <a:avLst>
              <a:gd fmla="val 25000" name="adj"/>
            </a:avLst>
          </a:prstGeom>
          <a:solidFill>
            <a:srgbClr val="FFBD58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3"/>
          <p:cNvSpPr/>
          <p:nvPr/>
        </p:nvSpPr>
        <p:spPr>
          <a:xfrm>
            <a:off x="2300154" y="3922574"/>
            <a:ext cx="1852800" cy="12210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43"/>
          <p:cNvSpPr txBox="1"/>
          <p:nvPr>
            <p:ph type="ctrTitle"/>
          </p:nvPr>
        </p:nvSpPr>
        <p:spPr>
          <a:xfrm>
            <a:off x="4775627" y="2351480"/>
            <a:ext cx="4033800" cy="1357500"/>
          </a:xfrm>
          <a:prstGeom prst="rect">
            <a:avLst/>
          </a:prstGeom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Introduction</a:t>
            </a:r>
            <a:endParaRPr sz="4800">
              <a:solidFill>
                <a:schemeClr val="lt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id="249" name="Google Shape;24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4525" y="276637"/>
            <a:ext cx="1184649" cy="358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44"/>
          <p:cNvSpPr txBox="1"/>
          <p:nvPr/>
        </p:nvSpPr>
        <p:spPr>
          <a:xfrm>
            <a:off x="357825" y="2030400"/>
            <a:ext cx="46503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0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Have You Ever Need to Make A Big Decision?</a:t>
            </a:r>
            <a:endParaRPr sz="30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grpSp>
        <p:nvGrpSpPr>
          <p:cNvPr id="256" name="Google Shape;256;p44"/>
          <p:cNvGrpSpPr/>
          <p:nvPr/>
        </p:nvGrpSpPr>
        <p:grpSpPr>
          <a:xfrm>
            <a:off x="5324950" y="934725"/>
            <a:ext cx="2701399" cy="3948009"/>
            <a:chOff x="3390300" y="872600"/>
            <a:chExt cx="2701399" cy="3948009"/>
          </a:xfrm>
        </p:grpSpPr>
        <p:pic>
          <p:nvPicPr>
            <p:cNvPr id="257" name="Google Shape;257;p44"/>
            <p:cNvPicPr preferRelativeResize="0"/>
            <p:nvPr/>
          </p:nvPicPr>
          <p:blipFill rotWithShape="1">
            <a:blip r:embed="rId4">
              <a:alphaModFix/>
            </a:blip>
            <a:srcRect b="3428" l="0" r="0" t="0"/>
            <a:stretch/>
          </p:blipFill>
          <p:spPr>
            <a:xfrm>
              <a:off x="3390300" y="872600"/>
              <a:ext cx="2701399" cy="39480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44"/>
            <p:cNvSpPr txBox="1"/>
            <p:nvPr/>
          </p:nvSpPr>
          <p:spPr>
            <a:xfrm rot="-786278">
              <a:off x="4538526" y="1155004"/>
              <a:ext cx="702597" cy="3076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Outfit"/>
                  <a:ea typeface="Outfit"/>
                  <a:cs typeface="Outfit"/>
                  <a:sym typeface="Outfit"/>
                </a:rPr>
                <a:t>Option B</a:t>
              </a:r>
              <a:endParaRPr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59" name="Google Shape;259;p44"/>
            <p:cNvSpPr txBox="1"/>
            <p:nvPr/>
          </p:nvSpPr>
          <p:spPr>
            <a:xfrm rot="-786684">
              <a:off x="3622635" y="1395344"/>
              <a:ext cx="838458" cy="3076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Outfit"/>
                  <a:ea typeface="Outfit"/>
                  <a:cs typeface="Outfit"/>
                  <a:sym typeface="Outfit"/>
                </a:rPr>
                <a:t>Option A</a:t>
              </a:r>
              <a:endParaRPr sz="6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45"/>
          <p:cNvSpPr txBox="1"/>
          <p:nvPr/>
        </p:nvSpPr>
        <p:spPr>
          <a:xfrm>
            <a:off x="357825" y="1453213"/>
            <a:ext cx="4650300" cy="22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0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How Companies Release New Medication?</a:t>
            </a:r>
            <a:endParaRPr sz="30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sz="30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Do they just develop a new drugs and quickly sell them to customers?</a:t>
            </a:r>
            <a:endParaRPr sz="16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id="266" name="Google Shape;26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6250" y="1175039"/>
            <a:ext cx="2793425" cy="279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6"/>
          <p:cNvSpPr txBox="1"/>
          <p:nvPr/>
        </p:nvSpPr>
        <p:spPr>
          <a:xfrm>
            <a:off x="202000" y="1121375"/>
            <a:ext cx="68373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Why does the guy not afraid to climb a vertical wall?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What does this 2 pictures have in common?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72" name="Google Shape;27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6"/>
          <p:cNvSpPr txBox="1"/>
          <p:nvPr/>
        </p:nvSpPr>
        <p:spPr>
          <a:xfrm>
            <a:off x="202000" y="275974"/>
            <a:ext cx="71109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0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Risk Mitigation</a:t>
            </a:r>
            <a:endParaRPr sz="30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id="274" name="Google Shape;274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000" y="1904300"/>
            <a:ext cx="2675525" cy="2659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7900" y="1904301"/>
            <a:ext cx="3545949" cy="265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6"/>
          <p:cNvSpPr/>
          <p:nvPr/>
        </p:nvSpPr>
        <p:spPr>
          <a:xfrm>
            <a:off x="7107701" y="1259114"/>
            <a:ext cx="4459800" cy="40083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6"/>
          <p:cNvSpPr/>
          <p:nvPr/>
        </p:nvSpPr>
        <p:spPr>
          <a:xfrm>
            <a:off x="6955327" y="3369968"/>
            <a:ext cx="1321200" cy="9168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7"/>
          <p:cNvSpPr txBox="1"/>
          <p:nvPr/>
        </p:nvSpPr>
        <p:spPr>
          <a:xfrm>
            <a:off x="653075" y="1393330"/>
            <a:ext cx="6034200" cy="18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Mistakes happen,</a:t>
            </a:r>
            <a:endParaRPr i="1" sz="3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learn from them,</a:t>
            </a:r>
            <a:endParaRPr i="1" sz="3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iterate and improve</a:t>
            </a:r>
            <a:endParaRPr sz="3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83" name="Google Shape;28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47"/>
          <p:cNvSpPr/>
          <p:nvPr/>
        </p:nvSpPr>
        <p:spPr>
          <a:xfrm>
            <a:off x="7107701" y="1259114"/>
            <a:ext cx="4459800" cy="40083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7"/>
          <p:cNvSpPr/>
          <p:nvPr/>
        </p:nvSpPr>
        <p:spPr>
          <a:xfrm>
            <a:off x="6955327" y="3369968"/>
            <a:ext cx="1321200" cy="9168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8"/>
          <p:cNvSpPr/>
          <p:nvPr/>
        </p:nvSpPr>
        <p:spPr>
          <a:xfrm>
            <a:off x="7107701" y="1259114"/>
            <a:ext cx="4459800" cy="40083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8"/>
          <p:cNvSpPr/>
          <p:nvPr/>
        </p:nvSpPr>
        <p:spPr>
          <a:xfrm>
            <a:off x="6955327" y="3369968"/>
            <a:ext cx="1321200" cy="9168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8"/>
          <p:cNvSpPr txBox="1"/>
          <p:nvPr/>
        </p:nvSpPr>
        <p:spPr>
          <a:xfrm>
            <a:off x="357825" y="275974"/>
            <a:ext cx="71109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A/B Testing</a:t>
            </a:r>
            <a:endParaRPr sz="33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294" name="Google Shape;294;p48"/>
          <p:cNvSpPr txBox="1"/>
          <p:nvPr/>
        </p:nvSpPr>
        <p:spPr>
          <a:xfrm>
            <a:off x="357825" y="1076150"/>
            <a:ext cx="6346800" cy="11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Instead of directly launching the new change into all of user, try experimenting with smaller subset of user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A/B testing is a controlled experiment that measures the impact of a change on a subset of users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aphicFrame>
        <p:nvGraphicFramePr>
          <p:cNvPr id="295" name="Google Shape;295;p48"/>
          <p:cNvGraphicFramePr/>
          <p:nvPr/>
        </p:nvGraphicFramePr>
        <p:xfrm>
          <a:off x="205425" y="281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{D8DB655E-AED2-4884-92AF-2A765C30E677}</a:tableStyleId>
              </a:tblPr>
              <a:tblGrid>
                <a:gridCol w="284325"/>
                <a:gridCol w="284325"/>
                <a:gridCol w="284325"/>
                <a:gridCol w="284325"/>
                <a:gridCol w="284325"/>
                <a:gridCol w="284325"/>
                <a:gridCol w="284325"/>
                <a:gridCol w="284325"/>
                <a:gridCol w="284325"/>
                <a:gridCol w="284325"/>
              </a:tblGrid>
              <a:tr h="1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1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1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1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1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1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1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1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1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14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6" name="Google Shape;296;p48"/>
          <p:cNvGraphicFramePr/>
          <p:nvPr/>
        </p:nvGraphicFramePr>
        <p:xfrm>
          <a:off x="3431300" y="281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{D8DB655E-AED2-4884-92AF-2A765C30E677}</a:tableStyleId>
              </a:tblPr>
              <a:tblGrid>
                <a:gridCol w="284325"/>
                <a:gridCol w="284325"/>
                <a:gridCol w="284325"/>
                <a:gridCol w="284325"/>
                <a:gridCol w="284325"/>
                <a:gridCol w="284325"/>
                <a:gridCol w="284325"/>
                <a:gridCol w="284325"/>
                <a:gridCol w="284325"/>
                <a:gridCol w="284325"/>
              </a:tblGrid>
              <a:tr h="1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1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1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3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</a:tbl>
          </a:graphicData>
        </a:graphic>
      </p:graphicFrame>
      <p:sp>
        <p:nvSpPr>
          <p:cNvPr id="297" name="Google Shape;297;p48"/>
          <p:cNvSpPr txBox="1"/>
          <p:nvPr/>
        </p:nvSpPr>
        <p:spPr>
          <a:xfrm>
            <a:off x="205425" y="2506000"/>
            <a:ext cx="22746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Apply change into all user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8" name="Google Shape;298;p48"/>
          <p:cNvSpPr txBox="1"/>
          <p:nvPr/>
        </p:nvSpPr>
        <p:spPr>
          <a:xfrm>
            <a:off x="3431300" y="2506000"/>
            <a:ext cx="22746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Experiment with smaller user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9" name="Google Shape;299;p48"/>
          <p:cNvSpPr/>
          <p:nvPr/>
        </p:nvSpPr>
        <p:spPr>
          <a:xfrm>
            <a:off x="212775" y="4559000"/>
            <a:ext cx="276900" cy="1242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48"/>
          <p:cNvSpPr txBox="1"/>
          <p:nvPr/>
        </p:nvSpPr>
        <p:spPr>
          <a:xfrm>
            <a:off x="559325" y="4537100"/>
            <a:ext cx="9243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New Variant</a:t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01" name="Google Shape;301;p48"/>
          <p:cNvSpPr/>
          <p:nvPr/>
        </p:nvSpPr>
        <p:spPr>
          <a:xfrm>
            <a:off x="3431300" y="4559000"/>
            <a:ext cx="276900" cy="1242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48"/>
          <p:cNvSpPr txBox="1"/>
          <p:nvPr/>
        </p:nvSpPr>
        <p:spPr>
          <a:xfrm>
            <a:off x="3777850" y="4537100"/>
            <a:ext cx="9243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New Variant</a:t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03" name="Google Shape;303;p48"/>
          <p:cNvSpPr/>
          <p:nvPr/>
        </p:nvSpPr>
        <p:spPr>
          <a:xfrm>
            <a:off x="3431300" y="4800300"/>
            <a:ext cx="276900" cy="124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48"/>
          <p:cNvSpPr txBox="1"/>
          <p:nvPr/>
        </p:nvSpPr>
        <p:spPr>
          <a:xfrm>
            <a:off x="3777850" y="4778400"/>
            <a:ext cx="15225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Control</a:t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05" name="Google Shape;305;p48"/>
          <p:cNvSpPr/>
          <p:nvPr/>
        </p:nvSpPr>
        <p:spPr>
          <a:xfrm>
            <a:off x="5086250" y="4580900"/>
            <a:ext cx="276900" cy="1242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48"/>
          <p:cNvSpPr txBox="1"/>
          <p:nvPr/>
        </p:nvSpPr>
        <p:spPr>
          <a:xfrm>
            <a:off x="5432800" y="4559000"/>
            <a:ext cx="14376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Other user – not part of experiment</a:t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07" name="Google Shape;30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075" y="2895351"/>
            <a:ext cx="1360275" cy="136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9"/>
          <p:cNvSpPr/>
          <p:nvPr/>
        </p:nvSpPr>
        <p:spPr>
          <a:xfrm>
            <a:off x="7107701" y="1259114"/>
            <a:ext cx="4459800" cy="40083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9"/>
          <p:cNvSpPr/>
          <p:nvPr/>
        </p:nvSpPr>
        <p:spPr>
          <a:xfrm>
            <a:off x="6955327" y="3369968"/>
            <a:ext cx="1321200" cy="9168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9"/>
          <p:cNvSpPr txBox="1"/>
          <p:nvPr/>
        </p:nvSpPr>
        <p:spPr>
          <a:xfrm>
            <a:off x="357825" y="275974"/>
            <a:ext cx="71109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A/B Testing</a:t>
            </a:r>
            <a:endParaRPr sz="33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316" name="Google Shape;316;p49"/>
          <p:cNvSpPr txBox="1"/>
          <p:nvPr/>
        </p:nvSpPr>
        <p:spPr>
          <a:xfrm>
            <a:off x="357825" y="1076150"/>
            <a:ext cx="65976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User will be divided into 2 different groups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Control:	user who doesn’t receive any change/new feature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"/>
              <a:buChar char="○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Variant:	user who receive change/new feature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7" name="Google Shape;317;p49"/>
          <p:cNvSpPr/>
          <p:nvPr/>
        </p:nvSpPr>
        <p:spPr>
          <a:xfrm>
            <a:off x="256400" y="2393050"/>
            <a:ext cx="6448800" cy="1163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9"/>
          <p:cNvSpPr/>
          <p:nvPr/>
        </p:nvSpPr>
        <p:spPr>
          <a:xfrm>
            <a:off x="256400" y="3744975"/>
            <a:ext cx="6448800" cy="1163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9"/>
          <p:cNvSpPr txBox="1"/>
          <p:nvPr/>
        </p:nvSpPr>
        <p:spPr>
          <a:xfrm>
            <a:off x="583150" y="2875300"/>
            <a:ext cx="9753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Control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20" name="Google Shape;320;p49"/>
          <p:cNvSpPr txBox="1"/>
          <p:nvPr/>
        </p:nvSpPr>
        <p:spPr>
          <a:xfrm>
            <a:off x="583150" y="4227225"/>
            <a:ext cx="9753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Variant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21" name="Google Shape;321;p49"/>
          <p:cNvSpPr/>
          <p:nvPr/>
        </p:nvSpPr>
        <p:spPr>
          <a:xfrm>
            <a:off x="2315225" y="2528500"/>
            <a:ext cx="3938400" cy="845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9"/>
          <p:cNvSpPr txBox="1"/>
          <p:nvPr/>
        </p:nvSpPr>
        <p:spPr>
          <a:xfrm>
            <a:off x="3498638" y="2571750"/>
            <a:ext cx="185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Blue</a:t>
            </a: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Water Bottle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23" name="Google Shape;323;p49"/>
          <p:cNvSpPr txBox="1"/>
          <p:nvPr/>
        </p:nvSpPr>
        <p:spPr>
          <a:xfrm>
            <a:off x="3498638" y="2941050"/>
            <a:ext cx="110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Rp 200.000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24" name="Google Shape;324;p49"/>
          <p:cNvSpPr txBox="1"/>
          <p:nvPr/>
        </p:nvSpPr>
        <p:spPr>
          <a:xfrm>
            <a:off x="4670077" y="2941050"/>
            <a:ext cx="118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Rp 150.000</a:t>
            </a:r>
            <a:endParaRPr b="1"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325" name="Google Shape;325;p49"/>
          <p:cNvCxnSpPr>
            <a:stCxn id="323" idx="1"/>
          </p:cNvCxnSpPr>
          <p:nvPr/>
        </p:nvCxnSpPr>
        <p:spPr>
          <a:xfrm>
            <a:off x="3498638" y="3125700"/>
            <a:ext cx="110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26" name="Google Shape;326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5250" y="2581613"/>
            <a:ext cx="739174" cy="739174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9"/>
          <p:cNvSpPr/>
          <p:nvPr/>
        </p:nvSpPr>
        <p:spPr>
          <a:xfrm>
            <a:off x="2315225" y="3919275"/>
            <a:ext cx="3938400" cy="845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49"/>
          <p:cNvSpPr txBox="1"/>
          <p:nvPr/>
        </p:nvSpPr>
        <p:spPr>
          <a:xfrm>
            <a:off x="3498638" y="3967463"/>
            <a:ext cx="185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Blue</a:t>
            </a: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Water Bottle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29" name="Google Shape;329;p49"/>
          <p:cNvSpPr txBox="1"/>
          <p:nvPr/>
        </p:nvSpPr>
        <p:spPr>
          <a:xfrm>
            <a:off x="3498638" y="4336763"/>
            <a:ext cx="110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Rp 200.000</a:t>
            </a:r>
            <a:endParaRPr sz="1200">
              <a:solidFill>
                <a:srgbClr val="FF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30" name="Google Shape;330;p49"/>
          <p:cNvSpPr txBox="1"/>
          <p:nvPr/>
        </p:nvSpPr>
        <p:spPr>
          <a:xfrm>
            <a:off x="4670077" y="4336771"/>
            <a:ext cx="118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Rp 150.000</a:t>
            </a:r>
            <a:endParaRPr b="1"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331" name="Google Shape;331;p49"/>
          <p:cNvCxnSpPr>
            <a:stCxn id="329" idx="1"/>
          </p:cNvCxnSpPr>
          <p:nvPr/>
        </p:nvCxnSpPr>
        <p:spPr>
          <a:xfrm>
            <a:off x="3498638" y="4521413"/>
            <a:ext cx="1104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32" name="Google Shape;332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5250" y="3977325"/>
            <a:ext cx="739174" cy="739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50"/>
          <p:cNvSpPr/>
          <p:nvPr/>
        </p:nvSpPr>
        <p:spPr>
          <a:xfrm>
            <a:off x="7107701" y="1259114"/>
            <a:ext cx="4459800" cy="40083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50"/>
          <p:cNvSpPr/>
          <p:nvPr/>
        </p:nvSpPr>
        <p:spPr>
          <a:xfrm>
            <a:off x="6955327" y="3369968"/>
            <a:ext cx="1321200" cy="9168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50"/>
          <p:cNvSpPr txBox="1"/>
          <p:nvPr/>
        </p:nvSpPr>
        <p:spPr>
          <a:xfrm>
            <a:off x="357825" y="275974"/>
            <a:ext cx="71109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Why </a:t>
            </a:r>
            <a:r>
              <a:rPr lang="en" sz="36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A/B Testing</a:t>
            </a:r>
            <a:endParaRPr sz="33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id="341" name="Google Shape;341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700" y="1259125"/>
            <a:ext cx="1067575" cy="10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50"/>
          <p:cNvSpPr txBox="1"/>
          <p:nvPr/>
        </p:nvSpPr>
        <p:spPr>
          <a:xfrm>
            <a:off x="1747975" y="1468913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Help us making informed decision based on data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43" name="Google Shape;343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699" y="2606162"/>
            <a:ext cx="1067575" cy="10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0"/>
          <p:cNvSpPr txBox="1"/>
          <p:nvPr/>
        </p:nvSpPr>
        <p:spPr>
          <a:xfrm>
            <a:off x="1747975" y="2815938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Mitigate risk by doing trial on a smaller scale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45" name="Google Shape;345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7950" y="3912824"/>
            <a:ext cx="999075" cy="99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50"/>
          <p:cNvSpPr txBox="1"/>
          <p:nvPr/>
        </p:nvSpPr>
        <p:spPr>
          <a:xfrm>
            <a:off x="1747975" y="4088350"/>
            <a:ext cx="4236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Understanding what users want and need from the product. Capture customer’s feedback earlier.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8A8C4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1"/>
          <p:cNvSpPr/>
          <p:nvPr/>
        </p:nvSpPr>
        <p:spPr>
          <a:xfrm>
            <a:off x="-1049844" y="1135227"/>
            <a:ext cx="5007000" cy="4008300"/>
          </a:xfrm>
          <a:prstGeom prst="parallelogram">
            <a:avLst>
              <a:gd fmla="val 25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51"/>
          <p:cNvSpPr/>
          <p:nvPr/>
        </p:nvSpPr>
        <p:spPr>
          <a:xfrm>
            <a:off x="1231663" y="3378571"/>
            <a:ext cx="2725500" cy="1764900"/>
          </a:xfrm>
          <a:prstGeom prst="parallelogram">
            <a:avLst>
              <a:gd fmla="val 25000" name="adj"/>
            </a:avLst>
          </a:prstGeom>
          <a:solidFill>
            <a:srgbClr val="FFBD58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51"/>
          <p:cNvSpPr/>
          <p:nvPr/>
        </p:nvSpPr>
        <p:spPr>
          <a:xfrm>
            <a:off x="2300154" y="3922574"/>
            <a:ext cx="1852800" cy="12210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51"/>
          <p:cNvSpPr txBox="1"/>
          <p:nvPr>
            <p:ph type="ctrTitle"/>
          </p:nvPr>
        </p:nvSpPr>
        <p:spPr>
          <a:xfrm>
            <a:off x="4775627" y="2351480"/>
            <a:ext cx="4033800" cy="1357500"/>
          </a:xfrm>
          <a:prstGeom prst="rect">
            <a:avLst/>
          </a:prstGeom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Experiment Design</a:t>
            </a:r>
            <a:endParaRPr sz="4800">
              <a:solidFill>
                <a:schemeClr val="lt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id="355" name="Google Shape;35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4525" y="276637"/>
            <a:ext cx="1184649" cy="358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52"/>
          <p:cNvSpPr/>
          <p:nvPr/>
        </p:nvSpPr>
        <p:spPr>
          <a:xfrm>
            <a:off x="7107701" y="1259114"/>
            <a:ext cx="4459800" cy="40083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52"/>
          <p:cNvSpPr/>
          <p:nvPr/>
        </p:nvSpPr>
        <p:spPr>
          <a:xfrm>
            <a:off x="6955327" y="3369968"/>
            <a:ext cx="1321200" cy="9168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52"/>
          <p:cNvSpPr txBox="1"/>
          <p:nvPr/>
        </p:nvSpPr>
        <p:spPr>
          <a:xfrm>
            <a:off x="357825" y="275974"/>
            <a:ext cx="71109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Step-by-step A/B Testing</a:t>
            </a:r>
            <a:endParaRPr sz="33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364" name="Google Shape;364;p52"/>
          <p:cNvSpPr txBox="1"/>
          <p:nvPr/>
        </p:nvSpPr>
        <p:spPr>
          <a:xfrm>
            <a:off x="357825" y="1076150"/>
            <a:ext cx="6597600" cy="28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 typical steps in building an A/B testing experiment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Identify a change to evaluate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Create a hypothesis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Define metrics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Success</a:t>
            </a: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metrics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Guardrail metrics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Define sample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Select eligible users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Define the testing duration and number of samples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Randomly split them into </a:t>
            </a:r>
            <a:r>
              <a:rPr b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control</a:t>
            </a: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group &amp; </a:t>
            </a:r>
            <a:r>
              <a:rPr b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variant</a:t>
            </a: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group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Evaluate the result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53"/>
          <p:cNvSpPr/>
          <p:nvPr/>
        </p:nvSpPr>
        <p:spPr>
          <a:xfrm>
            <a:off x="7107701" y="1259114"/>
            <a:ext cx="4459800" cy="40083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53"/>
          <p:cNvSpPr/>
          <p:nvPr/>
        </p:nvSpPr>
        <p:spPr>
          <a:xfrm>
            <a:off x="6955327" y="3369968"/>
            <a:ext cx="1321200" cy="9168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53"/>
          <p:cNvSpPr txBox="1"/>
          <p:nvPr/>
        </p:nvSpPr>
        <p:spPr>
          <a:xfrm>
            <a:off x="357825" y="275974"/>
            <a:ext cx="71109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Identify Change and Hypothesis</a:t>
            </a:r>
            <a:endParaRPr sz="33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373" name="Google Shape;373;p53"/>
          <p:cNvSpPr txBox="1"/>
          <p:nvPr/>
        </p:nvSpPr>
        <p:spPr>
          <a:xfrm>
            <a:off x="357825" y="1076150"/>
            <a:ext cx="65976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74" name="Google Shape;374;p53"/>
          <p:cNvSpPr txBox="1"/>
          <p:nvPr/>
        </p:nvSpPr>
        <p:spPr>
          <a:xfrm>
            <a:off x="357825" y="1076150"/>
            <a:ext cx="65976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75" name="Google Shape;375;p53"/>
          <p:cNvSpPr/>
          <p:nvPr/>
        </p:nvSpPr>
        <p:spPr>
          <a:xfrm>
            <a:off x="256400" y="2681563"/>
            <a:ext cx="6448800" cy="1163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53"/>
          <p:cNvSpPr/>
          <p:nvPr/>
        </p:nvSpPr>
        <p:spPr>
          <a:xfrm>
            <a:off x="256400" y="3922638"/>
            <a:ext cx="6448800" cy="1163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53"/>
          <p:cNvSpPr txBox="1"/>
          <p:nvPr/>
        </p:nvSpPr>
        <p:spPr>
          <a:xfrm>
            <a:off x="583150" y="3163813"/>
            <a:ext cx="9753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Control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78" name="Google Shape;378;p53"/>
          <p:cNvSpPr txBox="1"/>
          <p:nvPr/>
        </p:nvSpPr>
        <p:spPr>
          <a:xfrm>
            <a:off x="583150" y="4404888"/>
            <a:ext cx="9753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Variant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379" name="Google Shape;379;p53"/>
          <p:cNvGrpSpPr/>
          <p:nvPr/>
        </p:nvGrpSpPr>
        <p:grpSpPr>
          <a:xfrm>
            <a:off x="2315225" y="2817013"/>
            <a:ext cx="3938400" cy="845400"/>
            <a:chOff x="2315225" y="2817013"/>
            <a:chExt cx="3938400" cy="845400"/>
          </a:xfrm>
        </p:grpSpPr>
        <p:sp>
          <p:nvSpPr>
            <p:cNvPr id="380" name="Google Shape;380;p53"/>
            <p:cNvSpPr/>
            <p:nvPr/>
          </p:nvSpPr>
          <p:spPr>
            <a:xfrm>
              <a:off x="2315225" y="2817013"/>
              <a:ext cx="3938400" cy="845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53"/>
            <p:cNvSpPr txBox="1"/>
            <p:nvPr/>
          </p:nvSpPr>
          <p:spPr>
            <a:xfrm>
              <a:off x="3498638" y="2860263"/>
              <a:ext cx="1851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Outfit"/>
                  <a:ea typeface="Outfit"/>
                  <a:cs typeface="Outfit"/>
                  <a:sym typeface="Outfit"/>
                </a:rPr>
                <a:t>Blue</a:t>
              </a:r>
              <a:r>
                <a:rPr lang="en" sz="1200">
                  <a:solidFill>
                    <a:schemeClr val="dk1"/>
                  </a:solidFill>
                  <a:latin typeface="Outfit"/>
                  <a:ea typeface="Outfit"/>
                  <a:cs typeface="Outfit"/>
                  <a:sym typeface="Outfit"/>
                </a:rPr>
                <a:t> Water Bottle</a:t>
              </a:r>
              <a:endParaRPr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82" name="Google Shape;382;p53"/>
            <p:cNvSpPr txBox="1"/>
            <p:nvPr/>
          </p:nvSpPr>
          <p:spPr>
            <a:xfrm>
              <a:off x="3498638" y="3229563"/>
              <a:ext cx="1104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Outfit"/>
                  <a:ea typeface="Outfit"/>
                  <a:cs typeface="Outfit"/>
                  <a:sym typeface="Outfit"/>
                </a:rPr>
                <a:t>Rp 200.000</a:t>
              </a:r>
              <a:endParaRPr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83" name="Google Shape;383;p53"/>
            <p:cNvSpPr txBox="1"/>
            <p:nvPr/>
          </p:nvSpPr>
          <p:spPr>
            <a:xfrm>
              <a:off x="4670077" y="3229563"/>
              <a:ext cx="118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Outfit"/>
                  <a:ea typeface="Outfit"/>
                  <a:cs typeface="Outfit"/>
                  <a:sym typeface="Outfit"/>
                </a:rPr>
                <a:t>Rp 150.000</a:t>
              </a:r>
              <a:endParaRPr b="1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84" name="Google Shape;384;p53"/>
            <p:cNvCxnSpPr>
              <a:stCxn id="382" idx="1"/>
            </p:cNvCxnSpPr>
            <p:nvPr/>
          </p:nvCxnSpPr>
          <p:spPr>
            <a:xfrm>
              <a:off x="3498638" y="3414213"/>
              <a:ext cx="1104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385" name="Google Shape;385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5250" y="2870125"/>
              <a:ext cx="739174" cy="7391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6" name="Google Shape;386;p53"/>
          <p:cNvGrpSpPr/>
          <p:nvPr/>
        </p:nvGrpSpPr>
        <p:grpSpPr>
          <a:xfrm>
            <a:off x="2315225" y="4096938"/>
            <a:ext cx="3938400" cy="845400"/>
            <a:chOff x="2315225" y="4096938"/>
            <a:chExt cx="3938400" cy="845400"/>
          </a:xfrm>
        </p:grpSpPr>
        <p:sp>
          <p:nvSpPr>
            <p:cNvPr id="387" name="Google Shape;387;p53"/>
            <p:cNvSpPr/>
            <p:nvPr/>
          </p:nvSpPr>
          <p:spPr>
            <a:xfrm>
              <a:off x="2315225" y="4096938"/>
              <a:ext cx="3938400" cy="845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53"/>
            <p:cNvSpPr txBox="1"/>
            <p:nvPr/>
          </p:nvSpPr>
          <p:spPr>
            <a:xfrm>
              <a:off x="3498638" y="4145125"/>
              <a:ext cx="1851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Outfit"/>
                  <a:ea typeface="Outfit"/>
                  <a:cs typeface="Outfit"/>
                  <a:sym typeface="Outfit"/>
                </a:rPr>
                <a:t>Blue</a:t>
              </a:r>
              <a:r>
                <a:rPr lang="en" sz="1200">
                  <a:solidFill>
                    <a:schemeClr val="dk1"/>
                  </a:solidFill>
                  <a:latin typeface="Outfit"/>
                  <a:ea typeface="Outfit"/>
                  <a:cs typeface="Outfit"/>
                  <a:sym typeface="Outfit"/>
                </a:rPr>
                <a:t> Water Bottle</a:t>
              </a:r>
              <a:endParaRPr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89" name="Google Shape;389;p53"/>
            <p:cNvSpPr txBox="1"/>
            <p:nvPr/>
          </p:nvSpPr>
          <p:spPr>
            <a:xfrm>
              <a:off x="3498638" y="4514425"/>
              <a:ext cx="1104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0000"/>
                  </a:solidFill>
                  <a:latin typeface="Outfit"/>
                  <a:ea typeface="Outfit"/>
                  <a:cs typeface="Outfit"/>
                  <a:sym typeface="Outfit"/>
                </a:rPr>
                <a:t>Rp 200.000</a:t>
              </a:r>
              <a:endParaRPr sz="1200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90" name="Google Shape;390;p53"/>
            <p:cNvSpPr txBox="1"/>
            <p:nvPr/>
          </p:nvSpPr>
          <p:spPr>
            <a:xfrm>
              <a:off x="4670077" y="4514434"/>
              <a:ext cx="118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Outfit"/>
                  <a:ea typeface="Outfit"/>
                  <a:cs typeface="Outfit"/>
                  <a:sym typeface="Outfit"/>
                </a:rPr>
                <a:t>Rp 150.000</a:t>
              </a:r>
              <a:endParaRPr b="1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pic>
          <p:nvPicPr>
            <p:cNvPr id="391" name="Google Shape;391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5250" y="4154988"/>
              <a:ext cx="739174" cy="73917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92" name="Google Shape;392;p53"/>
            <p:cNvCxnSpPr/>
            <p:nvPr/>
          </p:nvCxnSpPr>
          <p:spPr>
            <a:xfrm>
              <a:off x="3498638" y="4699063"/>
              <a:ext cx="110400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3" name="Google Shape;393;p53"/>
          <p:cNvSpPr txBox="1"/>
          <p:nvPr/>
        </p:nvSpPr>
        <p:spPr>
          <a:xfrm>
            <a:off x="256400" y="1076150"/>
            <a:ext cx="6448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Define what a change to evaluate or what kind of decision that needs to be evaluated. It can be a proposal or a mock up design. Show both the current condition and the proposed change/variant and highlight the difference.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Example</a:t>
            </a:r>
            <a:endParaRPr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We want to change the color of the discounted price from </a:t>
            </a:r>
            <a:r>
              <a:rPr b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black</a:t>
            </a: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to </a:t>
            </a:r>
            <a:r>
              <a:rPr b="1" lang="en">
                <a:solidFill>
                  <a:srgbClr val="CC0000"/>
                </a:solidFill>
                <a:latin typeface="Outfit"/>
                <a:ea typeface="Outfit"/>
                <a:cs typeface="Outfit"/>
                <a:sym typeface="Outfit"/>
              </a:rPr>
              <a:t>bright red</a:t>
            </a:r>
            <a:endParaRPr b="1">
              <a:solidFill>
                <a:srgbClr val="CC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54"/>
          <p:cNvSpPr/>
          <p:nvPr/>
        </p:nvSpPr>
        <p:spPr>
          <a:xfrm>
            <a:off x="7107701" y="1259114"/>
            <a:ext cx="4459800" cy="40083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54"/>
          <p:cNvSpPr/>
          <p:nvPr/>
        </p:nvSpPr>
        <p:spPr>
          <a:xfrm>
            <a:off x="6955327" y="3369968"/>
            <a:ext cx="1321200" cy="9168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54"/>
          <p:cNvSpPr txBox="1"/>
          <p:nvPr/>
        </p:nvSpPr>
        <p:spPr>
          <a:xfrm>
            <a:off x="357825" y="275974"/>
            <a:ext cx="71109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Create a</a:t>
            </a:r>
            <a:r>
              <a:rPr lang="en" sz="36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Hypothesis</a:t>
            </a:r>
            <a:endParaRPr sz="33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402" name="Google Shape;402;p54"/>
          <p:cNvSpPr txBox="1"/>
          <p:nvPr/>
        </p:nvSpPr>
        <p:spPr>
          <a:xfrm>
            <a:off x="357825" y="1076150"/>
            <a:ext cx="65976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3" name="Google Shape;403;p54"/>
          <p:cNvSpPr txBox="1"/>
          <p:nvPr/>
        </p:nvSpPr>
        <p:spPr>
          <a:xfrm>
            <a:off x="357825" y="1076150"/>
            <a:ext cx="65976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Your hypothesis statement communicates what you believe will happen by introducing a change to your users so it’s clear to anyone.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Use the following template on creating a hypothesis statement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4" name="Google Shape;404;p54"/>
          <p:cNvSpPr txBox="1"/>
          <p:nvPr/>
        </p:nvSpPr>
        <p:spPr>
          <a:xfrm>
            <a:off x="357825" y="2230550"/>
            <a:ext cx="62190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05" name="Google Shape;405;p54"/>
          <p:cNvSpPr txBox="1"/>
          <p:nvPr/>
        </p:nvSpPr>
        <p:spPr>
          <a:xfrm>
            <a:off x="357825" y="3277650"/>
            <a:ext cx="62190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Example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We believe </a:t>
            </a: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[by changing the color of discounted price]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will make </a:t>
            </a: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[more people to purchase]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because </a:t>
            </a: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[the bright red color is more noticable and make the user more interested to the discount]</a:t>
            </a:r>
            <a:endParaRPr b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06" name="Google Shape;406;p54"/>
          <p:cNvSpPr/>
          <p:nvPr/>
        </p:nvSpPr>
        <p:spPr>
          <a:xfrm>
            <a:off x="397425" y="2149050"/>
            <a:ext cx="6139800" cy="845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We believe </a:t>
            </a: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[the solution]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will give/make </a:t>
            </a: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[the success definition]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because </a:t>
            </a: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[rationale or evidence for the prediction]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55"/>
          <p:cNvSpPr/>
          <p:nvPr/>
        </p:nvSpPr>
        <p:spPr>
          <a:xfrm>
            <a:off x="7107701" y="1259114"/>
            <a:ext cx="4459800" cy="40083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55"/>
          <p:cNvSpPr/>
          <p:nvPr/>
        </p:nvSpPr>
        <p:spPr>
          <a:xfrm>
            <a:off x="6955327" y="3369968"/>
            <a:ext cx="1321200" cy="9168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55"/>
          <p:cNvSpPr txBox="1"/>
          <p:nvPr/>
        </p:nvSpPr>
        <p:spPr>
          <a:xfrm>
            <a:off x="357825" y="275974"/>
            <a:ext cx="71109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Define Metrics</a:t>
            </a:r>
            <a:endParaRPr sz="33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415" name="Google Shape;415;p55"/>
          <p:cNvSpPr txBox="1"/>
          <p:nvPr/>
        </p:nvSpPr>
        <p:spPr>
          <a:xfrm>
            <a:off x="357825" y="1045175"/>
            <a:ext cx="25161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Success Metrics</a:t>
            </a:r>
            <a:endParaRPr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16" name="Google Shape;416;p55"/>
          <p:cNvCxnSpPr/>
          <p:nvPr/>
        </p:nvCxnSpPr>
        <p:spPr>
          <a:xfrm>
            <a:off x="3244125" y="968975"/>
            <a:ext cx="0" cy="393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" name="Google Shape;417;p55"/>
          <p:cNvSpPr txBox="1"/>
          <p:nvPr/>
        </p:nvSpPr>
        <p:spPr>
          <a:xfrm>
            <a:off x="3689000" y="1045175"/>
            <a:ext cx="25161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Guardrail </a:t>
            </a:r>
            <a:r>
              <a:rPr b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Metrics</a:t>
            </a:r>
            <a:endParaRPr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18" name="Google Shape;418;p55"/>
          <p:cNvCxnSpPr/>
          <p:nvPr/>
        </p:nvCxnSpPr>
        <p:spPr>
          <a:xfrm>
            <a:off x="221475" y="1348375"/>
            <a:ext cx="6914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9" name="Google Shape;419;p55"/>
          <p:cNvSpPr txBox="1"/>
          <p:nvPr/>
        </p:nvSpPr>
        <p:spPr>
          <a:xfrm>
            <a:off x="221475" y="1431125"/>
            <a:ext cx="28686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 success metric, also referred to as a primary metric, is the metric you measure to demonstrate that the A/B test had the predicted effect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0" name="Google Shape;420;p55"/>
          <p:cNvSpPr txBox="1"/>
          <p:nvPr/>
        </p:nvSpPr>
        <p:spPr>
          <a:xfrm>
            <a:off x="3472725" y="1431125"/>
            <a:ext cx="338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Guardrail metrics, also called secondary metrics, are used to ensure that a change does not have an unintended effect, especially ones of the negative kind</a:t>
            </a:r>
            <a:endParaRPr b="1"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1" name="Google Shape;421;p55"/>
          <p:cNvSpPr txBox="1"/>
          <p:nvPr/>
        </p:nvSpPr>
        <p:spPr>
          <a:xfrm>
            <a:off x="221475" y="2428525"/>
            <a:ext cx="28686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Conversion rate (CVR)</a:t>
            </a:r>
            <a:endParaRPr b="1"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% of user who make a purchase</a:t>
            </a:r>
            <a:endParaRPr i="1"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If users are more interested to the discount, they will be more likely to purchase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Click-Through Rate</a:t>
            </a:r>
            <a:r>
              <a:rPr b="1"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(CTR)</a:t>
            </a:r>
            <a:endParaRPr b="1"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% of user who click the product</a:t>
            </a:r>
            <a:endParaRPr i="1"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If users are more interested to the discount, they will be more likely to click the product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2" name="Google Shape;422;p55"/>
          <p:cNvSpPr txBox="1"/>
          <p:nvPr/>
        </p:nvSpPr>
        <p:spPr>
          <a:xfrm>
            <a:off x="3472725" y="2428525"/>
            <a:ext cx="34101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Total Revenue</a:t>
            </a:r>
            <a:endParaRPr b="1"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If the conversion increase but significantly lowers total revenue, it might not be a good trade-off. A change should lead to higher revenue.</a:t>
            </a:r>
            <a:b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Average Order Value (AOV)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Total revenue / total order</a:t>
            </a:r>
            <a:endParaRPr i="1"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We are happy that more people make purchase, but we don’t want them shifting to buy cheaper product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Cart Abandonment </a:t>
            </a:r>
            <a:r>
              <a:rPr b="1"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rate</a:t>
            </a:r>
            <a:endParaRPr b="1"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% of user who add to cart but doesn’t convert</a:t>
            </a:r>
            <a:endParaRPr i="1"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We want people to make purchase, not just adding new items to cart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23" name="Google Shape;423;p55"/>
          <p:cNvCxnSpPr/>
          <p:nvPr/>
        </p:nvCxnSpPr>
        <p:spPr>
          <a:xfrm>
            <a:off x="221475" y="2313525"/>
            <a:ext cx="6914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4" name="Google Shape;424;p55">
            <a:hlinkClick r:id="rId4"/>
          </p:cNvPr>
          <p:cNvSpPr/>
          <p:nvPr/>
        </p:nvSpPr>
        <p:spPr>
          <a:xfrm>
            <a:off x="221475" y="4454075"/>
            <a:ext cx="2516100" cy="447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Example of e-commerce metrics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56"/>
          <p:cNvSpPr/>
          <p:nvPr/>
        </p:nvSpPr>
        <p:spPr>
          <a:xfrm>
            <a:off x="7107701" y="1259114"/>
            <a:ext cx="4459800" cy="40083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56"/>
          <p:cNvSpPr/>
          <p:nvPr/>
        </p:nvSpPr>
        <p:spPr>
          <a:xfrm>
            <a:off x="6955327" y="3369968"/>
            <a:ext cx="1321200" cy="9168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56"/>
          <p:cNvSpPr txBox="1"/>
          <p:nvPr/>
        </p:nvSpPr>
        <p:spPr>
          <a:xfrm>
            <a:off x="357825" y="275974"/>
            <a:ext cx="71109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Define Metrics</a:t>
            </a:r>
            <a:endParaRPr sz="33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433" name="Google Shape;433;p56"/>
          <p:cNvSpPr txBox="1"/>
          <p:nvPr/>
        </p:nvSpPr>
        <p:spPr>
          <a:xfrm>
            <a:off x="357825" y="1045175"/>
            <a:ext cx="25161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Success Metrics</a:t>
            </a:r>
            <a:endParaRPr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34" name="Google Shape;434;p56"/>
          <p:cNvCxnSpPr/>
          <p:nvPr/>
        </p:nvCxnSpPr>
        <p:spPr>
          <a:xfrm>
            <a:off x="3244125" y="968975"/>
            <a:ext cx="0" cy="393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56"/>
          <p:cNvSpPr txBox="1"/>
          <p:nvPr/>
        </p:nvSpPr>
        <p:spPr>
          <a:xfrm>
            <a:off x="3689000" y="1045175"/>
            <a:ext cx="25161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Guardrail Metrics</a:t>
            </a:r>
            <a:endParaRPr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36" name="Google Shape;436;p56"/>
          <p:cNvCxnSpPr/>
          <p:nvPr/>
        </p:nvCxnSpPr>
        <p:spPr>
          <a:xfrm>
            <a:off x="221475" y="1348375"/>
            <a:ext cx="6914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" name="Google Shape;437;p56"/>
          <p:cNvSpPr txBox="1"/>
          <p:nvPr/>
        </p:nvSpPr>
        <p:spPr>
          <a:xfrm>
            <a:off x="221475" y="1431125"/>
            <a:ext cx="28686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 success metric, also referred to as a primary metric, is the metric you measure to demonstrate that the A/B test had the predicted effect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38" name="Google Shape;438;p56"/>
          <p:cNvSpPr txBox="1"/>
          <p:nvPr/>
        </p:nvSpPr>
        <p:spPr>
          <a:xfrm>
            <a:off x="3472725" y="1431125"/>
            <a:ext cx="338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Guardrail metrics, also called secondary metrics, are used to ensure that a change does not have an unintended effect, especially ones of the negative kind</a:t>
            </a:r>
            <a:endParaRPr b="1"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39" name="Google Shape;439;p56"/>
          <p:cNvSpPr txBox="1"/>
          <p:nvPr/>
        </p:nvSpPr>
        <p:spPr>
          <a:xfrm>
            <a:off x="221475" y="2428525"/>
            <a:ext cx="286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Total Expend on Transport</a:t>
            </a:r>
            <a:endParaRPr b="1"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Mengurangi pengeluaran untuk transportasi dengan pindah dari ojol ke transum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0" name="Google Shape;440;p56"/>
          <p:cNvSpPr txBox="1"/>
          <p:nvPr/>
        </p:nvSpPr>
        <p:spPr>
          <a:xfrm>
            <a:off x="3472725" y="2428525"/>
            <a:ext cx="34101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Trip Duration</a:t>
            </a:r>
            <a:endParaRPr b="1"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Lama waktu perjalanan, gakpapa saya masih oke kalo waktunya tambah, tapi kalo sampai &gt; 2 jam saya gak mau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41" name="Google Shape;441;p56"/>
          <p:cNvCxnSpPr/>
          <p:nvPr/>
        </p:nvCxnSpPr>
        <p:spPr>
          <a:xfrm>
            <a:off x="221475" y="2313525"/>
            <a:ext cx="6914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57"/>
          <p:cNvSpPr/>
          <p:nvPr/>
        </p:nvSpPr>
        <p:spPr>
          <a:xfrm>
            <a:off x="7107701" y="1259114"/>
            <a:ext cx="4459800" cy="40083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57"/>
          <p:cNvSpPr/>
          <p:nvPr/>
        </p:nvSpPr>
        <p:spPr>
          <a:xfrm>
            <a:off x="6955327" y="3369968"/>
            <a:ext cx="1321200" cy="9168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57"/>
          <p:cNvSpPr txBox="1"/>
          <p:nvPr/>
        </p:nvSpPr>
        <p:spPr>
          <a:xfrm>
            <a:off x="357825" y="275974"/>
            <a:ext cx="71109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Define Sample</a:t>
            </a:r>
            <a:endParaRPr sz="33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450" name="Google Shape;450;p57"/>
          <p:cNvSpPr txBox="1"/>
          <p:nvPr/>
        </p:nvSpPr>
        <p:spPr>
          <a:xfrm>
            <a:off x="357825" y="1076150"/>
            <a:ext cx="65976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1" name="Google Shape;451;p57"/>
          <p:cNvSpPr txBox="1"/>
          <p:nvPr/>
        </p:nvSpPr>
        <p:spPr>
          <a:xfrm>
            <a:off x="357825" y="1121375"/>
            <a:ext cx="5242800" cy="1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Not all user may be eligible for being part of an A/B testing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Make sure the right type of users are selected as part of A/B testing experiment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Example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Testing text push notification for add to cart reminder</a:t>
            </a:r>
            <a:endParaRPr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452" name="Google Shape;452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924" y="4016475"/>
            <a:ext cx="780950" cy="78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250" y="2875977"/>
            <a:ext cx="840300" cy="840291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57"/>
          <p:cNvSpPr txBox="1"/>
          <p:nvPr/>
        </p:nvSpPr>
        <p:spPr>
          <a:xfrm>
            <a:off x="1334025" y="3097875"/>
            <a:ext cx="27855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Eligible sample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People who has abandoned cart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5" name="Google Shape;455;p57"/>
          <p:cNvSpPr txBox="1"/>
          <p:nvPr/>
        </p:nvSpPr>
        <p:spPr>
          <a:xfrm>
            <a:off x="1334025" y="4168300"/>
            <a:ext cx="33054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Not Eligible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People who don’t have abandoned cart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58"/>
          <p:cNvSpPr/>
          <p:nvPr/>
        </p:nvSpPr>
        <p:spPr>
          <a:xfrm>
            <a:off x="7107701" y="1259114"/>
            <a:ext cx="4459800" cy="40083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58"/>
          <p:cNvSpPr/>
          <p:nvPr/>
        </p:nvSpPr>
        <p:spPr>
          <a:xfrm>
            <a:off x="6955327" y="3369968"/>
            <a:ext cx="1321200" cy="9168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58"/>
          <p:cNvSpPr txBox="1"/>
          <p:nvPr/>
        </p:nvSpPr>
        <p:spPr>
          <a:xfrm>
            <a:off x="357825" y="275974"/>
            <a:ext cx="71109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Test Duration</a:t>
            </a:r>
            <a:endParaRPr sz="33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464" name="Google Shape;464;p58"/>
          <p:cNvSpPr txBox="1"/>
          <p:nvPr/>
        </p:nvSpPr>
        <p:spPr>
          <a:xfrm>
            <a:off x="357825" y="1076150"/>
            <a:ext cx="65976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465" name="Google Shape;465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567" y="1305650"/>
            <a:ext cx="1235967" cy="1235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450" y="3085850"/>
            <a:ext cx="1312200" cy="131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58"/>
          <p:cNvSpPr txBox="1"/>
          <p:nvPr/>
        </p:nvSpPr>
        <p:spPr>
          <a:xfrm>
            <a:off x="2129250" y="1305650"/>
            <a:ext cx="4885500" cy="33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Define the </a:t>
            </a:r>
            <a:r>
              <a:rPr b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Minimum Detectable Effect (MDE)</a:t>
            </a: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: what is the percent of change you want to see in conversion (if your metric is conversion rate)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Run the test until we have enough/minimum sample to evaluate the test statistically or we can run the test based on available resource, e.g. promo budget</a:t>
            </a:r>
            <a:b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b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 A/B testing should run long enough to reduce the bias of seasonal effect, e.g. weekday vs weekend, payday vs non-payday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8" name="Google Shape;468;p58">
            <a:hlinkClick r:id="rId6"/>
          </p:cNvPr>
          <p:cNvSpPr/>
          <p:nvPr/>
        </p:nvSpPr>
        <p:spPr>
          <a:xfrm>
            <a:off x="3313950" y="3129025"/>
            <a:ext cx="2516100" cy="447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Sample size calculator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59"/>
          <p:cNvSpPr/>
          <p:nvPr/>
        </p:nvSpPr>
        <p:spPr>
          <a:xfrm>
            <a:off x="7107701" y="1259114"/>
            <a:ext cx="4459800" cy="40083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59"/>
          <p:cNvSpPr/>
          <p:nvPr/>
        </p:nvSpPr>
        <p:spPr>
          <a:xfrm>
            <a:off x="6955327" y="3369968"/>
            <a:ext cx="1321200" cy="9168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59"/>
          <p:cNvSpPr txBox="1"/>
          <p:nvPr/>
        </p:nvSpPr>
        <p:spPr>
          <a:xfrm>
            <a:off x="357825" y="275974"/>
            <a:ext cx="71109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Randomization</a:t>
            </a:r>
            <a:endParaRPr sz="33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477" name="Google Shape;477;p59"/>
          <p:cNvSpPr txBox="1"/>
          <p:nvPr/>
        </p:nvSpPr>
        <p:spPr>
          <a:xfrm>
            <a:off x="357825" y="1076150"/>
            <a:ext cx="65976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478" name="Google Shape;478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425" y="2989025"/>
            <a:ext cx="834900" cy="834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59"/>
          <p:cNvSpPr txBox="1"/>
          <p:nvPr/>
        </p:nvSpPr>
        <p:spPr>
          <a:xfrm>
            <a:off x="251425" y="3891125"/>
            <a:ext cx="8349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Users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480" name="Google Shape;480;p59"/>
          <p:cNvGrpSpPr/>
          <p:nvPr/>
        </p:nvGrpSpPr>
        <p:grpSpPr>
          <a:xfrm>
            <a:off x="2268125" y="3698788"/>
            <a:ext cx="3938400" cy="845400"/>
            <a:chOff x="2315225" y="4096938"/>
            <a:chExt cx="3938400" cy="845400"/>
          </a:xfrm>
        </p:grpSpPr>
        <p:sp>
          <p:nvSpPr>
            <p:cNvPr id="481" name="Google Shape;481;p59"/>
            <p:cNvSpPr/>
            <p:nvPr/>
          </p:nvSpPr>
          <p:spPr>
            <a:xfrm>
              <a:off x="2315225" y="4096938"/>
              <a:ext cx="3938400" cy="845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59"/>
            <p:cNvSpPr txBox="1"/>
            <p:nvPr/>
          </p:nvSpPr>
          <p:spPr>
            <a:xfrm>
              <a:off x="3498638" y="4145125"/>
              <a:ext cx="1851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Outfit"/>
                  <a:ea typeface="Outfit"/>
                  <a:cs typeface="Outfit"/>
                  <a:sym typeface="Outfit"/>
                </a:rPr>
                <a:t>Blue</a:t>
              </a:r>
              <a:r>
                <a:rPr lang="en" sz="1200">
                  <a:solidFill>
                    <a:schemeClr val="dk1"/>
                  </a:solidFill>
                  <a:latin typeface="Outfit"/>
                  <a:ea typeface="Outfit"/>
                  <a:cs typeface="Outfit"/>
                  <a:sym typeface="Outfit"/>
                </a:rPr>
                <a:t> Water Bottle</a:t>
              </a:r>
              <a:endParaRPr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83" name="Google Shape;483;p59"/>
            <p:cNvSpPr txBox="1"/>
            <p:nvPr/>
          </p:nvSpPr>
          <p:spPr>
            <a:xfrm>
              <a:off x="3498638" y="4514425"/>
              <a:ext cx="1104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0000"/>
                  </a:solidFill>
                  <a:latin typeface="Outfit"/>
                  <a:ea typeface="Outfit"/>
                  <a:cs typeface="Outfit"/>
                  <a:sym typeface="Outfit"/>
                </a:rPr>
                <a:t>Rp 200.000</a:t>
              </a:r>
              <a:endParaRPr sz="1200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84" name="Google Shape;484;p59"/>
            <p:cNvSpPr txBox="1"/>
            <p:nvPr/>
          </p:nvSpPr>
          <p:spPr>
            <a:xfrm>
              <a:off x="4670077" y="4514434"/>
              <a:ext cx="118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Outfit"/>
                  <a:ea typeface="Outfit"/>
                  <a:cs typeface="Outfit"/>
                  <a:sym typeface="Outfit"/>
                </a:rPr>
                <a:t>Rp 150.000</a:t>
              </a:r>
              <a:endParaRPr b="1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pic>
          <p:nvPicPr>
            <p:cNvPr id="485" name="Google Shape;485;p5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5250" y="4154988"/>
              <a:ext cx="739174" cy="73917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86" name="Google Shape;486;p59"/>
            <p:cNvCxnSpPr/>
            <p:nvPr/>
          </p:nvCxnSpPr>
          <p:spPr>
            <a:xfrm>
              <a:off x="3498638" y="4699063"/>
              <a:ext cx="110400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87" name="Google Shape;487;p59"/>
          <p:cNvGrpSpPr/>
          <p:nvPr/>
        </p:nvGrpSpPr>
        <p:grpSpPr>
          <a:xfrm>
            <a:off x="2268125" y="2269400"/>
            <a:ext cx="3938400" cy="845400"/>
            <a:chOff x="2315225" y="2817013"/>
            <a:chExt cx="3938400" cy="845400"/>
          </a:xfrm>
        </p:grpSpPr>
        <p:sp>
          <p:nvSpPr>
            <p:cNvPr id="488" name="Google Shape;488;p59"/>
            <p:cNvSpPr/>
            <p:nvPr/>
          </p:nvSpPr>
          <p:spPr>
            <a:xfrm>
              <a:off x="2315225" y="2817013"/>
              <a:ext cx="3938400" cy="845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59"/>
            <p:cNvSpPr txBox="1"/>
            <p:nvPr/>
          </p:nvSpPr>
          <p:spPr>
            <a:xfrm>
              <a:off x="3498638" y="2860263"/>
              <a:ext cx="1851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Outfit"/>
                  <a:ea typeface="Outfit"/>
                  <a:cs typeface="Outfit"/>
                  <a:sym typeface="Outfit"/>
                </a:rPr>
                <a:t>Blue </a:t>
              </a:r>
              <a:r>
                <a:rPr lang="en" sz="1200">
                  <a:solidFill>
                    <a:schemeClr val="dk1"/>
                  </a:solidFill>
                  <a:latin typeface="Outfit"/>
                  <a:ea typeface="Outfit"/>
                  <a:cs typeface="Outfit"/>
                  <a:sym typeface="Outfit"/>
                </a:rPr>
                <a:t>Water Bottle</a:t>
              </a:r>
              <a:endParaRPr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90" name="Google Shape;490;p59"/>
            <p:cNvSpPr txBox="1"/>
            <p:nvPr/>
          </p:nvSpPr>
          <p:spPr>
            <a:xfrm>
              <a:off x="3498638" y="3229563"/>
              <a:ext cx="1104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Outfit"/>
                  <a:ea typeface="Outfit"/>
                  <a:cs typeface="Outfit"/>
                  <a:sym typeface="Outfit"/>
                </a:rPr>
                <a:t>Rp 200.000</a:t>
              </a:r>
              <a:endParaRPr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91" name="Google Shape;491;p59"/>
            <p:cNvSpPr txBox="1"/>
            <p:nvPr/>
          </p:nvSpPr>
          <p:spPr>
            <a:xfrm>
              <a:off x="4670077" y="3229563"/>
              <a:ext cx="118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Outfit"/>
                  <a:ea typeface="Outfit"/>
                  <a:cs typeface="Outfit"/>
                  <a:sym typeface="Outfit"/>
                </a:rPr>
                <a:t>Rp 150.000</a:t>
              </a:r>
              <a:endParaRPr b="1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492" name="Google Shape;492;p59"/>
            <p:cNvCxnSpPr>
              <a:stCxn id="490" idx="1"/>
            </p:cNvCxnSpPr>
            <p:nvPr/>
          </p:nvCxnSpPr>
          <p:spPr>
            <a:xfrm>
              <a:off x="3498638" y="3414213"/>
              <a:ext cx="1104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493" name="Google Shape;493;p5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5250" y="2870125"/>
              <a:ext cx="739174" cy="739174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94" name="Google Shape;494;p59"/>
          <p:cNvCxnSpPr>
            <a:stCxn id="478" idx="3"/>
            <a:endCxn id="481" idx="1"/>
          </p:cNvCxnSpPr>
          <p:nvPr/>
        </p:nvCxnSpPr>
        <p:spPr>
          <a:xfrm>
            <a:off x="1086325" y="3406475"/>
            <a:ext cx="1181700" cy="7149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5" name="Google Shape;495;p59"/>
          <p:cNvCxnSpPr>
            <a:stCxn id="478" idx="3"/>
            <a:endCxn id="488" idx="1"/>
          </p:cNvCxnSpPr>
          <p:nvPr/>
        </p:nvCxnSpPr>
        <p:spPr>
          <a:xfrm flipH="1" rot="10800000">
            <a:off x="1086325" y="2692175"/>
            <a:ext cx="1181700" cy="7143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6" name="Google Shape;496;p59"/>
          <p:cNvSpPr txBox="1"/>
          <p:nvPr/>
        </p:nvSpPr>
        <p:spPr>
          <a:xfrm>
            <a:off x="1547575" y="4192600"/>
            <a:ext cx="6531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50%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7" name="Google Shape;497;p59"/>
          <p:cNvSpPr txBox="1"/>
          <p:nvPr/>
        </p:nvSpPr>
        <p:spPr>
          <a:xfrm>
            <a:off x="1547575" y="2428750"/>
            <a:ext cx="6531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50%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8" name="Google Shape;498;p59"/>
          <p:cNvSpPr txBox="1"/>
          <p:nvPr/>
        </p:nvSpPr>
        <p:spPr>
          <a:xfrm>
            <a:off x="357825" y="1027200"/>
            <a:ext cx="61719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Randomly split target user into control group &amp; variant group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Randomization is done to make sure the results are statistically valid and are not biased toward certain group of user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60"/>
          <p:cNvSpPr/>
          <p:nvPr/>
        </p:nvSpPr>
        <p:spPr>
          <a:xfrm>
            <a:off x="7107701" y="1259114"/>
            <a:ext cx="4459800" cy="40083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60"/>
          <p:cNvSpPr/>
          <p:nvPr/>
        </p:nvSpPr>
        <p:spPr>
          <a:xfrm>
            <a:off x="6955327" y="3369968"/>
            <a:ext cx="1321200" cy="9168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60"/>
          <p:cNvSpPr txBox="1"/>
          <p:nvPr/>
        </p:nvSpPr>
        <p:spPr>
          <a:xfrm>
            <a:off x="357825" y="275975"/>
            <a:ext cx="76260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2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Type of Experiment</a:t>
            </a:r>
            <a:endParaRPr sz="32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507" name="Google Shape;507;p60"/>
          <p:cNvSpPr txBox="1"/>
          <p:nvPr/>
        </p:nvSpPr>
        <p:spPr>
          <a:xfrm>
            <a:off x="357825" y="1045175"/>
            <a:ext cx="25161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Superiority Testing</a:t>
            </a:r>
            <a:endParaRPr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508" name="Google Shape;508;p60"/>
          <p:cNvCxnSpPr/>
          <p:nvPr/>
        </p:nvCxnSpPr>
        <p:spPr>
          <a:xfrm>
            <a:off x="3244125" y="968975"/>
            <a:ext cx="0" cy="393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9" name="Google Shape;509;p60"/>
          <p:cNvSpPr txBox="1"/>
          <p:nvPr/>
        </p:nvSpPr>
        <p:spPr>
          <a:xfrm>
            <a:off x="3689000" y="1045175"/>
            <a:ext cx="25161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Non-Inferiority</a:t>
            </a:r>
            <a:r>
              <a:rPr b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Testing</a:t>
            </a:r>
            <a:endParaRPr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510" name="Google Shape;510;p60"/>
          <p:cNvCxnSpPr/>
          <p:nvPr/>
        </p:nvCxnSpPr>
        <p:spPr>
          <a:xfrm>
            <a:off x="221475" y="1348375"/>
            <a:ext cx="6914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" name="Google Shape;511;p60"/>
          <p:cNvSpPr txBox="1"/>
          <p:nvPr/>
        </p:nvSpPr>
        <p:spPr>
          <a:xfrm>
            <a:off x="221475" y="1431125"/>
            <a:ext cx="2868600" cy="30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To demonstrate that the new version performs </a:t>
            </a:r>
            <a:r>
              <a:rPr b="1"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better </a:t>
            </a: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than another version or is superior to the control.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Example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utfit"/>
              <a:buChar char="●"/>
            </a:pPr>
            <a:r>
              <a:rPr b="1"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Make the purchase button bigger</a:t>
            </a:r>
            <a:b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We want to determine if this change would lead to higher conversion rate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Outfit"/>
              <a:buChar char="●"/>
            </a:pPr>
            <a:r>
              <a:rPr b="1"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Changing voucher policy</a:t>
            </a:r>
            <a:b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We want to see if reducing the minimum purchase for cashback voucher from 100K to 50K will result in higher user retention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2" name="Google Shape;512;p60"/>
          <p:cNvSpPr txBox="1"/>
          <p:nvPr/>
        </p:nvSpPr>
        <p:spPr>
          <a:xfrm>
            <a:off x="3472725" y="1431125"/>
            <a:ext cx="3393300" cy="30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To determine if the new change </a:t>
            </a:r>
            <a:r>
              <a:rPr b="1"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is not worse </a:t>
            </a: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than the existing or  control. 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Example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utfit"/>
              <a:buChar char="●"/>
            </a:pPr>
            <a:r>
              <a:rPr b="1"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Rising subscription fee</a:t>
            </a:r>
            <a:b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We want to determine if rising the subscription fee wouldn’t hurt the subscription rate or user retention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Outfit"/>
              <a:buChar char="●"/>
            </a:pPr>
            <a:r>
              <a:rPr b="1"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Optimizing product recommendation system</a:t>
            </a:r>
            <a:b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Changing from using 3 years of data to only 1 year of data to cut the cloud computing cost. We want to see if the new recommendation system wouldn’t perform worse than before.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8A8C4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1"/>
          <p:cNvSpPr/>
          <p:nvPr/>
        </p:nvSpPr>
        <p:spPr>
          <a:xfrm>
            <a:off x="-1049844" y="1135227"/>
            <a:ext cx="5007000" cy="4008300"/>
          </a:xfrm>
          <a:prstGeom prst="parallelogram">
            <a:avLst>
              <a:gd fmla="val 25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61"/>
          <p:cNvSpPr/>
          <p:nvPr/>
        </p:nvSpPr>
        <p:spPr>
          <a:xfrm>
            <a:off x="1231663" y="3378571"/>
            <a:ext cx="2725500" cy="1764900"/>
          </a:xfrm>
          <a:prstGeom prst="parallelogram">
            <a:avLst>
              <a:gd fmla="val 25000" name="adj"/>
            </a:avLst>
          </a:prstGeom>
          <a:solidFill>
            <a:srgbClr val="FFBD58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61"/>
          <p:cNvSpPr/>
          <p:nvPr/>
        </p:nvSpPr>
        <p:spPr>
          <a:xfrm>
            <a:off x="2300154" y="3922574"/>
            <a:ext cx="1852800" cy="12210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61"/>
          <p:cNvSpPr txBox="1"/>
          <p:nvPr>
            <p:ph type="ctrTitle"/>
          </p:nvPr>
        </p:nvSpPr>
        <p:spPr>
          <a:xfrm>
            <a:off x="4775627" y="2351480"/>
            <a:ext cx="4033800" cy="1357500"/>
          </a:xfrm>
          <a:prstGeom prst="rect">
            <a:avLst/>
          </a:prstGeom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Let’s Practice</a:t>
            </a:r>
            <a:endParaRPr sz="4800">
              <a:solidFill>
                <a:schemeClr val="lt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id="521" name="Google Shape;52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4525" y="276637"/>
            <a:ext cx="1184649" cy="358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2"/>
          <p:cNvSpPr/>
          <p:nvPr/>
        </p:nvSpPr>
        <p:spPr>
          <a:xfrm>
            <a:off x="3596075" y="2855150"/>
            <a:ext cx="3075000" cy="2203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62"/>
          <p:cNvSpPr/>
          <p:nvPr/>
        </p:nvSpPr>
        <p:spPr>
          <a:xfrm>
            <a:off x="3722375" y="2939350"/>
            <a:ext cx="862500" cy="96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62"/>
          <p:cNvSpPr/>
          <p:nvPr/>
        </p:nvSpPr>
        <p:spPr>
          <a:xfrm>
            <a:off x="4640163" y="2939350"/>
            <a:ext cx="862500" cy="96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62"/>
          <p:cNvSpPr/>
          <p:nvPr/>
        </p:nvSpPr>
        <p:spPr>
          <a:xfrm>
            <a:off x="5557963" y="2939350"/>
            <a:ext cx="862500" cy="96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62"/>
          <p:cNvSpPr/>
          <p:nvPr/>
        </p:nvSpPr>
        <p:spPr>
          <a:xfrm>
            <a:off x="3722375" y="4024825"/>
            <a:ext cx="862500" cy="96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62"/>
          <p:cNvSpPr/>
          <p:nvPr/>
        </p:nvSpPr>
        <p:spPr>
          <a:xfrm>
            <a:off x="4640163" y="4024825"/>
            <a:ext cx="862500" cy="96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62"/>
          <p:cNvSpPr/>
          <p:nvPr/>
        </p:nvSpPr>
        <p:spPr>
          <a:xfrm>
            <a:off x="5557963" y="4024825"/>
            <a:ext cx="862500" cy="96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62"/>
          <p:cNvSpPr/>
          <p:nvPr/>
        </p:nvSpPr>
        <p:spPr>
          <a:xfrm>
            <a:off x="357825" y="2855150"/>
            <a:ext cx="3075000" cy="2203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4" name="Google Shape;534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62"/>
          <p:cNvSpPr/>
          <p:nvPr/>
        </p:nvSpPr>
        <p:spPr>
          <a:xfrm>
            <a:off x="7107701" y="1259114"/>
            <a:ext cx="4459800" cy="40083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62"/>
          <p:cNvSpPr/>
          <p:nvPr/>
        </p:nvSpPr>
        <p:spPr>
          <a:xfrm>
            <a:off x="6955327" y="3369968"/>
            <a:ext cx="1321200" cy="9168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62"/>
          <p:cNvSpPr txBox="1"/>
          <p:nvPr/>
        </p:nvSpPr>
        <p:spPr>
          <a:xfrm>
            <a:off x="357825" y="275975"/>
            <a:ext cx="76260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2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Design A/B Testing for News App</a:t>
            </a:r>
            <a:endParaRPr sz="32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538" name="Google Shape;538;p62"/>
          <p:cNvSpPr txBox="1"/>
          <p:nvPr/>
        </p:nvSpPr>
        <p:spPr>
          <a:xfrm>
            <a:off x="357825" y="1076150"/>
            <a:ext cx="6750000" cy="12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NewestNews is an online news platform with a freemium where user can read 5 free articles every month or subscribe to get full access on all news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 product lead want to increase the</a:t>
            </a:r>
            <a:r>
              <a:rPr b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subscription rate</a:t>
            </a: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by introducing a new layout for their page from list to a grid, allowing user to see more content at once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9" name="Google Shape;539;p62"/>
          <p:cNvSpPr txBox="1"/>
          <p:nvPr/>
        </p:nvSpPr>
        <p:spPr>
          <a:xfrm>
            <a:off x="1246125" y="2524988"/>
            <a:ext cx="9753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Control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0" name="Google Shape;540;p62"/>
          <p:cNvSpPr txBox="1"/>
          <p:nvPr/>
        </p:nvSpPr>
        <p:spPr>
          <a:xfrm>
            <a:off x="1232007" y="3142984"/>
            <a:ext cx="13980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News A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Summary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1" name="Google Shape;541;p62"/>
          <p:cNvSpPr txBox="1"/>
          <p:nvPr/>
        </p:nvSpPr>
        <p:spPr>
          <a:xfrm>
            <a:off x="1232007" y="3798694"/>
            <a:ext cx="13980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News B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Summary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2" name="Google Shape;542;p62"/>
          <p:cNvSpPr txBox="1"/>
          <p:nvPr/>
        </p:nvSpPr>
        <p:spPr>
          <a:xfrm>
            <a:off x="4484375" y="2524988"/>
            <a:ext cx="9753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Variant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543" name="Google Shape;543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875" y="3120275"/>
            <a:ext cx="464475" cy="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875" y="3754530"/>
            <a:ext cx="464475" cy="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875" y="4360267"/>
            <a:ext cx="464475" cy="464475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62"/>
          <p:cNvSpPr txBox="1"/>
          <p:nvPr/>
        </p:nvSpPr>
        <p:spPr>
          <a:xfrm>
            <a:off x="1232007" y="4382356"/>
            <a:ext cx="13980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News C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Summary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547" name="Google Shape;547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8588" y="2992350"/>
            <a:ext cx="464475" cy="464475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62"/>
          <p:cNvSpPr txBox="1"/>
          <p:nvPr/>
        </p:nvSpPr>
        <p:spPr>
          <a:xfrm>
            <a:off x="3739578" y="3490300"/>
            <a:ext cx="8625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News A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Summary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549" name="Google Shape;549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4388" y="2992350"/>
            <a:ext cx="464475" cy="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0188" y="2992350"/>
            <a:ext cx="464475" cy="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8588" y="4069525"/>
            <a:ext cx="464475" cy="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4388" y="4069525"/>
            <a:ext cx="464475" cy="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0188" y="4069525"/>
            <a:ext cx="464475" cy="464475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62"/>
          <p:cNvSpPr txBox="1"/>
          <p:nvPr/>
        </p:nvSpPr>
        <p:spPr>
          <a:xfrm>
            <a:off x="3739578" y="4619025"/>
            <a:ext cx="8625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News D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Summary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5" name="Google Shape;555;p62"/>
          <p:cNvSpPr txBox="1"/>
          <p:nvPr/>
        </p:nvSpPr>
        <p:spPr>
          <a:xfrm>
            <a:off x="4702328" y="3490300"/>
            <a:ext cx="8625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News B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Summary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6" name="Google Shape;556;p62"/>
          <p:cNvSpPr txBox="1"/>
          <p:nvPr/>
        </p:nvSpPr>
        <p:spPr>
          <a:xfrm>
            <a:off x="4702328" y="4619025"/>
            <a:ext cx="8625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News E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Summary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7" name="Google Shape;557;p62"/>
          <p:cNvSpPr txBox="1"/>
          <p:nvPr/>
        </p:nvSpPr>
        <p:spPr>
          <a:xfrm>
            <a:off x="5611178" y="3490300"/>
            <a:ext cx="8625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News C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Summary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8" name="Google Shape;558;p62"/>
          <p:cNvSpPr txBox="1"/>
          <p:nvPr/>
        </p:nvSpPr>
        <p:spPr>
          <a:xfrm>
            <a:off x="5611178" y="4619025"/>
            <a:ext cx="8625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News F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Summary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9" name="Google Shape;559;p62"/>
          <p:cNvSpPr/>
          <p:nvPr/>
        </p:nvSpPr>
        <p:spPr>
          <a:xfrm>
            <a:off x="535800" y="3038800"/>
            <a:ext cx="2651700" cy="574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62"/>
          <p:cNvSpPr/>
          <p:nvPr/>
        </p:nvSpPr>
        <p:spPr>
          <a:xfrm>
            <a:off x="535800" y="3685263"/>
            <a:ext cx="2651700" cy="574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62"/>
          <p:cNvSpPr/>
          <p:nvPr/>
        </p:nvSpPr>
        <p:spPr>
          <a:xfrm>
            <a:off x="535800" y="4331738"/>
            <a:ext cx="2651700" cy="574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62"/>
          <p:cNvSpPr/>
          <p:nvPr/>
        </p:nvSpPr>
        <p:spPr>
          <a:xfrm>
            <a:off x="3234650" y="3061100"/>
            <a:ext cx="99300" cy="17916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62"/>
          <p:cNvSpPr/>
          <p:nvPr/>
        </p:nvSpPr>
        <p:spPr>
          <a:xfrm>
            <a:off x="6475775" y="3061100"/>
            <a:ext cx="99300" cy="17916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63"/>
          <p:cNvSpPr/>
          <p:nvPr/>
        </p:nvSpPr>
        <p:spPr>
          <a:xfrm>
            <a:off x="7107701" y="1259114"/>
            <a:ext cx="4459800" cy="40083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63"/>
          <p:cNvSpPr/>
          <p:nvPr/>
        </p:nvSpPr>
        <p:spPr>
          <a:xfrm>
            <a:off x="6955327" y="3369968"/>
            <a:ext cx="1321200" cy="9168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63"/>
          <p:cNvSpPr txBox="1"/>
          <p:nvPr/>
        </p:nvSpPr>
        <p:spPr>
          <a:xfrm>
            <a:off x="357825" y="275975"/>
            <a:ext cx="76260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2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Design A/B Testing for Promo</a:t>
            </a:r>
            <a:endParaRPr sz="32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572" name="Google Shape;572;p63"/>
          <p:cNvSpPr txBox="1"/>
          <p:nvPr/>
        </p:nvSpPr>
        <p:spPr>
          <a:xfrm>
            <a:off x="357825" y="1183875"/>
            <a:ext cx="6023700" cy="28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Write down your hypothesis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What is the success metrics?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What is the guardrail metrics?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What is the type of experiment? Superiority or Non-Inferiority test?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Find the right sample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Current subscription rate = 20%, we want to increase it by 5%, weekly traffic 100,000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Who are eligible for being part of the experiment?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"/>
              <a:buChar char="○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When and how long should the experiment run?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8A8C4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4"/>
          <p:cNvSpPr/>
          <p:nvPr/>
        </p:nvSpPr>
        <p:spPr>
          <a:xfrm>
            <a:off x="-1049844" y="1135227"/>
            <a:ext cx="5007000" cy="4008300"/>
          </a:xfrm>
          <a:prstGeom prst="parallelogram">
            <a:avLst>
              <a:gd fmla="val 25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64"/>
          <p:cNvSpPr/>
          <p:nvPr/>
        </p:nvSpPr>
        <p:spPr>
          <a:xfrm>
            <a:off x="1231663" y="3378571"/>
            <a:ext cx="2725500" cy="1764900"/>
          </a:xfrm>
          <a:prstGeom prst="parallelogram">
            <a:avLst>
              <a:gd fmla="val 25000" name="adj"/>
            </a:avLst>
          </a:prstGeom>
          <a:solidFill>
            <a:srgbClr val="FFBD58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64"/>
          <p:cNvSpPr/>
          <p:nvPr/>
        </p:nvSpPr>
        <p:spPr>
          <a:xfrm>
            <a:off x="2300154" y="3922574"/>
            <a:ext cx="1852800" cy="12210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64"/>
          <p:cNvSpPr txBox="1"/>
          <p:nvPr>
            <p:ph type="ctrTitle"/>
          </p:nvPr>
        </p:nvSpPr>
        <p:spPr>
          <a:xfrm>
            <a:off x="4775627" y="2351480"/>
            <a:ext cx="4033800" cy="1357500"/>
          </a:xfrm>
          <a:prstGeom prst="rect">
            <a:avLst/>
          </a:prstGeom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Evaluate A/B Test</a:t>
            </a:r>
            <a:endParaRPr sz="4800">
              <a:solidFill>
                <a:schemeClr val="lt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id="581" name="Google Shape;58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4525" y="276637"/>
            <a:ext cx="1184649" cy="358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65"/>
          <p:cNvSpPr/>
          <p:nvPr/>
        </p:nvSpPr>
        <p:spPr>
          <a:xfrm>
            <a:off x="7107701" y="1259114"/>
            <a:ext cx="4459800" cy="40083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65"/>
          <p:cNvSpPr/>
          <p:nvPr/>
        </p:nvSpPr>
        <p:spPr>
          <a:xfrm>
            <a:off x="6955327" y="3369968"/>
            <a:ext cx="1321200" cy="9168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65"/>
          <p:cNvSpPr txBox="1"/>
          <p:nvPr/>
        </p:nvSpPr>
        <p:spPr>
          <a:xfrm>
            <a:off x="357825" y="275975"/>
            <a:ext cx="76260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2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Statistical Test</a:t>
            </a:r>
            <a:endParaRPr sz="32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590" name="Google Shape;590;p65"/>
          <p:cNvSpPr txBox="1"/>
          <p:nvPr/>
        </p:nvSpPr>
        <p:spPr>
          <a:xfrm>
            <a:off x="3092625" y="1295200"/>
            <a:ext cx="33780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Since we are collecting samples during AB test, evaluating the result should be done with statistical test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Statistical testing will help us determine if the change is significant and </a:t>
            </a:r>
            <a:r>
              <a:rPr b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not just due to random variation</a:t>
            </a:r>
            <a:endParaRPr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591" name="Google Shape;591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050" y="1174463"/>
            <a:ext cx="2794575" cy="2794575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65"/>
          <p:cNvSpPr/>
          <p:nvPr/>
        </p:nvSpPr>
        <p:spPr>
          <a:xfrm>
            <a:off x="1433275" y="2614863"/>
            <a:ext cx="175200" cy="175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65"/>
          <p:cNvSpPr/>
          <p:nvPr/>
        </p:nvSpPr>
        <p:spPr>
          <a:xfrm>
            <a:off x="1823750" y="2614863"/>
            <a:ext cx="175200" cy="175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65"/>
          <p:cNvSpPr/>
          <p:nvPr/>
        </p:nvSpPr>
        <p:spPr>
          <a:xfrm>
            <a:off x="1542263" y="2917838"/>
            <a:ext cx="360000" cy="360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9" name="Google Shape;59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66"/>
          <p:cNvSpPr/>
          <p:nvPr/>
        </p:nvSpPr>
        <p:spPr>
          <a:xfrm>
            <a:off x="7107701" y="1259114"/>
            <a:ext cx="4459800" cy="40083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66"/>
          <p:cNvSpPr/>
          <p:nvPr/>
        </p:nvSpPr>
        <p:spPr>
          <a:xfrm>
            <a:off x="6955327" y="3369968"/>
            <a:ext cx="1321200" cy="9168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66"/>
          <p:cNvSpPr txBox="1"/>
          <p:nvPr/>
        </p:nvSpPr>
        <p:spPr>
          <a:xfrm>
            <a:off x="357825" y="275975"/>
            <a:ext cx="76260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2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Statistical Test</a:t>
            </a:r>
            <a:endParaRPr sz="32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id="603" name="Google Shape;603;p66"/>
          <p:cNvPicPr preferRelativeResize="0"/>
          <p:nvPr/>
        </p:nvPicPr>
        <p:blipFill rotWithShape="1">
          <a:blip r:embed="rId4">
            <a:alphaModFix/>
          </a:blip>
          <a:srcRect b="17518" l="0" r="0" t="0"/>
          <a:stretch/>
        </p:blipFill>
        <p:spPr>
          <a:xfrm>
            <a:off x="2556107" y="1000200"/>
            <a:ext cx="4283619" cy="3573626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66"/>
          <p:cNvSpPr txBox="1"/>
          <p:nvPr/>
        </p:nvSpPr>
        <p:spPr>
          <a:xfrm>
            <a:off x="202975" y="2803413"/>
            <a:ext cx="2469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So many tests for different scenarios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05" name="Google Shape;605;p66"/>
          <p:cNvSpPr txBox="1"/>
          <p:nvPr/>
        </p:nvSpPr>
        <p:spPr>
          <a:xfrm>
            <a:off x="4370725" y="4621138"/>
            <a:ext cx="24690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Statistical Rethinking, </a:t>
            </a:r>
            <a:r>
              <a:rPr lang="en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McElreath</a:t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67"/>
          <p:cNvSpPr/>
          <p:nvPr/>
        </p:nvSpPr>
        <p:spPr>
          <a:xfrm>
            <a:off x="7107701" y="1259114"/>
            <a:ext cx="4459800" cy="40083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67"/>
          <p:cNvSpPr/>
          <p:nvPr/>
        </p:nvSpPr>
        <p:spPr>
          <a:xfrm>
            <a:off x="6955327" y="3369968"/>
            <a:ext cx="1321200" cy="9168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67"/>
          <p:cNvSpPr txBox="1"/>
          <p:nvPr/>
        </p:nvSpPr>
        <p:spPr>
          <a:xfrm>
            <a:off x="357825" y="275975"/>
            <a:ext cx="76260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2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Proportion Z-test</a:t>
            </a:r>
            <a:endParaRPr sz="32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614" name="Google Shape;614;p67"/>
          <p:cNvSpPr txBox="1"/>
          <p:nvPr/>
        </p:nvSpPr>
        <p:spPr>
          <a:xfrm>
            <a:off x="2953338" y="1165400"/>
            <a:ext cx="4074000" cy="3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For comparing proportion between 2 group of sample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Require the data to be a proportion and not a numeric value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Example of metrics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CVR/conversion rate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CTR/click-through rate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Retention rate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Bounce rate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Email open rate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"/>
              <a:buChar char="○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Subscription rate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15" name="Google Shape;615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250" y="1165400"/>
            <a:ext cx="1679675" cy="1679675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67"/>
          <p:cNvSpPr/>
          <p:nvPr/>
        </p:nvSpPr>
        <p:spPr>
          <a:xfrm>
            <a:off x="174350" y="3119600"/>
            <a:ext cx="2743800" cy="1757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67"/>
          <p:cNvSpPr txBox="1"/>
          <p:nvPr/>
        </p:nvSpPr>
        <p:spPr>
          <a:xfrm>
            <a:off x="208000" y="3238050"/>
            <a:ext cx="98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Superiority Test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18" name="Google Shape;618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4119" y="3238050"/>
            <a:ext cx="1628863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67"/>
          <p:cNvSpPr txBox="1"/>
          <p:nvPr/>
        </p:nvSpPr>
        <p:spPr>
          <a:xfrm>
            <a:off x="208000" y="4113250"/>
            <a:ext cx="98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Non Inferiority Test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20" name="Google Shape;620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6350" y="4185119"/>
            <a:ext cx="1696625" cy="5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68"/>
          <p:cNvSpPr/>
          <p:nvPr/>
        </p:nvSpPr>
        <p:spPr>
          <a:xfrm>
            <a:off x="7107701" y="1259114"/>
            <a:ext cx="4459800" cy="40083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68"/>
          <p:cNvSpPr/>
          <p:nvPr/>
        </p:nvSpPr>
        <p:spPr>
          <a:xfrm>
            <a:off x="6955327" y="3369968"/>
            <a:ext cx="1321200" cy="9168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68"/>
          <p:cNvSpPr txBox="1"/>
          <p:nvPr/>
        </p:nvSpPr>
        <p:spPr>
          <a:xfrm>
            <a:off x="357825" y="275975"/>
            <a:ext cx="76260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2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Difference in Numeric Value</a:t>
            </a:r>
            <a:endParaRPr sz="32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id="629" name="Google Shape;629;p68"/>
          <p:cNvPicPr preferRelativeResize="0"/>
          <p:nvPr/>
        </p:nvPicPr>
        <p:blipFill rotWithShape="1">
          <a:blip r:embed="rId4">
            <a:alphaModFix/>
          </a:blip>
          <a:srcRect b="15352" l="18886" r="12657" t="24884"/>
          <a:stretch/>
        </p:blipFill>
        <p:spPr>
          <a:xfrm>
            <a:off x="187780" y="1190790"/>
            <a:ext cx="1877827" cy="1679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68"/>
          <p:cNvPicPr preferRelativeResize="0"/>
          <p:nvPr/>
        </p:nvPicPr>
        <p:blipFill rotWithShape="1">
          <a:blip r:embed="rId5">
            <a:alphaModFix/>
          </a:blip>
          <a:srcRect b="14493" l="19656" r="14206" t="24251"/>
          <a:stretch/>
        </p:blipFill>
        <p:spPr>
          <a:xfrm>
            <a:off x="669066" y="1121385"/>
            <a:ext cx="1877827" cy="178166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68"/>
          <p:cNvSpPr/>
          <p:nvPr/>
        </p:nvSpPr>
        <p:spPr>
          <a:xfrm>
            <a:off x="174350" y="3119600"/>
            <a:ext cx="2743800" cy="1757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68"/>
          <p:cNvSpPr txBox="1"/>
          <p:nvPr/>
        </p:nvSpPr>
        <p:spPr>
          <a:xfrm>
            <a:off x="208000" y="3238050"/>
            <a:ext cx="98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Superiority Test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33" name="Google Shape;633;p68"/>
          <p:cNvSpPr txBox="1"/>
          <p:nvPr/>
        </p:nvSpPr>
        <p:spPr>
          <a:xfrm>
            <a:off x="208000" y="4113250"/>
            <a:ext cx="98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Non Inferiority Test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34" name="Google Shape;634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20900" y="4205650"/>
            <a:ext cx="1539650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20900" y="3255612"/>
            <a:ext cx="1539650" cy="518978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68"/>
          <p:cNvSpPr txBox="1"/>
          <p:nvPr/>
        </p:nvSpPr>
        <p:spPr>
          <a:xfrm>
            <a:off x="2975925" y="1165400"/>
            <a:ext cx="3926100" cy="3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For comparing the mean between 2 group of sample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Require the data to be numeric value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Typical test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Independent </a:t>
            </a: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</a:t>
            </a: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-test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Mann-Whitney U test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Example of metrics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Total time spent on app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Total page views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AOV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"/>
              <a:buChar char="○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RPV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1" name="Google Shape;641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69"/>
          <p:cNvSpPr/>
          <p:nvPr/>
        </p:nvSpPr>
        <p:spPr>
          <a:xfrm>
            <a:off x="7107701" y="1259114"/>
            <a:ext cx="4459800" cy="40083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69"/>
          <p:cNvSpPr/>
          <p:nvPr/>
        </p:nvSpPr>
        <p:spPr>
          <a:xfrm>
            <a:off x="6955327" y="3369968"/>
            <a:ext cx="1321200" cy="9168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69"/>
          <p:cNvSpPr txBox="1"/>
          <p:nvPr/>
        </p:nvSpPr>
        <p:spPr>
          <a:xfrm>
            <a:off x="357825" y="275975"/>
            <a:ext cx="76260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2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Difference in Means with t-test</a:t>
            </a:r>
            <a:endParaRPr sz="32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645" name="Google Shape;645;p69"/>
          <p:cNvSpPr txBox="1"/>
          <p:nvPr/>
        </p:nvSpPr>
        <p:spPr>
          <a:xfrm>
            <a:off x="357825" y="1029625"/>
            <a:ext cx="5498700" cy="9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</a:t>
            </a: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-test compare the mean value between 2 group of samples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</a:t>
            </a: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-test require both group of sample to be normally distributed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Normality can be checked using </a:t>
            </a:r>
            <a:r>
              <a:rPr b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Anderson-Darling test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46" name="Google Shape;646;p69"/>
          <p:cNvSpPr/>
          <p:nvPr/>
        </p:nvSpPr>
        <p:spPr>
          <a:xfrm>
            <a:off x="3139025" y="2771050"/>
            <a:ext cx="3534600" cy="1432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69"/>
          <p:cNvSpPr txBox="1"/>
          <p:nvPr/>
        </p:nvSpPr>
        <p:spPr>
          <a:xfrm>
            <a:off x="3172675" y="2854325"/>
            <a:ext cx="249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Anderson-Darling Normality Test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48" name="Google Shape;64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4975" y="3290325"/>
            <a:ext cx="3389450" cy="711438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69"/>
          <p:cNvSpPr/>
          <p:nvPr/>
        </p:nvSpPr>
        <p:spPr>
          <a:xfrm>
            <a:off x="208000" y="2446450"/>
            <a:ext cx="2743800" cy="1757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69"/>
          <p:cNvSpPr txBox="1"/>
          <p:nvPr/>
        </p:nvSpPr>
        <p:spPr>
          <a:xfrm>
            <a:off x="241650" y="2564900"/>
            <a:ext cx="98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Superiority Test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1" name="Google Shape;651;p69"/>
          <p:cNvSpPr txBox="1"/>
          <p:nvPr/>
        </p:nvSpPr>
        <p:spPr>
          <a:xfrm>
            <a:off x="241650" y="3440100"/>
            <a:ext cx="98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Non Inferiority Test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52" name="Google Shape;652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4550" y="3532500"/>
            <a:ext cx="1539650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54550" y="2582463"/>
            <a:ext cx="1539650" cy="518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70"/>
          <p:cNvSpPr/>
          <p:nvPr/>
        </p:nvSpPr>
        <p:spPr>
          <a:xfrm>
            <a:off x="7107701" y="1259114"/>
            <a:ext cx="4459800" cy="4008300"/>
          </a:xfrm>
          <a:prstGeom prst="parallelogram">
            <a:avLst>
              <a:gd fmla="val 25000" name="adj"/>
            </a:avLst>
          </a:prstGeom>
          <a:solidFill>
            <a:srgbClr val="48A8C4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70"/>
          <p:cNvSpPr/>
          <p:nvPr/>
        </p:nvSpPr>
        <p:spPr>
          <a:xfrm>
            <a:off x="6955327" y="3369968"/>
            <a:ext cx="1321200" cy="916800"/>
          </a:xfrm>
          <a:prstGeom prst="parallelogram">
            <a:avLst>
              <a:gd fmla="val 25000" name="adj"/>
            </a:avLst>
          </a:prstGeom>
          <a:solidFill>
            <a:srgbClr val="F08B33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70"/>
          <p:cNvSpPr txBox="1"/>
          <p:nvPr/>
        </p:nvSpPr>
        <p:spPr>
          <a:xfrm>
            <a:off x="357825" y="275975"/>
            <a:ext cx="76260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200">
                <a:solidFill>
                  <a:srgbClr val="48A8C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Mann-Whitney U test</a:t>
            </a:r>
            <a:endParaRPr sz="3200">
              <a:solidFill>
                <a:srgbClr val="48A8C4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662" name="Google Shape;662;p70"/>
          <p:cNvSpPr txBox="1"/>
          <p:nvPr/>
        </p:nvSpPr>
        <p:spPr>
          <a:xfrm>
            <a:off x="357825" y="1029625"/>
            <a:ext cx="54987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Mann-Whitney doesn’t</a:t>
            </a: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require both group of sample to be </a:t>
            </a:r>
            <a:r>
              <a:rPr b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normally distributed</a:t>
            </a:r>
            <a:endParaRPr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Mann-Whitney test is less powerful than t-test, so we should only use it when we can’t use the t-test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3" name="Google Shape;663;p70"/>
          <p:cNvSpPr/>
          <p:nvPr/>
        </p:nvSpPr>
        <p:spPr>
          <a:xfrm>
            <a:off x="288800" y="3112950"/>
            <a:ext cx="2743800" cy="1757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70"/>
          <p:cNvSpPr txBox="1"/>
          <p:nvPr/>
        </p:nvSpPr>
        <p:spPr>
          <a:xfrm>
            <a:off x="322450" y="3231400"/>
            <a:ext cx="98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Superiority Test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5" name="Google Shape;665;p70"/>
          <p:cNvSpPr txBox="1"/>
          <p:nvPr/>
        </p:nvSpPr>
        <p:spPr>
          <a:xfrm>
            <a:off x="322450" y="4106600"/>
            <a:ext cx="98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Non Inferiority Test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66" name="Google Shape;66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5250" y="3268999"/>
            <a:ext cx="1587532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6525" y="4184550"/>
            <a:ext cx="1419225" cy="48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71"/>
          <p:cNvSpPr txBox="1"/>
          <p:nvPr>
            <p:ph type="ctrTitle"/>
          </p:nvPr>
        </p:nvSpPr>
        <p:spPr>
          <a:xfrm>
            <a:off x="4742275" y="1554748"/>
            <a:ext cx="4281300" cy="203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Outfit SemiBold"/>
                <a:ea typeface="Outfit SemiBold"/>
                <a:cs typeface="Outfit SemiBold"/>
                <a:sym typeface="Outfit SemiBold"/>
              </a:rPr>
              <a:t>Terima Kasih</a:t>
            </a:r>
            <a:endParaRPr sz="4800"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grpSp>
        <p:nvGrpSpPr>
          <p:cNvPr id="673" name="Google Shape;673;p71"/>
          <p:cNvGrpSpPr/>
          <p:nvPr/>
        </p:nvGrpSpPr>
        <p:grpSpPr>
          <a:xfrm>
            <a:off x="150" y="-214137"/>
            <a:ext cx="2765049" cy="2690788"/>
            <a:chOff x="9584423" y="-302694"/>
            <a:chExt cx="4822200" cy="4822200"/>
          </a:xfrm>
        </p:grpSpPr>
        <p:sp>
          <p:nvSpPr>
            <p:cNvPr id="674" name="Google Shape;674;p71"/>
            <p:cNvSpPr/>
            <p:nvPr/>
          </p:nvSpPr>
          <p:spPr>
            <a:xfrm rot="6626698">
              <a:off x="10121100" y="233982"/>
              <a:ext cx="3748847" cy="3748847"/>
            </a:xfrm>
            <a:prstGeom prst="ellipse">
              <a:avLst/>
            </a:prstGeom>
            <a:solidFill>
              <a:srgbClr val="48A8C4"/>
            </a:solidFill>
            <a:ln>
              <a:noFill/>
            </a:ln>
          </p:spPr>
          <p:txBody>
            <a:bodyPr anchorCtr="0" anchor="ctr" bIns="91400" lIns="91400" spcFirstLastPara="1" rIns="91400" wrap="square" tIns="91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71"/>
            <p:cNvSpPr/>
            <p:nvPr/>
          </p:nvSpPr>
          <p:spPr>
            <a:xfrm rot="5026486">
              <a:off x="10682783" y="729525"/>
              <a:ext cx="2625482" cy="2625482"/>
            </a:xfrm>
            <a:prstGeom prst="ellipse">
              <a:avLst/>
            </a:prstGeom>
            <a:solidFill>
              <a:srgbClr val="FFBD58"/>
            </a:solidFill>
            <a:ln>
              <a:noFill/>
            </a:ln>
          </p:spPr>
          <p:txBody>
            <a:bodyPr anchorCtr="0" anchor="ctr" bIns="91400" lIns="91400" spcFirstLastPara="1" rIns="91400" wrap="square" tIns="91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71"/>
            <p:cNvSpPr/>
            <p:nvPr/>
          </p:nvSpPr>
          <p:spPr>
            <a:xfrm rot="2969049">
              <a:off x="11210027" y="1256768"/>
              <a:ext cx="1570980" cy="1570980"/>
            </a:xfrm>
            <a:prstGeom prst="ellipse">
              <a:avLst/>
            </a:prstGeom>
            <a:solidFill>
              <a:srgbClr val="F08B33"/>
            </a:solidFill>
            <a:ln>
              <a:noFill/>
            </a:ln>
          </p:spPr>
          <p:txBody>
            <a:bodyPr anchorCtr="0" anchor="ctr" bIns="91400" lIns="91400" spcFirstLastPara="1" rIns="91400" wrap="square" tIns="91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71"/>
            <p:cNvSpPr/>
            <p:nvPr/>
          </p:nvSpPr>
          <p:spPr>
            <a:xfrm rot="10347786">
              <a:off x="11700466" y="1747209"/>
              <a:ext cx="590098" cy="590098"/>
            </a:xfrm>
            <a:prstGeom prst="ellipse">
              <a:avLst/>
            </a:prstGeom>
            <a:solidFill>
              <a:srgbClr val="FFBD58"/>
            </a:solidFill>
            <a:ln>
              <a:noFill/>
            </a:ln>
          </p:spPr>
          <p:txBody>
            <a:bodyPr anchorCtr="0" anchor="ctr" bIns="91400" lIns="91400" spcFirstLastPara="1" rIns="91400" wrap="square" tIns="91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8" name="Google Shape;678;p71"/>
          <p:cNvGrpSpPr/>
          <p:nvPr/>
        </p:nvGrpSpPr>
        <p:grpSpPr>
          <a:xfrm>
            <a:off x="-840799" y="1115920"/>
            <a:ext cx="5794241" cy="5793661"/>
            <a:chOff x="4094945" y="667082"/>
            <a:chExt cx="5795400" cy="5795400"/>
          </a:xfrm>
        </p:grpSpPr>
        <p:sp>
          <p:nvSpPr>
            <p:cNvPr id="679" name="Google Shape;679;p71"/>
            <p:cNvSpPr/>
            <p:nvPr/>
          </p:nvSpPr>
          <p:spPr>
            <a:xfrm rot="6626718">
              <a:off x="4739938" y="1312075"/>
              <a:ext cx="4505414" cy="4505414"/>
            </a:xfrm>
            <a:prstGeom prst="ellipse">
              <a:avLst/>
            </a:prstGeom>
            <a:solidFill>
              <a:srgbClr val="48A8C4"/>
            </a:solidFill>
            <a:ln>
              <a:noFill/>
            </a:ln>
          </p:spPr>
          <p:txBody>
            <a:bodyPr anchorCtr="0" anchor="ctr" bIns="91400" lIns="91400" spcFirstLastPara="1" rIns="91400" wrap="square" tIns="91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71"/>
            <p:cNvSpPr/>
            <p:nvPr/>
          </p:nvSpPr>
          <p:spPr>
            <a:xfrm rot="5026475">
              <a:off x="5429162" y="2051505"/>
              <a:ext cx="3026548" cy="3026548"/>
            </a:xfrm>
            <a:prstGeom prst="ellipse">
              <a:avLst/>
            </a:prstGeom>
            <a:solidFill>
              <a:srgbClr val="FFBD58"/>
            </a:solidFill>
            <a:ln>
              <a:noFill/>
            </a:ln>
          </p:spPr>
          <p:txBody>
            <a:bodyPr anchorCtr="0" anchor="ctr" bIns="91400" lIns="91400" spcFirstLastPara="1" rIns="91400" wrap="square" tIns="91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71"/>
            <p:cNvSpPr/>
            <p:nvPr/>
          </p:nvSpPr>
          <p:spPr>
            <a:xfrm rot="2969049">
              <a:off x="6156933" y="2732845"/>
              <a:ext cx="1570980" cy="1570980"/>
            </a:xfrm>
            <a:prstGeom prst="ellipse">
              <a:avLst/>
            </a:prstGeom>
            <a:solidFill>
              <a:srgbClr val="F08B33"/>
            </a:solidFill>
            <a:ln>
              <a:noFill/>
            </a:ln>
          </p:spPr>
          <p:txBody>
            <a:bodyPr anchorCtr="0" anchor="ctr" bIns="91400" lIns="91400" spcFirstLastPara="1" rIns="91400" wrap="square" tIns="91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71"/>
            <p:cNvSpPr/>
            <p:nvPr/>
          </p:nvSpPr>
          <p:spPr>
            <a:xfrm rot="10347786">
              <a:off x="6647371" y="3223287"/>
              <a:ext cx="590098" cy="590098"/>
            </a:xfrm>
            <a:prstGeom prst="ellipse">
              <a:avLst/>
            </a:prstGeom>
            <a:solidFill>
              <a:srgbClr val="FFBD58"/>
            </a:solidFill>
            <a:ln>
              <a:noFill/>
            </a:ln>
          </p:spPr>
          <p:txBody>
            <a:bodyPr anchorCtr="0" anchor="ctr" bIns="91400" lIns="91400" spcFirstLastPara="1" rIns="91400" wrap="square" tIns="91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83" name="Google Shape;683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8" name="Google Shape;688;p72"/>
          <p:cNvGrpSpPr/>
          <p:nvPr/>
        </p:nvGrpSpPr>
        <p:grpSpPr>
          <a:xfrm>
            <a:off x="150" y="-214137"/>
            <a:ext cx="2765049" cy="2690788"/>
            <a:chOff x="9584423" y="-302694"/>
            <a:chExt cx="4822200" cy="4822200"/>
          </a:xfrm>
        </p:grpSpPr>
        <p:sp>
          <p:nvSpPr>
            <p:cNvPr id="689" name="Google Shape;689;p72"/>
            <p:cNvSpPr/>
            <p:nvPr/>
          </p:nvSpPr>
          <p:spPr>
            <a:xfrm rot="6626698">
              <a:off x="10121100" y="233982"/>
              <a:ext cx="3748847" cy="3748847"/>
            </a:xfrm>
            <a:prstGeom prst="ellipse">
              <a:avLst/>
            </a:prstGeom>
            <a:solidFill>
              <a:srgbClr val="48A8C4"/>
            </a:solidFill>
            <a:ln>
              <a:noFill/>
            </a:ln>
          </p:spPr>
          <p:txBody>
            <a:bodyPr anchorCtr="0" anchor="ctr" bIns="91400" lIns="91400" spcFirstLastPara="1" rIns="91400" wrap="square" tIns="91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72"/>
            <p:cNvSpPr/>
            <p:nvPr/>
          </p:nvSpPr>
          <p:spPr>
            <a:xfrm rot="5026486">
              <a:off x="10682783" y="729525"/>
              <a:ext cx="2625482" cy="2625482"/>
            </a:xfrm>
            <a:prstGeom prst="ellipse">
              <a:avLst/>
            </a:prstGeom>
            <a:solidFill>
              <a:srgbClr val="FFBD58"/>
            </a:solidFill>
            <a:ln>
              <a:noFill/>
            </a:ln>
          </p:spPr>
          <p:txBody>
            <a:bodyPr anchorCtr="0" anchor="ctr" bIns="91400" lIns="91400" spcFirstLastPara="1" rIns="91400" wrap="square" tIns="91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72"/>
            <p:cNvSpPr/>
            <p:nvPr/>
          </p:nvSpPr>
          <p:spPr>
            <a:xfrm rot="2969049">
              <a:off x="11210027" y="1256768"/>
              <a:ext cx="1570980" cy="1570980"/>
            </a:xfrm>
            <a:prstGeom prst="ellipse">
              <a:avLst/>
            </a:prstGeom>
            <a:solidFill>
              <a:srgbClr val="F08B33"/>
            </a:solidFill>
            <a:ln>
              <a:noFill/>
            </a:ln>
          </p:spPr>
          <p:txBody>
            <a:bodyPr anchorCtr="0" anchor="ctr" bIns="91400" lIns="91400" spcFirstLastPara="1" rIns="91400" wrap="square" tIns="91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72"/>
            <p:cNvSpPr/>
            <p:nvPr/>
          </p:nvSpPr>
          <p:spPr>
            <a:xfrm rot="10347786">
              <a:off x="11700466" y="1747209"/>
              <a:ext cx="590098" cy="590098"/>
            </a:xfrm>
            <a:prstGeom prst="ellipse">
              <a:avLst/>
            </a:prstGeom>
            <a:solidFill>
              <a:srgbClr val="FFBD58"/>
            </a:solidFill>
            <a:ln>
              <a:noFill/>
            </a:ln>
          </p:spPr>
          <p:txBody>
            <a:bodyPr anchorCtr="0" anchor="ctr" bIns="91400" lIns="91400" spcFirstLastPara="1" rIns="91400" wrap="square" tIns="91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3" name="Google Shape;693;p72"/>
          <p:cNvGrpSpPr/>
          <p:nvPr/>
        </p:nvGrpSpPr>
        <p:grpSpPr>
          <a:xfrm>
            <a:off x="-840799" y="1115920"/>
            <a:ext cx="5794241" cy="5793661"/>
            <a:chOff x="4094945" y="667082"/>
            <a:chExt cx="5795400" cy="5795400"/>
          </a:xfrm>
        </p:grpSpPr>
        <p:sp>
          <p:nvSpPr>
            <p:cNvPr id="694" name="Google Shape;694;p72"/>
            <p:cNvSpPr/>
            <p:nvPr/>
          </p:nvSpPr>
          <p:spPr>
            <a:xfrm rot="6626718">
              <a:off x="4739938" y="1312075"/>
              <a:ext cx="4505414" cy="4505414"/>
            </a:xfrm>
            <a:prstGeom prst="ellipse">
              <a:avLst/>
            </a:prstGeom>
            <a:solidFill>
              <a:srgbClr val="48A8C4"/>
            </a:solidFill>
            <a:ln>
              <a:noFill/>
            </a:ln>
          </p:spPr>
          <p:txBody>
            <a:bodyPr anchorCtr="0" anchor="ctr" bIns="91400" lIns="91400" spcFirstLastPara="1" rIns="91400" wrap="square" tIns="91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72"/>
            <p:cNvSpPr/>
            <p:nvPr/>
          </p:nvSpPr>
          <p:spPr>
            <a:xfrm rot="5026475">
              <a:off x="5429162" y="2051505"/>
              <a:ext cx="3026548" cy="3026548"/>
            </a:xfrm>
            <a:prstGeom prst="ellipse">
              <a:avLst/>
            </a:prstGeom>
            <a:solidFill>
              <a:srgbClr val="FFBD58"/>
            </a:solidFill>
            <a:ln>
              <a:noFill/>
            </a:ln>
          </p:spPr>
          <p:txBody>
            <a:bodyPr anchorCtr="0" anchor="ctr" bIns="91400" lIns="91400" spcFirstLastPara="1" rIns="91400" wrap="square" tIns="91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72"/>
            <p:cNvSpPr/>
            <p:nvPr/>
          </p:nvSpPr>
          <p:spPr>
            <a:xfrm rot="2969049">
              <a:off x="6156933" y="2732845"/>
              <a:ext cx="1570980" cy="1570980"/>
            </a:xfrm>
            <a:prstGeom prst="ellipse">
              <a:avLst/>
            </a:prstGeom>
            <a:solidFill>
              <a:srgbClr val="F08B33"/>
            </a:solidFill>
            <a:ln>
              <a:noFill/>
            </a:ln>
          </p:spPr>
          <p:txBody>
            <a:bodyPr anchorCtr="0" anchor="ctr" bIns="91400" lIns="91400" spcFirstLastPara="1" rIns="91400" wrap="square" tIns="91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72"/>
            <p:cNvSpPr/>
            <p:nvPr/>
          </p:nvSpPr>
          <p:spPr>
            <a:xfrm rot="10347786">
              <a:off x="6647371" y="3223287"/>
              <a:ext cx="590098" cy="590098"/>
            </a:xfrm>
            <a:prstGeom prst="ellipse">
              <a:avLst/>
            </a:prstGeom>
            <a:solidFill>
              <a:srgbClr val="FFBD58"/>
            </a:solidFill>
            <a:ln>
              <a:noFill/>
            </a:ln>
          </p:spPr>
          <p:txBody>
            <a:bodyPr anchorCtr="0" anchor="ctr" bIns="91400" lIns="91400" spcFirstLastPara="1" rIns="91400" wrap="square" tIns="91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98" name="Google Shape;698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449" y="275964"/>
            <a:ext cx="1184241" cy="359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72"/>
          <p:cNvPicPr preferRelativeResize="0"/>
          <p:nvPr/>
        </p:nvPicPr>
        <p:blipFill rotWithShape="1">
          <a:blip r:embed="rId4">
            <a:alphaModFix/>
          </a:blip>
          <a:srcRect b="0" l="26643" r="26456" t="0"/>
          <a:stretch/>
        </p:blipFill>
        <p:spPr>
          <a:xfrm>
            <a:off x="4260625" y="380825"/>
            <a:ext cx="2403741" cy="2690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72"/>
          <p:cNvPicPr preferRelativeResize="0"/>
          <p:nvPr/>
        </p:nvPicPr>
        <p:blipFill rotWithShape="1">
          <a:blip r:embed="rId5">
            <a:alphaModFix/>
          </a:blip>
          <a:srcRect b="0" l="31603" r="31363" t="0"/>
          <a:stretch/>
        </p:blipFill>
        <p:spPr>
          <a:xfrm>
            <a:off x="6866900" y="2290450"/>
            <a:ext cx="1792800" cy="254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